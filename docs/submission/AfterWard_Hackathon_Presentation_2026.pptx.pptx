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6"/>
    <p:sldId id="261" r:id="rId7"/>
    <p:sldId id="263" r:id="rId9"/>
    <p:sldId id="264" r:id="rId10"/>
    <p:sldId id="265" r:id="rId11"/>
    <p:sldId id="266" r:id="rId12"/>
    <p:sldId id="267" r:id="rId13"/>
    <p:sldId id="268" r:id="rId14"/>
    <p:sldId id="269" r:id="rId15"/>
    <p:sldId id="271" r:id="rId17"/>
    <p:sldId id="272" r:id="rId18"/>
    <p:sldId id="274" r:id="rId20"/>
    <p:sldId id="277" r:id="rId23"/>
    <p:sldId id="278" r:id="rId24"/>
    <p:sldId id="294" r:id="rId45"/>
    <p:sldId id="282" r:id="rId28"/>
    <p:sldId id="283" r:id="rId29"/>
    <p:sldId id="259" r:id="rId5"/>
    <p:sldId id="262" r:id="rId8"/>
    <p:sldId id="270" r:id="rId16"/>
    <p:sldId id="273" r:id="rId19"/>
    <p:sldId id="275" r:id="rId21"/>
    <p:sldId id="276" r:id="rId22"/>
    <p:sldId id="279" r:id="rId25"/>
    <p:sldId id="280" r:id="rId26"/>
    <p:sldId id="281" r:id="rId27"/>
    <p:sldId id="284" r:id="rId30"/>
    <p:sldId id="285" r:id="rId31"/>
    <p:sldId id="286" r:id="rId32"/>
    <p:sldId id="287" r:id="rId33"/>
    <p:sldId id="288" r:id="rId34"/>
    <p:sldId id="289" r:id="rId35"/>
    <p:sldId id="290" r:id="rId36"/>
    <p:sldId id="291" r:id="rId37"/>
    <p:sldId id="292" r:id="rId38"/>
    <p:sldId id="293" r:id="rId39"/>
    <p:sldId id="295" r:id="rId46"/>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 Id="rId45" Type="http://schemas.openxmlformats.org/officeDocument/2006/relationships/slide" Target="slides/slide39.xml"/><Relationship Id="rId46"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Margaret, 68, is one week home after a knee replacement. Everything she needs is written down, but paper cannot remind, remember or clarify. The next slide shows the size of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US alone, adults had nearly 3.8 million hospital readmissions within 30 days in 2023 (3,769,100, a 13.5% rate). We built AfterWard for what happens after the ward, at home. We do not claim AfterWard reduces readmissions; that needs a clinical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Lines follow the final demo video script. Before recording, copy the app's real words into the medicine and driving replies; they must be what the system really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understands messy letters; code decides what is safe to show. Each rule has a test in the repo you can run with pytest. Crisis words also get a fixed reply before any AI runs (999 and Samaritans 116 123).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two prompts) and Task 3 (the MCP App Today card) are complete. The Today card is linked to get_today_tasks and get_week_summary. It is not in the demo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flows meet in one plan. The letter lands in S3, is queued to Lambda, and Bedrock turns it into her plan in DynamoDB. S3 Vectors searches only her letters. EventBridge Scheduler checks every five minutes. The MCP server runs on ECS Fargate behind a load balancer and CloudFront.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is built and running. Amber is simulated or synthetic. Rose is what comes next. AfterWard is a proactive voice companion: Amazon EventBridge starts each reminder before it is 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hackathon requirement is marked on the architecture with a green badge and linked to a file in the repo. The repo goes public at submission. Tested: 1,264 Python and 138 web tests; 13 of 14 agent checks on Claude Sonnet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Upload-to-ready time is logged as the CloudWatch metric upload_to_ready_ms. Tool errors and crisis handling are logged per request. Readmissions are an outcome for a clinical pilot; we make no claim about them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target design for discussion, not built yet. The same MCP tools and safety gate carry over; amber boxes are new. Sizing figures are design assumptions, not measurements. Today's measured cost: one letter used about 7,400 tokens in and 2,700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names are from Amazon's published Leadership Principles. Every example on this slide is in our friction log, test results or AWS integrations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the Alexa team and Amazon Developer, for a wonderful opportunity to learn and build a unique experience at Build, Ship, Shape. We'd also love the chance to build what comes next because, after all, no one should have to remember their recovery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7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7222B"/>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201"/>
            <a:ext cx="10566400" cy="4190999"/>
          </a:xfrm>
          <a:prstGeom prst="rect">
            <a:avLst/>
          </a:prstGeom>
          <a:noFill/>
          <a:ln/>
        </p:spPr>
        <p:txBody>
          <a:bodyPr wrap="square" lIns="0" tIns="0" rIns="0" bIns="0" rtlCol="0" anchor="t"/>
          <a:lstStyle>
            <a:lvl1pPr algn="l" indent="0" marL="0">
              <a:lnSpc>
                <a:spcPct val="140000"/>
              </a:lnSpc>
              <a:buNone/>
              <a:defRPr lang="en-US" sz="1600" dirty="0">
                <a:solidFill>
                  <a:srgbClr val="1722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7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61"/>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7222B"/>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201"/>
            <a:ext cx="10566400" cy="4190999"/>
          </a:xfrm>
          <a:prstGeom prst="rect">
            <a:avLst/>
          </a:prstGeom>
          <a:noFill/>
          <a:ln/>
        </p:spPr>
        <p:txBody>
          <a:bodyPr wrap="square" lIns="0" tIns="0" rIns="0" bIns="0" rtlCol="0" anchor="t"/>
          <a:lstStyle>
            <a:lvl1pPr algn="l" indent="0" marL="0">
              <a:lnSpc>
                <a:spcPct val="140000"/>
              </a:lnSpc>
              <a:buNone/>
              <a:defRPr lang="en-US" sz="1600" dirty="0">
                <a:solidFill>
                  <a:srgbClr val="17222B"/>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image" Target="../media/image-30-9.png"/><Relationship Id="rId10" Type="http://schemas.openxmlformats.org/officeDocument/2006/relationships/image" Target="../media/image-30-10.png"/><Relationship Id="rId11" Type="http://schemas.openxmlformats.org/officeDocument/2006/relationships/image" Target="../media/image-30-11.png"/><Relationship Id="rId12" Type="http://schemas.openxmlformats.org/officeDocument/2006/relationships/slideLayout" Target="../slideLayouts/slideLayout2.xml"/><Relationship Id="rId13" Type="http://schemas.openxmlformats.org/officeDocument/2006/relationships/notesSlide" Target="../notesSlides/notesSlide30.xml"/><Relationship Id="rId14"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image" Target="../media/image-35-9.png"/><Relationship Id="rId10" Type="http://schemas.openxmlformats.org/officeDocument/2006/relationships/image" Target="../media/image-35-10.png"/><Relationship Id="rId11" Type="http://schemas.openxmlformats.org/officeDocument/2006/relationships/image" Target="../media/image-35-11.png"/><Relationship Id="rId12" Type="http://schemas.openxmlformats.org/officeDocument/2006/relationships/image" Target="../media/image-35-12.png"/><Relationship Id="rId13" Type="http://schemas.openxmlformats.org/officeDocument/2006/relationships/slideLayout" Target="../slideLayouts/slideLayout2.xml"/><Relationship Id="rId14" Type="http://schemas.openxmlformats.org/officeDocument/2006/relationships/notesSlide" Target="../notesSlides/notesSlide35.xml"/><Relationship Id="rId15"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2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B8"/>
                </a:solidFill>
                <a:latin typeface="IBM Plex Sans" pitchFamily="34" charset="0"/>
                <a:ea typeface="IBM Plex Sans" pitchFamily="34" charset="-122"/>
                <a:cs typeface="IBM Plex Sans" pitchFamily="34" charset="-120"/>
              </a:rPr>
              <a:t>BUILD, SHIP, SHAPE: AMAZON DEVELOPER HACKATHON</a:t>
            </a:r>
            <a:endParaRPr lang="en-US" sz="1200" dirty="0"/>
          </a:p>
        </p:txBody>
      </p:sp>
      <p:sp>
        <p:nvSpPr>
          <p:cNvPr id="3" name="Text 1"/>
          <p:cNvSpPr/>
          <p:nvPr>
            <p:ph type="title"/>
          </p:nvPr>
        </p:nvSpPr>
        <p:spPr>
          <a:xfrm>
            <a:off x="812800" y="235077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F6F1E8"/>
                </a:solidFill>
                <a:latin typeface="Source Serif 4" pitchFamily="18" charset="0"/>
                <a:ea typeface="Source Serif 4" pitchFamily="18" charset="-122"/>
                <a:cs typeface="Source Serif 4" pitchFamily="18" charset="-120"/>
              </a:rPr>
              <a:t>AfterWard</a:t>
            </a:r>
            <a:endParaRPr lang="en-US" sz="6000" dirty="0"/>
          </a:p>
        </p:txBody>
      </p:sp>
      <p:sp>
        <p:nvSpPr>
          <p:cNvPr id="4" name="Text 2"/>
          <p:cNvSpPr/>
          <p:nvPr/>
        </p:nvSpPr>
        <p:spPr>
          <a:xfrm>
            <a:off x="812800" y="3303270"/>
            <a:ext cx="10883392"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F6F1E8"/>
                </a:solidFill>
                <a:latin typeface="Source Serif 4" pitchFamily="18" charset="0"/>
                <a:ea typeface="Source Serif 4" pitchFamily="18" charset="-122"/>
                <a:cs typeface="Source Serif 4" pitchFamily="18" charset="-120"/>
              </a:rPr>
              <a:t>A Living Recovery Plan for Alexa+</a:t>
            </a:r>
            <a:endParaRPr lang="en-US" sz="2000" dirty="0"/>
          </a:p>
        </p:txBody>
      </p:sp>
      <p:sp>
        <p:nvSpPr>
          <p:cNvPr id="5" name="Text 3"/>
          <p:cNvSpPr/>
          <p:nvPr/>
        </p:nvSpPr>
        <p:spPr>
          <a:xfrm>
            <a:off x="812800" y="3760470"/>
            <a:ext cx="71945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7C2CB"/>
                </a:solidFill>
                <a:latin typeface="IBM Plex Sans" pitchFamily="34" charset="0"/>
                <a:ea typeface="IBM Plex Sans" pitchFamily="34" charset="-122"/>
                <a:cs typeface="IBM Plex Sans" pitchFamily="34" charset="-120"/>
              </a:rPr>
              <a:t>Discharge is one moment. Recovery happens every day. AfterWard turns a discharge letter into a daily plan that updates as you recover.</a:t>
            </a:r>
            <a:endParaRPr lang="en-US" sz="1500" dirty="0"/>
          </a:p>
        </p:txBody>
      </p:sp>
      <p:sp>
        <p:nvSpPr>
          <p:cNvPr id="6" name="Text 4"/>
          <p:cNvSpPr/>
          <p:nvPr/>
        </p:nvSpPr>
        <p:spPr>
          <a:xfrm>
            <a:off x="815975" y="5659755"/>
            <a:ext cx="1162844" cy="344170"/>
          </a:xfrm>
          <a:prstGeom prst="roundRect">
            <a:avLst>
              <a:gd name="adj" fmla="val 50000"/>
            </a:avLst>
          </a:prstGeom>
          <a:noFill/>
          <a:ln w="6350">
            <a:solidFill>
              <a:srgbClr val="5A6873"/>
            </a:solidFill>
            <a:prstDash val="solid"/>
          </a:ln>
        </p:spPr>
        <p:txBody>
          <a:bodyPr wrap="none" lIns="0" tIns="0" rIns="0" bIns="0" rtlCol="0" anchor="ctr">
            <a:normAutofit/>
          </a:bodyPr>
          <a:lstStyle/>
          <a:p>
            <a:pPr algn="ctr" indent="0" marL="0">
              <a:lnSpc>
                <a:spcPts val="1680"/>
              </a:lnSpc>
              <a:buNone/>
            </a:pPr>
            <a:r>
              <a:rPr lang="en-US" sz="1200" dirty="0">
                <a:solidFill>
                  <a:srgbClr val="F6F1E8"/>
                </a:solidFill>
                <a:latin typeface="IBM Plex Sans" pitchFamily="34" charset="0"/>
                <a:ea typeface="IBM Plex Sans" pitchFamily="34" charset="-122"/>
                <a:cs typeface="IBM Plex Sans" pitchFamily="34" charset="-120"/>
              </a:rPr>
              <a:t>Alexa+ track</a:t>
            </a:r>
            <a:endParaRPr lang="en-US" sz="1200" dirty="0"/>
          </a:p>
        </p:txBody>
      </p:sp>
      <p:sp>
        <p:nvSpPr>
          <p:cNvPr id="7" name="Text 5"/>
          <p:cNvSpPr/>
          <p:nvPr/>
        </p:nvSpPr>
        <p:spPr>
          <a:xfrm>
            <a:off x="2086769" y="5659755"/>
            <a:ext cx="1159669" cy="344170"/>
          </a:xfrm>
          <a:prstGeom prst="roundRect">
            <a:avLst>
              <a:gd name="adj" fmla="val 50000"/>
            </a:avLst>
          </a:prstGeom>
          <a:noFill/>
          <a:ln w="6350">
            <a:solidFill>
              <a:srgbClr val="5A6873"/>
            </a:solidFill>
            <a:prstDash val="solid"/>
          </a:ln>
        </p:spPr>
        <p:txBody>
          <a:bodyPr wrap="none" lIns="0" tIns="0" rIns="0" bIns="0" rtlCol="0" anchor="ctr">
            <a:normAutofit/>
          </a:bodyPr>
          <a:lstStyle/>
          <a:p>
            <a:pPr algn="ctr" indent="0" marL="0">
              <a:lnSpc>
                <a:spcPts val="1680"/>
              </a:lnSpc>
              <a:buNone/>
            </a:pPr>
            <a:r>
              <a:rPr lang="en-US" sz="1200" dirty="0">
                <a:solidFill>
                  <a:srgbClr val="F6F1E8"/>
                </a:solidFill>
                <a:latin typeface="IBM Plex Sans" pitchFamily="34" charset="0"/>
                <a:ea typeface="IBM Plex Sans" pitchFamily="34" charset="-122"/>
                <a:cs typeface="IBM Plex Sans" pitchFamily="34" charset="-120"/>
              </a:rPr>
              <a:t>AWS Builder</a:t>
            </a:r>
            <a:endParaRPr lang="en-US" sz="1200" dirty="0"/>
          </a:p>
        </p:txBody>
      </p:sp>
      <p:sp>
        <p:nvSpPr>
          <p:cNvPr id="8" name="Text 6"/>
          <p:cNvSpPr/>
          <p:nvPr/>
        </p:nvSpPr>
        <p:spPr>
          <a:xfrm>
            <a:off x="3354388" y="5659755"/>
            <a:ext cx="1186180" cy="344170"/>
          </a:xfrm>
          <a:prstGeom prst="roundRect">
            <a:avLst>
              <a:gd name="adj" fmla="val 50000"/>
            </a:avLst>
          </a:prstGeom>
          <a:noFill/>
          <a:ln w="6350">
            <a:solidFill>
              <a:srgbClr val="5A6873"/>
            </a:solidFill>
            <a:prstDash val="solid"/>
          </a:ln>
        </p:spPr>
        <p:txBody>
          <a:bodyPr wrap="none" lIns="0" tIns="0" rIns="0" bIns="0" rtlCol="0" anchor="ctr">
            <a:normAutofit/>
          </a:bodyPr>
          <a:lstStyle/>
          <a:p>
            <a:pPr algn="ctr" indent="0" marL="0">
              <a:lnSpc>
                <a:spcPts val="1680"/>
              </a:lnSpc>
              <a:buNone/>
            </a:pPr>
            <a:r>
              <a:rPr lang="en-US" sz="1200" dirty="0">
                <a:solidFill>
                  <a:srgbClr val="F6F1E8"/>
                </a:solidFill>
                <a:latin typeface="IBM Plex Sans" pitchFamily="34" charset="0"/>
                <a:ea typeface="IBM Plex Sans" pitchFamily="34" charset="-122"/>
                <a:cs typeface="IBM Plex Sans" pitchFamily="34" charset="-120"/>
              </a:rPr>
              <a:t>Open Source</a:t>
            </a:r>
            <a:endParaRPr lang="en-US" sz="1200" dirty="0"/>
          </a:p>
        </p:txBody>
      </p:sp>
      <p:sp>
        <p:nvSpPr>
          <p:cNvPr id="9" name="Text 7"/>
          <p:cNvSpPr/>
          <p:nvPr/>
        </p:nvSpPr>
        <p:spPr>
          <a:xfrm>
            <a:off x="8253086" y="5618480"/>
            <a:ext cx="3126114" cy="4521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7C2CB"/>
                </a:solidFill>
                <a:latin typeface="IBM Plex Sans" pitchFamily="34" charset="0"/>
                <a:ea typeface="IBM Plex Sans" pitchFamily="34" charset="-122"/>
                <a:cs typeface="IBM Plex Sans" pitchFamily="34" charset="-120"/>
              </a:rPr>
              <a:t>Team: Shilpa Agarwal and Charvi Maurya</a:t>
            </a:r>
            <a:endParaRPr lang="en-US" sz="1200" dirty="0"/>
          </a:p>
          <a:p>
            <a:pPr algn="r" indent="0" marL="0">
              <a:lnSpc>
                <a:spcPts val="1680"/>
              </a:lnSpc>
              <a:buNone/>
            </a:pPr>
            <a:r>
              <a:rPr lang="en-US" sz="1200" dirty="0">
                <a:solidFill>
                  <a:srgbClr val="B7C2CB"/>
                </a:solidFill>
                <a:latin typeface="IBM Plex Sans" pitchFamily="34" charset="0"/>
                <a:ea typeface="IBM Plex Sans" pitchFamily="34" charset="-122"/>
                <a:cs typeface="IBM Plex Sans" pitchFamily="34" charset="-120"/>
              </a:rPr>
              <a:t>Synthetic data only. Simulated Alexa+ client.</a:t>
            </a:r>
            <a:endParaRPr lang="en-US" sz="1200" dirty="0"/>
          </a:p>
        </p:txBody>
      </p:sp>
      <p:sp>
        <p:nvSpPr>
          <p:cNvPr id="10" name="Shape 8"/>
          <p:cNvSpPr/>
          <p:nvPr/>
        </p:nvSpPr>
        <p:spPr>
          <a:xfrm>
            <a:off x="0" y="0"/>
            <a:ext cx="12192000" cy="508000"/>
          </a:xfrm>
          <a:prstGeom prst="rect">
            <a:avLst/>
          </a:prstGeom>
          <a:solidFill>
            <a:srgbClr val="A51F4C"/>
          </a:solidFill>
          <a:ln/>
        </p:spPr>
      </p:sp>
      <p:pic>
        <p:nvPicPr>
          <p:cNvPr id="11"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12" name="Text 9"/>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13" name="Text 10"/>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14" name="Shape 11"/>
          <p:cNvSpPr/>
          <p:nvPr/>
        </p:nvSpPr>
        <p:spPr>
          <a:xfrm>
            <a:off x="0" y="6502400"/>
            <a:ext cx="12192000" cy="355600"/>
          </a:xfrm>
          <a:prstGeom prst="rect">
            <a:avLst/>
          </a:prstGeom>
          <a:solidFill>
            <a:srgbClr val="A51F4C"/>
          </a:solidFill>
          <a:ln/>
        </p:spPr>
      </p:sp>
      <p:sp>
        <p:nvSpPr>
          <p:cNvPr id="15" name="Text 12"/>
          <p:cNvSpPr/>
          <p:nvPr/>
        </p:nvSpPr>
        <p:spPr>
          <a:xfrm>
            <a:off x="254000" y="6583680"/>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6" name="Text 13"/>
          <p:cNvSpPr/>
          <p:nvPr/>
        </p:nvSpPr>
        <p:spPr>
          <a:xfrm>
            <a:off x="7359650" y="6583680"/>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17" name="Rectangle 16"/>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1"/>
          <a:stretch>
            <a:fillRect/>
          </a:stretch>
        </p:blipFill>
        <p:spPr>
          <a:xfrm>
            <a:off x="228600" y="102412"/>
            <a:ext cx="292608" cy="292608"/>
          </a:xfrm>
          <a:prstGeom prst="rect">
            <a:avLst/>
          </a:prstGeom>
        </p:spPr>
      </p:pic>
      <p:sp>
        <p:nvSpPr>
          <p:cNvPr id="19" name="TextBox 18"/>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20" name="TextBox 19"/>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21" name="Rectangle 20"/>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23" name="TextBox 22"/>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NEED</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22B"/>
                </a:solidFill>
                <a:latin typeface="Source Serif 4" pitchFamily="18" charset="0"/>
                <a:ea typeface="Source Serif 4" pitchFamily="18" charset="-122"/>
                <a:cs typeface="Source Serif 4" pitchFamily="18" charset="-120"/>
              </a:rPr>
              <a:t>Paper goes home. The care team stays behind.</a:t>
            </a:r>
            <a:endParaRPr lang="en-US" sz="3600" dirty="0"/>
          </a:p>
        </p:txBody>
      </p:sp>
      <p:sp>
        <p:nvSpPr>
          <p:cNvPr id="4" name="Text 2"/>
          <p:cNvSpPr/>
          <p:nvPr/>
        </p:nvSpPr>
        <p:spPr>
          <a:xfrm>
            <a:off x="812800" y="1732280"/>
            <a:ext cx="91567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A discharge letter holds every instruction, but it cannot support each moment of recovery at home.</a:t>
            </a:r>
            <a:endParaRPr lang="en-US" sz="1500" dirty="0"/>
          </a:p>
        </p:txBody>
      </p:sp>
      <p:sp>
        <p:nvSpPr>
          <p:cNvPr id="5" name="Shape 3"/>
          <p:cNvSpPr/>
          <p:nvPr/>
        </p:nvSpPr>
        <p:spPr>
          <a:xfrm>
            <a:off x="815975" y="2306955"/>
            <a:ext cx="3380264" cy="2023110"/>
          </a:xfrm>
          <a:prstGeom prst="roundRect">
            <a:avLst>
              <a:gd name="adj" fmla="val 4865"/>
            </a:avLst>
          </a:prstGeom>
          <a:solidFill>
            <a:srgbClr val="FFFDF8"/>
          </a:solidFill>
          <a:ln w="6350">
            <a:solidFill>
              <a:srgbClr val="E4DCCF"/>
            </a:solidFill>
            <a:prstDash val="solid"/>
          </a:ln>
        </p:spPr>
      </p:sp>
      <p:sp>
        <p:nvSpPr>
          <p:cNvPr id="6" name="Text 4"/>
          <p:cNvSpPr/>
          <p:nvPr/>
        </p:nvSpPr>
        <p:spPr>
          <a:xfrm>
            <a:off x="1071880" y="2562860"/>
            <a:ext cx="2954507"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Paper cannot remind her</a:t>
            </a:r>
            <a:endParaRPr lang="en-US" sz="2000" dirty="0"/>
          </a:p>
        </p:txBody>
      </p:sp>
      <p:sp>
        <p:nvSpPr>
          <p:cNvPr id="7" name="Text 5"/>
          <p:cNvSpPr/>
          <p:nvPr/>
        </p:nvSpPr>
        <p:spPr>
          <a:xfrm>
            <a:off x="1071880" y="3274060"/>
            <a:ext cx="295450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The morning walk, the tablets after breakfast and the follow-up dates still depend on memory.</a:t>
            </a:r>
            <a:endParaRPr lang="en-US" sz="1500" dirty="0"/>
          </a:p>
        </p:txBody>
      </p:sp>
      <p:sp>
        <p:nvSpPr>
          <p:cNvPr id="8" name="Shape 6"/>
          <p:cNvSpPr/>
          <p:nvPr/>
        </p:nvSpPr>
        <p:spPr>
          <a:xfrm>
            <a:off x="4405789" y="2306955"/>
            <a:ext cx="3380343" cy="2023110"/>
          </a:xfrm>
          <a:prstGeom prst="roundRect">
            <a:avLst>
              <a:gd name="adj" fmla="val 4865"/>
            </a:avLst>
          </a:prstGeom>
          <a:solidFill>
            <a:srgbClr val="FFFDF8"/>
          </a:solidFill>
          <a:ln w="6350">
            <a:solidFill>
              <a:srgbClr val="E4DCCF"/>
            </a:solidFill>
            <a:prstDash val="solid"/>
          </a:ln>
        </p:spPr>
      </p:sp>
      <p:sp>
        <p:nvSpPr>
          <p:cNvPr id="9" name="Text 7"/>
          <p:cNvSpPr/>
          <p:nvPr/>
        </p:nvSpPr>
        <p:spPr>
          <a:xfrm>
            <a:off x="4661694" y="2562860"/>
            <a:ext cx="2954589"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Paper cannot remember</a:t>
            </a:r>
            <a:endParaRPr lang="en-US" sz="2000" dirty="0"/>
          </a:p>
        </p:txBody>
      </p:sp>
      <p:sp>
        <p:nvSpPr>
          <p:cNvPr id="10" name="Text 8"/>
          <p:cNvSpPr/>
          <p:nvPr/>
        </p:nvSpPr>
        <p:spPr>
          <a:xfrm>
            <a:off x="4661694" y="3274060"/>
            <a:ext cx="295458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It never changes when Margaret finishes a walk or takes a dose.</a:t>
            </a:r>
            <a:endParaRPr lang="en-US" sz="1500" dirty="0"/>
          </a:p>
        </p:txBody>
      </p:sp>
      <p:sp>
        <p:nvSpPr>
          <p:cNvPr id="11" name="Shape 9"/>
          <p:cNvSpPr/>
          <p:nvPr/>
        </p:nvSpPr>
        <p:spPr>
          <a:xfrm>
            <a:off x="7995682" y="2306955"/>
            <a:ext cx="3380343" cy="2023110"/>
          </a:xfrm>
          <a:prstGeom prst="roundRect">
            <a:avLst>
              <a:gd name="adj" fmla="val 4865"/>
            </a:avLst>
          </a:prstGeom>
          <a:solidFill>
            <a:srgbClr val="FFFDF8"/>
          </a:solidFill>
          <a:ln w="6350">
            <a:solidFill>
              <a:srgbClr val="E4DCCF"/>
            </a:solidFill>
            <a:prstDash val="solid"/>
          </a:ln>
        </p:spPr>
      </p:sp>
      <p:sp>
        <p:nvSpPr>
          <p:cNvPr id="12" name="Text 10"/>
          <p:cNvSpPr/>
          <p:nvPr/>
        </p:nvSpPr>
        <p:spPr>
          <a:xfrm>
            <a:off x="8251587" y="2562860"/>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Paper cannot clarify</a:t>
            </a:r>
            <a:endParaRPr lang="en-US" sz="2000" dirty="0"/>
          </a:p>
        </p:txBody>
      </p:sp>
      <p:sp>
        <p:nvSpPr>
          <p:cNvPr id="13" name="Text 11"/>
          <p:cNvSpPr/>
          <p:nvPr/>
        </p:nvSpPr>
        <p:spPr>
          <a:xfrm>
            <a:off x="8251587" y="2969260"/>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An unclear end date or two different dates need a person, not a confident guess.</a:t>
            </a:r>
            <a:endParaRPr lang="en-US" sz="1500" dirty="0"/>
          </a:p>
        </p:txBody>
      </p:sp>
      <p:sp>
        <p:nvSpPr>
          <p:cNvPr id="14" name="Shape 12"/>
          <p:cNvSpPr/>
          <p:nvPr/>
        </p:nvSpPr>
        <p:spPr>
          <a:xfrm>
            <a:off x="0" y="0"/>
            <a:ext cx="12192000" cy="508000"/>
          </a:xfrm>
          <a:prstGeom prst="rect">
            <a:avLst/>
          </a:prstGeom>
          <a:solidFill>
            <a:srgbClr val="A51F4C"/>
          </a:solidFill>
          <a:ln/>
        </p:spPr>
      </p:sp>
      <p:pic>
        <p:nvPicPr>
          <p:cNvPr id="15"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16" name="Text 13"/>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17" name="Text 14"/>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18" name="Shape 15"/>
          <p:cNvSpPr/>
          <p:nvPr/>
        </p:nvSpPr>
        <p:spPr>
          <a:xfrm>
            <a:off x="0" y="6502400"/>
            <a:ext cx="12192000" cy="355600"/>
          </a:xfrm>
          <a:prstGeom prst="rect">
            <a:avLst/>
          </a:prstGeom>
          <a:solidFill>
            <a:srgbClr val="A51F4C"/>
          </a:solidFill>
          <a:ln/>
        </p:spPr>
      </p:sp>
      <p:sp>
        <p:nvSpPr>
          <p:cNvPr id="19" name="Text 16"/>
          <p:cNvSpPr/>
          <p:nvPr/>
        </p:nvSpPr>
        <p:spPr>
          <a:xfrm>
            <a:off x="254000" y="6583680"/>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20" name="Text 17"/>
          <p:cNvSpPr/>
          <p:nvPr/>
        </p:nvSpPr>
        <p:spPr>
          <a:xfrm>
            <a:off x="7359650" y="6583680"/>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21" name="Rectangle 20"/>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image.png"/>
          <p:cNvPicPr>
            <a:picLocks noChangeAspect="1"/>
          </p:cNvPicPr>
          <p:nvPr/>
        </p:nvPicPr>
        <p:blipFill>
          <a:blip r:embed="rId4"/>
          <a:stretch>
            <a:fillRect/>
          </a:stretch>
        </p:blipFill>
        <p:spPr>
          <a:xfrm>
            <a:off x="228600" y="102412"/>
            <a:ext cx="292608" cy="292608"/>
          </a:xfrm>
          <a:prstGeom prst="rect">
            <a:avLst/>
          </a:prstGeom>
        </p:spPr>
      </p:pic>
      <p:sp>
        <p:nvSpPr>
          <p:cNvPr id="23" name="TextBox 22"/>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24" name="TextBox 23"/>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25" name="Rectangle 24"/>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27" name="TextBox 26"/>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222B"/>
        </a:solidFill>
      </p:bgPr>
    </p:bg>
    <p:spTree>
      <p:nvGrpSpPr>
        <p:cNvPr id="1" name=""/>
        <p:cNvGrpSpPr/>
        <p:nvPr/>
      </p:nvGrpSpPr>
      <p:grpSpPr>
        <a:xfrm>
          <a:off x="0" y="0"/>
          <a:ext cx="0" cy="0"/>
          <a:chOff x="0" y="0"/>
          <a:chExt cx="0" cy="0"/>
        </a:xfrm>
      </p:grpSpPr>
      <p:pic>
        <p:nvPicPr>
          <p:cNvPr id="2" name="Image 0" descr="In 2023, in the US alone, nearly 3.8 million adult hospital readmissions within 30 days: a 13.5% readmission rate for adult hospital stays. Source: AHRQ HCUP, Nationwide Readmissions Database 2023, Table A6: 3,769,100 readmissions.">    </p:cNvPr>
          <p:cNvPicPr>
            <a:picLocks noChangeAspect="1"/>
          </p:cNvPicPr>
          <p:nvPr/>
        </p:nvPicPr>
        <p:blipFill>
          <a:blip r:embed="rId1"/>
          <a:srcRect l="0" r="0" t="0" b="0"/>
          <a:stretch/>
        </p:blipFill>
        <p:spPr>
          <a:xfrm>
            <a:off x="0" y="0"/>
            <a:ext cx="12192000" cy="6858000"/>
          </a:xfrm>
          <a:prstGeom prst="rect">
            <a:avLst/>
          </a:prstGeom>
        </p:spPr>
      </p:pic>
      <p:sp>
        <p:nvSpPr>
          <p:cNvPr id="3" name="Rectangle 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4"/>
          <a:stretch>
            <a:fillRect/>
          </a:stretch>
        </p:blipFill>
        <p:spPr>
          <a:xfrm>
            <a:off x="228600" y="102412"/>
            <a:ext cx="292608" cy="292608"/>
          </a:xfrm>
          <a:prstGeom prst="rect">
            <a:avLst/>
          </a:prstGeom>
        </p:spPr>
      </p:pic>
      <p:sp>
        <p:nvSpPr>
          <p:cNvPr id="5" name="TextBox 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6" name="TextBox 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7" name="Rectangle 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9" name="TextBox 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B3264F"/>
        </a:solidFill>
      </p:bgPr>
    </p:bg>
    <p:spTree>
      <p:nvGrpSpPr>
        <p:cNvPr id="1" name=""/>
        <p:cNvGrpSpPr/>
        <p:nvPr/>
      </p:nvGrpSpPr>
      <p:grpSpPr>
        <a:xfrm>
          <a:off x="0" y="0"/>
          <a:ext cx="0" cy="0"/>
          <a:chOff x="0" y="0"/>
          <a:chExt cx="0" cy="0"/>
        </a:xfrm>
      </p:grpSpPr>
      <p:sp>
        <p:nvSpPr>
          <p:cNvPr id="2" name="Text 0"/>
          <p:cNvSpPr/>
          <p:nvPr/>
        </p:nvSpPr>
        <p:spPr>
          <a:xfrm>
            <a:off x="812800" y="156718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DCE5"/>
                </a:solidFill>
                <a:latin typeface="IBM Plex Sans" pitchFamily="34" charset="0"/>
                <a:ea typeface="IBM Plex Sans" pitchFamily="34" charset="-122"/>
                <a:cs typeface="IBM Plex Sans" pitchFamily="34" charset="-120"/>
              </a:rPr>
              <a:t>OUR VISION</a:t>
            </a:r>
            <a:endParaRPr lang="en-US" sz="1200" dirty="0"/>
          </a:p>
        </p:txBody>
      </p:sp>
      <p:sp>
        <p:nvSpPr>
          <p:cNvPr id="3" name="Text 1"/>
          <p:cNvSpPr/>
          <p:nvPr>
            <p:ph type="title"/>
          </p:nvPr>
        </p:nvSpPr>
        <p:spPr>
          <a:xfrm>
            <a:off x="812800" y="2034541"/>
            <a:ext cx="10883392" cy="2494280"/>
          </a:xfrm>
          <a:prstGeom prst="rect">
            <a:avLst/>
          </a:prstGeom>
          <a:noFill/>
          <a:ln/>
        </p:spPr>
        <p:txBody>
          <a:bodyPr wrap="square" lIns="0" tIns="0" rIns="0" bIns="0" rtlCol="0" anchor="t">
            <a:normAutofit/>
          </a:bodyPr>
          <a:lstStyle/>
          <a:p>
            <a:pPr algn="l" indent="0" marL="0">
              <a:lnSpc>
                <a:spcPts val="6480"/>
              </a:lnSpc>
              <a:buNone/>
            </a:pPr>
            <a:r>
              <a:rPr lang="en-US" sz="6000" b="1" i="0" spc="-100" kern="0" dirty="0">
                <a:solidFill>
                  <a:srgbClr val="FFF8F0"/>
                </a:solidFill>
                <a:latin typeface="Source Serif 4" pitchFamily="18" charset="0"/>
                <a:ea typeface="Source Serif 4" pitchFamily="18" charset="-122"/>
                <a:cs typeface="Source Serif 4" pitchFamily="18" charset="-120"/>
              </a:rPr>
              <a:t>No one should have to remember their recovery alone.</a:t>
            </a:r>
            <a:endParaRPr lang="en-US" sz="6000" dirty="0"/>
          </a:p>
        </p:txBody>
      </p:sp>
      <p:sp>
        <p:nvSpPr>
          <p:cNvPr id="4" name="Text 2"/>
          <p:cNvSpPr/>
          <p:nvPr/>
        </p:nvSpPr>
        <p:spPr>
          <a:xfrm>
            <a:off x="812800" y="4757420"/>
            <a:ext cx="78486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FE9EE"/>
                </a:solidFill>
                <a:latin typeface="IBM Plex Sans" pitchFamily="34" charset="0"/>
                <a:ea typeface="IBM Plex Sans" pitchFamily="34" charset="-122"/>
                <a:cs typeface="IBM Plex Sans" pitchFamily="34" charset="-120"/>
              </a:rPr>
              <a:t>Every discharge letter becomes a plan that speaks at the right time, remembers what you did, and is honest about what it does not know.</a:t>
            </a:r>
            <a:endParaRPr lang="en-US" sz="1500" dirty="0"/>
          </a:p>
        </p:txBody>
      </p:sp>
      <p:sp>
        <p:nvSpPr>
          <p:cNvPr id="5" name="Shape 3"/>
          <p:cNvSpPr/>
          <p:nvPr/>
        </p:nvSpPr>
        <p:spPr>
          <a:xfrm>
            <a:off x="0" y="0"/>
            <a:ext cx="12192000" cy="508000"/>
          </a:xfrm>
          <a:prstGeom prst="rect">
            <a:avLst/>
          </a:prstGeom>
          <a:solidFill>
            <a:srgbClr val="A51F4C"/>
          </a:solidFill>
          <a:ln/>
        </p:spPr>
      </p:sp>
      <p:pic>
        <p:nvPicPr>
          <p:cNvPr id="6"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7" name="Text 4"/>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8" name="Text 5"/>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9" name="Shape 6"/>
          <p:cNvSpPr/>
          <p:nvPr/>
        </p:nvSpPr>
        <p:spPr>
          <a:xfrm>
            <a:off x="0" y="6502400"/>
            <a:ext cx="12192000" cy="355600"/>
          </a:xfrm>
          <a:prstGeom prst="rect">
            <a:avLst/>
          </a:prstGeom>
          <a:solidFill>
            <a:srgbClr val="A51F4C"/>
          </a:solidFill>
          <a:ln/>
        </p:spPr>
      </p:sp>
      <p:sp>
        <p:nvSpPr>
          <p:cNvPr id="10" name="Text 7"/>
          <p:cNvSpPr/>
          <p:nvPr/>
        </p:nvSpPr>
        <p:spPr>
          <a:xfrm>
            <a:off x="254000" y="6583682"/>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1" name="Text 8"/>
          <p:cNvSpPr/>
          <p:nvPr/>
        </p:nvSpPr>
        <p:spPr>
          <a:xfrm>
            <a:off x="7359650" y="6583682"/>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12" name="Rectangle 11"/>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4"/>
          <a:stretch>
            <a:fillRect/>
          </a:stretch>
        </p:blipFill>
        <p:spPr>
          <a:xfrm>
            <a:off x="228600" y="102412"/>
            <a:ext cx="292608" cy="292608"/>
          </a:xfrm>
          <a:prstGeom prst="rect">
            <a:avLst/>
          </a:prstGeom>
        </p:spPr>
      </p:pic>
      <p:sp>
        <p:nvSpPr>
          <p:cNvPr id="14" name="TextBox 13"/>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15" name="TextBox 14"/>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16" name="Rectangle 15"/>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18" name="TextBox 17"/>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PRODUCT</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Value proposition</a:t>
            </a:r>
            <a:endParaRPr lang="en-US" sz="3200" dirty="0"/>
          </a:p>
        </p:txBody>
      </p:sp>
      <p:sp>
        <p:nvSpPr>
          <p:cNvPr id="4" name="Text 2"/>
          <p:cNvSpPr/>
          <p:nvPr/>
        </p:nvSpPr>
        <p:spPr>
          <a:xfrm>
            <a:off x="812800" y="1803400"/>
            <a:ext cx="10464800" cy="977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7222B"/>
                </a:solidFill>
                <a:latin typeface="Source Serif 4" pitchFamily="18" charset="0"/>
                <a:ea typeface="Source Serif 4" pitchFamily="18" charset="-122"/>
                <a:cs typeface="Source Serif 4" pitchFamily="18" charset="-120"/>
              </a:rPr>
              <a:t>Alexa+ can already set a reminder and answer questions about a document. AfterWard adds what recovery needs: a plan built from your letter, that knows what you have done.</a:t>
            </a:r>
            <a:endParaRPr lang="en-US" sz="2000" dirty="0"/>
          </a:p>
        </p:txBody>
      </p:sp>
      <p:sp>
        <p:nvSpPr>
          <p:cNvPr id="5" name="Shape 3"/>
          <p:cNvSpPr/>
          <p:nvPr/>
        </p:nvSpPr>
        <p:spPr>
          <a:xfrm>
            <a:off x="815975" y="3013075"/>
            <a:ext cx="2482850" cy="2188210"/>
          </a:xfrm>
          <a:prstGeom prst="roundRect">
            <a:avLst>
              <a:gd name="adj" fmla="val 4498"/>
            </a:avLst>
          </a:prstGeom>
          <a:solidFill>
            <a:srgbClr val="FFFDF8"/>
          </a:solidFill>
          <a:ln w="6350">
            <a:solidFill>
              <a:srgbClr val="E4DCCF"/>
            </a:solidFill>
            <a:prstDash val="solid"/>
          </a:ln>
        </p:spPr>
      </p:sp>
      <p:sp>
        <p:nvSpPr>
          <p:cNvPr id="6" name="Text 4"/>
          <p:cNvSpPr/>
          <p:nvPr/>
        </p:nvSpPr>
        <p:spPr>
          <a:xfrm>
            <a:off x="1021080" y="3218182"/>
            <a:ext cx="2134819"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Builds the plan for you</a:t>
            </a:r>
            <a:endParaRPr lang="en-US" sz="2000" dirty="0"/>
          </a:p>
        </p:txBody>
      </p:sp>
      <p:sp>
        <p:nvSpPr>
          <p:cNvPr id="7" name="Text 5"/>
          <p:cNvSpPr/>
          <p:nvPr/>
        </p:nvSpPr>
        <p:spPr>
          <a:xfrm>
            <a:off x="1021080" y="3929382"/>
            <a:ext cx="2134819"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Each day's medicines, exercises, walks and appointments, from your own letter.</a:t>
            </a:r>
            <a:endParaRPr lang="en-US" sz="1500" dirty="0"/>
          </a:p>
        </p:txBody>
      </p:sp>
      <p:sp>
        <p:nvSpPr>
          <p:cNvPr id="8" name="Shape 6"/>
          <p:cNvSpPr/>
          <p:nvPr/>
        </p:nvSpPr>
        <p:spPr>
          <a:xfrm>
            <a:off x="3508375" y="3013075"/>
            <a:ext cx="2482850" cy="2188210"/>
          </a:xfrm>
          <a:prstGeom prst="roundRect">
            <a:avLst>
              <a:gd name="adj" fmla="val 4498"/>
            </a:avLst>
          </a:prstGeom>
          <a:solidFill>
            <a:srgbClr val="FFFDF8"/>
          </a:solidFill>
          <a:ln w="6350">
            <a:solidFill>
              <a:srgbClr val="E4DCCF"/>
            </a:solidFill>
            <a:prstDash val="solid"/>
          </a:ln>
        </p:spPr>
      </p:sp>
      <p:sp>
        <p:nvSpPr>
          <p:cNvPr id="9" name="Text 7"/>
          <p:cNvSpPr/>
          <p:nvPr/>
        </p:nvSpPr>
        <p:spPr>
          <a:xfrm>
            <a:off x="3713480" y="3218182"/>
            <a:ext cx="2134819"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Knows what you did</a:t>
            </a:r>
            <a:endParaRPr lang="en-US" sz="2000" dirty="0"/>
          </a:p>
        </p:txBody>
      </p:sp>
      <p:sp>
        <p:nvSpPr>
          <p:cNvPr id="10" name="Text 8"/>
          <p:cNvSpPr/>
          <p:nvPr/>
        </p:nvSpPr>
        <p:spPr>
          <a:xfrm>
            <a:off x="3713480" y="3929382"/>
            <a:ext cx="213481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“I'm back from my walk” ticks it off. One more to go today.</a:t>
            </a:r>
            <a:endParaRPr lang="en-US" sz="1500" dirty="0"/>
          </a:p>
        </p:txBody>
      </p:sp>
      <p:sp>
        <p:nvSpPr>
          <p:cNvPr id="11" name="Shape 9"/>
          <p:cNvSpPr/>
          <p:nvPr/>
        </p:nvSpPr>
        <p:spPr>
          <a:xfrm>
            <a:off x="6200775" y="3013075"/>
            <a:ext cx="2482850" cy="2188210"/>
          </a:xfrm>
          <a:prstGeom prst="roundRect">
            <a:avLst>
              <a:gd name="adj" fmla="val 4498"/>
            </a:avLst>
          </a:prstGeom>
          <a:solidFill>
            <a:srgbClr val="FFFDF8"/>
          </a:solidFill>
          <a:ln w="6350">
            <a:solidFill>
              <a:srgbClr val="E4DCCF"/>
            </a:solidFill>
            <a:prstDash val="solid"/>
          </a:ln>
        </p:spPr>
      </p:sp>
      <p:sp>
        <p:nvSpPr>
          <p:cNvPr id="12" name="Text 10"/>
          <p:cNvSpPr/>
          <p:nvPr/>
        </p:nvSpPr>
        <p:spPr>
          <a:xfrm>
            <a:off x="6405880" y="3218182"/>
            <a:ext cx="213481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Never guesses</a:t>
            </a:r>
            <a:endParaRPr lang="en-US" sz="2000" dirty="0"/>
          </a:p>
        </p:txBody>
      </p:sp>
      <p:sp>
        <p:nvSpPr>
          <p:cNvPr id="13" name="Text 11"/>
          <p:cNvSpPr/>
          <p:nvPr/>
        </p:nvSpPr>
        <p:spPr>
          <a:xfrm>
            <a:off x="6405880" y="3624582"/>
            <a:ext cx="213481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Says when the letter is unclear, and points you to your care team.</a:t>
            </a:r>
            <a:endParaRPr lang="en-US" sz="1500" dirty="0"/>
          </a:p>
        </p:txBody>
      </p:sp>
      <p:sp>
        <p:nvSpPr>
          <p:cNvPr id="14" name="Shape 12"/>
          <p:cNvSpPr/>
          <p:nvPr/>
        </p:nvSpPr>
        <p:spPr>
          <a:xfrm>
            <a:off x="8893175" y="3013075"/>
            <a:ext cx="2482850" cy="2188210"/>
          </a:xfrm>
          <a:prstGeom prst="roundRect">
            <a:avLst>
              <a:gd name="adj" fmla="val 4498"/>
            </a:avLst>
          </a:prstGeom>
          <a:solidFill>
            <a:srgbClr val="FFFDF8"/>
          </a:solidFill>
          <a:ln w="6350">
            <a:solidFill>
              <a:srgbClr val="E4DCCF"/>
            </a:solidFill>
            <a:prstDash val="solid"/>
          </a:ln>
        </p:spPr>
      </p:sp>
      <p:sp>
        <p:nvSpPr>
          <p:cNvPr id="15" name="Text 13"/>
          <p:cNvSpPr/>
          <p:nvPr/>
        </p:nvSpPr>
        <p:spPr>
          <a:xfrm>
            <a:off x="9098280" y="3218182"/>
            <a:ext cx="2134819"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Speaks and shows</a:t>
            </a:r>
            <a:endParaRPr lang="en-US" sz="2000" dirty="0"/>
          </a:p>
        </p:txBody>
      </p:sp>
      <p:sp>
        <p:nvSpPr>
          <p:cNvPr id="16" name="Text 14"/>
          <p:cNvSpPr/>
          <p:nvPr/>
        </p:nvSpPr>
        <p:spPr>
          <a:xfrm>
            <a:off x="9098280" y="3929382"/>
            <a:ext cx="213481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A reminder before each item. The rest is on screen, with its source.</a:t>
            </a:r>
            <a:endParaRPr lang="en-US" sz="1500" dirty="0"/>
          </a:p>
        </p:txBody>
      </p:sp>
      <p:sp>
        <p:nvSpPr>
          <p:cNvPr id="17" name="Text 15"/>
          <p:cNvSpPr/>
          <p:nvPr/>
        </p:nvSpPr>
        <p:spPr>
          <a:xfrm>
            <a:off x="812800" y="545846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AfterWard is not a doctor. It helps you follow the plan your care team already gave you.</a:t>
            </a:r>
            <a:endParaRPr lang="en-US" sz="1200" dirty="0"/>
          </a:p>
        </p:txBody>
      </p:sp>
      <p:sp>
        <p:nvSpPr>
          <p:cNvPr id="18" name="Shape 16"/>
          <p:cNvSpPr/>
          <p:nvPr/>
        </p:nvSpPr>
        <p:spPr>
          <a:xfrm>
            <a:off x="0" y="0"/>
            <a:ext cx="12192000" cy="508000"/>
          </a:xfrm>
          <a:prstGeom prst="rect">
            <a:avLst/>
          </a:prstGeom>
          <a:solidFill>
            <a:srgbClr val="A51F4C"/>
          </a:solidFill>
          <a:ln/>
        </p:spPr>
      </p:sp>
      <p:pic>
        <p:nvPicPr>
          <p:cNvPr id="19"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20" name="Text 17"/>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21" name="Text 18"/>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22" name="Shape 19"/>
          <p:cNvSpPr/>
          <p:nvPr/>
        </p:nvSpPr>
        <p:spPr>
          <a:xfrm>
            <a:off x="0" y="6502400"/>
            <a:ext cx="12192000" cy="355600"/>
          </a:xfrm>
          <a:prstGeom prst="rect">
            <a:avLst/>
          </a:prstGeom>
          <a:solidFill>
            <a:srgbClr val="A51F4C"/>
          </a:solidFill>
          <a:ln/>
        </p:spPr>
      </p:sp>
      <p:sp>
        <p:nvSpPr>
          <p:cNvPr id="23" name="Text 20"/>
          <p:cNvSpPr/>
          <p:nvPr/>
        </p:nvSpPr>
        <p:spPr>
          <a:xfrm>
            <a:off x="254000" y="6583682"/>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24" name="Text 21"/>
          <p:cNvSpPr/>
          <p:nvPr/>
        </p:nvSpPr>
        <p:spPr>
          <a:xfrm>
            <a:off x="7359650" y="6583682"/>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25" name="Rectangle 24"/>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4"/>
          <a:stretch>
            <a:fillRect/>
          </a:stretch>
        </p:blipFill>
        <p:spPr>
          <a:xfrm>
            <a:off x="228600" y="102412"/>
            <a:ext cx="292608" cy="292608"/>
          </a:xfrm>
          <a:prstGeom prst="rect">
            <a:avLst/>
          </a:prstGeom>
        </p:spPr>
      </p:pic>
      <p:sp>
        <p:nvSpPr>
          <p:cNvPr id="27" name="TextBox 26"/>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28" name="TextBox 27"/>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29" name="Rectangle 28"/>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31" name="TextBox 30"/>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PRODUCT: WHY THIS IS A NEW EXPERIENCE</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What AfterWard adds to Alexa+</a:t>
            </a:r>
            <a:endParaRPr lang="en-US" sz="3200" dirty="0"/>
          </a:p>
        </p:txBody>
      </p:sp>
      <p:sp>
        <p:nvSpPr>
          <p:cNvPr id="4" name="Shape 2"/>
          <p:cNvSpPr/>
          <p:nvPr/>
        </p:nvSpPr>
        <p:spPr>
          <a:xfrm>
            <a:off x="812800" y="1803400"/>
            <a:ext cx="3885724" cy="2540000"/>
          </a:xfrm>
          <a:prstGeom prst="roundRect">
            <a:avLst>
              <a:gd name="adj" fmla="val 4000"/>
            </a:avLst>
          </a:prstGeom>
          <a:solidFill>
            <a:srgbClr val="F1EBE0"/>
          </a:solidFill>
          <a:ln/>
        </p:spPr>
      </p:sp>
      <p:sp>
        <p:nvSpPr>
          <p:cNvPr id="5" name="Text 3"/>
          <p:cNvSpPr/>
          <p:nvPr/>
        </p:nvSpPr>
        <p:spPr>
          <a:xfrm>
            <a:off x="1041400" y="2006600"/>
            <a:ext cx="353137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D5863"/>
                </a:solidFill>
                <a:latin typeface="IBM Plex Sans" pitchFamily="34" charset="0"/>
                <a:ea typeface="IBM Plex Sans" pitchFamily="34" charset="-122"/>
                <a:cs typeface="IBM Plex Sans" pitchFamily="34" charset="-120"/>
              </a:rPr>
              <a:t>ALEXA+ TODAY</a:t>
            </a:r>
            <a:endParaRPr lang="en-US" sz="1200" dirty="0"/>
          </a:p>
        </p:txBody>
      </p:sp>
      <p:sp>
        <p:nvSpPr>
          <p:cNvPr id="6" name="Text 4"/>
          <p:cNvSpPr/>
          <p:nvPr/>
        </p:nvSpPr>
        <p:spPr>
          <a:xfrm>
            <a:off x="1041400" y="2321561"/>
            <a:ext cx="353137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Sets a reminder when you ask for one.</a:t>
            </a:r>
            <a:endParaRPr lang="en-US" sz="1200" dirty="0"/>
          </a:p>
        </p:txBody>
      </p:sp>
      <p:sp>
        <p:nvSpPr>
          <p:cNvPr id="7" name="Text 5"/>
          <p:cNvSpPr/>
          <p:nvPr/>
        </p:nvSpPr>
        <p:spPr>
          <a:xfrm>
            <a:off x="1041400" y="2636521"/>
            <a:ext cx="35313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Answers questions about a document you share, and adds its dates to your calendar.</a:t>
            </a:r>
            <a:endParaRPr lang="en-US" sz="1200" dirty="0"/>
          </a:p>
        </p:txBody>
      </p:sp>
      <p:sp>
        <p:nvSpPr>
          <p:cNvPr id="8" name="Text 6"/>
          <p:cNvSpPr/>
          <p:nvPr/>
        </p:nvSpPr>
        <p:spPr>
          <a:xfrm>
            <a:off x="1041400" y="3164839"/>
            <a:ext cx="365712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General features, made for any document or task.</a:t>
            </a:r>
            <a:endParaRPr lang="en-US" sz="1200" dirty="0"/>
          </a:p>
        </p:txBody>
      </p:sp>
      <p:sp>
        <p:nvSpPr>
          <p:cNvPr id="9" name="Shape 7"/>
          <p:cNvSpPr/>
          <p:nvPr/>
        </p:nvSpPr>
        <p:spPr>
          <a:xfrm>
            <a:off x="4908074" y="1809750"/>
            <a:ext cx="6464776" cy="2527300"/>
          </a:xfrm>
          <a:prstGeom prst="roundRect">
            <a:avLst>
              <a:gd name="adj" fmla="val 3769"/>
            </a:avLst>
          </a:prstGeom>
          <a:solidFill>
            <a:srgbClr val="FBE4EA"/>
          </a:solidFill>
          <a:ln w="12700">
            <a:solidFill>
              <a:srgbClr val="B3264F"/>
            </a:solidFill>
            <a:prstDash val="solid"/>
          </a:ln>
        </p:spPr>
      </p:sp>
      <p:sp>
        <p:nvSpPr>
          <p:cNvPr id="10" name="Text 8"/>
          <p:cNvSpPr/>
          <p:nvPr/>
        </p:nvSpPr>
        <p:spPr>
          <a:xfrm>
            <a:off x="5140484" y="2016761"/>
            <a:ext cx="61799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64F"/>
                </a:solidFill>
                <a:latin typeface="IBM Plex Sans" pitchFamily="34" charset="0"/>
                <a:ea typeface="IBM Plex Sans" pitchFamily="34" charset="-122"/>
                <a:cs typeface="IBM Plex Sans" pitchFamily="34" charset="-120"/>
              </a:rPr>
              <a:t>AFTERWARD ADDS</a:t>
            </a:r>
            <a:endParaRPr lang="en-US" sz="1200" dirty="0"/>
          </a:p>
        </p:txBody>
      </p:sp>
      <p:sp>
        <p:nvSpPr>
          <p:cNvPr id="11" name="Text 9"/>
          <p:cNvSpPr/>
          <p:nvPr/>
        </p:nvSpPr>
        <p:spPr>
          <a:xfrm>
            <a:off x="5140484" y="2331721"/>
            <a:ext cx="617995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A plan built for you.</a:t>
            </a:r>
            <a:r>
              <a:rPr lang="en-US" sz="1200" dirty="0">
                <a:solidFill>
                  <a:srgbClr val="17222B"/>
                </a:solidFill>
                <a:latin typeface="IBM Plex Sans" pitchFamily="34" charset="0"/>
                <a:ea typeface="IBM Plex Sans" pitchFamily="34" charset="-122"/>
                <a:cs typeface="IBM Plex Sans" pitchFamily="34" charset="-120"/>
              </a:rPr>
              <a:t> The letter becomes each day's medicines, exercises, walks and appointments. Nobody types anything in.</a:t>
            </a:r>
            <a:endParaRPr lang="en-US" sz="1200" dirty="0"/>
          </a:p>
        </p:txBody>
      </p:sp>
      <p:sp>
        <p:nvSpPr>
          <p:cNvPr id="12" name="Text 10"/>
          <p:cNvSpPr/>
          <p:nvPr/>
        </p:nvSpPr>
        <p:spPr>
          <a:xfrm>
            <a:off x="5140484" y="2860039"/>
            <a:ext cx="617995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It knows what is done.</a:t>
            </a:r>
            <a:r>
              <a:rPr lang="en-US" sz="1200" dirty="0">
                <a:solidFill>
                  <a:srgbClr val="17222B"/>
                </a:solidFill>
                <a:latin typeface="IBM Plex Sans" pitchFamily="34" charset="0"/>
                <a:ea typeface="IBM Plex Sans" pitchFamily="34" charset="-122"/>
                <a:cs typeface="IBM Plex Sans" pitchFamily="34" charset="-120"/>
              </a:rPr>
              <a:t> “I'm back from my walk” ticks walk 1 of 2, and the plan changes.</a:t>
            </a:r>
            <a:endParaRPr lang="en-US" sz="1200" dirty="0"/>
          </a:p>
        </p:txBody>
      </p:sp>
      <p:sp>
        <p:nvSpPr>
          <p:cNvPr id="13" name="Text 11"/>
          <p:cNvSpPr/>
          <p:nvPr/>
        </p:nvSpPr>
        <p:spPr>
          <a:xfrm>
            <a:off x="5140484" y="3388361"/>
            <a:ext cx="617995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It never guesses.</a:t>
            </a:r>
            <a:r>
              <a:rPr lang="en-US" sz="1200" dirty="0">
                <a:solidFill>
                  <a:srgbClr val="17222B"/>
                </a:solidFill>
                <a:latin typeface="IBM Plex Sans" pitchFamily="34" charset="0"/>
                <a:ea typeface="IBM Plex Sans" pitchFamily="34" charset="-122"/>
                <a:cs typeface="IBM Plex Sans" pitchFamily="34" charset="-120"/>
              </a:rPr>
              <a:t> Fixed rules flag an unclear line, and AfterWard says “your letter does not say”.</a:t>
            </a:r>
            <a:endParaRPr lang="en-US" sz="1200" dirty="0"/>
          </a:p>
        </p:txBody>
      </p:sp>
      <p:sp>
        <p:nvSpPr>
          <p:cNvPr id="14" name="Text 12"/>
          <p:cNvSpPr/>
          <p:nvPr/>
        </p:nvSpPr>
        <p:spPr>
          <a:xfrm>
            <a:off x="5140484" y="3916682"/>
            <a:ext cx="622601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It shows its source.</a:t>
            </a:r>
            <a:r>
              <a:rPr lang="en-US" sz="1200" dirty="0">
                <a:solidFill>
                  <a:srgbClr val="17222B"/>
                </a:solidFill>
                <a:latin typeface="IBM Plex Sans" pitchFamily="34" charset="0"/>
                <a:ea typeface="IBM Plex Sans" pitchFamily="34" charset="-122"/>
                <a:cs typeface="IBM Plex Sans" pitchFamily="34" charset="-120"/>
              </a:rPr>
              <a:t> The sentence from her own letter is on screen beside the answer.</a:t>
            </a:r>
            <a:endParaRPr lang="en-US" sz="1200" dirty="0"/>
          </a:p>
        </p:txBody>
      </p:sp>
      <p:sp>
        <p:nvSpPr>
          <p:cNvPr id="15" name="Text 13"/>
          <p:cNvSpPr/>
          <p:nvPr/>
        </p:nvSpPr>
        <p:spPr>
          <a:xfrm>
            <a:off x="812800" y="4597400"/>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22B"/>
                </a:solidFill>
                <a:latin typeface="IBM Plex Sans" pitchFamily="34" charset="0"/>
                <a:ea typeface="IBM Plex Sans" pitchFamily="34" charset="-122"/>
                <a:cs typeface="IBM Plex Sans" pitchFamily="34" charset="-120"/>
              </a:rPr>
              <a:t>Why now: every hospital writes its letter differently. A language model can read them all, and fixed rules make that safe to act on.</a:t>
            </a:r>
            <a:endParaRPr lang="en-US" sz="1500" dirty="0"/>
          </a:p>
        </p:txBody>
      </p:sp>
      <p:sp>
        <p:nvSpPr>
          <p:cNvPr id="16" name="Text 14"/>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Alexa+ today: About Amazon, “What can Alexa+ do? Top features to try out”. AfterWard runs in a simulated Alexa+ client.</a:t>
            </a:r>
            <a:endParaRPr lang="en-US" sz="1200" dirty="0"/>
          </a:p>
        </p:txBody>
      </p:sp>
      <p:sp>
        <p:nvSpPr>
          <p:cNvPr id="17" name="Shape 15"/>
          <p:cNvSpPr/>
          <p:nvPr/>
        </p:nvSpPr>
        <p:spPr>
          <a:xfrm>
            <a:off x="0" y="0"/>
            <a:ext cx="12192000" cy="508000"/>
          </a:xfrm>
          <a:prstGeom prst="rect">
            <a:avLst/>
          </a:prstGeom>
          <a:solidFill>
            <a:srgbClr val="A51F4C"/>
          </a:solidFill>
          <a:ln/>
        </p:spPr>
      </p:sp>
      <p:pic>
        <p:nvPicPr>
          <p:cNvPr id="18"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19" name="Text 16"/>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20" name="Text 17"/>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21" name="Shape 18"/>
          <p:cNvSpPr/>
          <p:nvPr/>
        </p:nvSpPr>
        <p:spPr>
          <a:xfrm>
            <a:off x="0" y="6502400"/>
            <a:ext cx="12192000" cy="355600"/>
          </a:xfrm>
          <a:prstGeom prst="rect">
            <a:avLst/>
          </a:prstGeom>
          <a:solidFill>
            <a:srgbClr val="A51F4C"/>
          </a:solidFill>
          <a:ln/>
        </p:spPr>
      </p:sp>
      <p:sp>
        <p:nvSpPr>
          <p:cNvPr id="22" name="Text 19"/>
          <p:cNvSpPr/>
          <p:nvPr/>
        </p:nvSpPr>
        <p:spPr>
          <a:xfrm>
            <a:off x="254000" y="6583682"/>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23" name="Text 20"/>
          <p:cNvSpPr/>
          <p:nvPr/>
        </p:nvSpPr>
        <p:spPr>
          <a:xfrm>
            <a:off x="7359650" y="6583682"/>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24" name="Rectangle 23"/>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mage.png"/>
          <p:cNvPicPr>
            <a:picLocks noChangeAspect="1"/>
          </p:cNvPicPr>
          <p:nvPr/>
        </p:nvPicPr>
        <p:blipFill>
          <a:blip r:embed="rId4"/>
          <a:stretch>
            <a:fillRect/>
          </a:stretch>
        </p:blipFill>
        <p:spPr>
          <a:xfrm>
            <a:off x="228600" y="102412"/>
            <a:ext cx="292608" cy="292608"/>
          </a:xfrm>
          <a:prstGeom prst="rect">
            <a:avLst/>
          </a:prstGeom>
        </p:spPr>
      </p:pic>
      <p:sp>
        <p:nvSpPr>
          <p:cNvPr id="26" name="TextBox 25"/>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27" name="TextBox 26"/>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28" name="Rectangle 27"/>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30" name="TextBox 29"/>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PRODUCT</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Current state and target state</a:t>
            </a:r>
            <a:endParaRPr lang="en-US" sz="3200" dirty="0"/>
          </a:p>
        </p:txBody>
      </p:sp>
      <p:sp>
        <p:nvSpPr>
          <p:cNvPr id="4" name="Text 2"/>
          <p:cNvSpPr/>
          <p:nvPr/>
        </p:nvSpPr>
        <p:spPr>
          <a:xfrm>
            <a:off x="812800" y="1803400"/>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D5863"/>
                </a:solidFill>
                <a:latin typeface="IBM Plex Sans" pitchFamily="34" charset="0"/>
                <a:ea typeface="IBM Plex Sans" pitchFamily="34" charset="-122"/>
                <a:cs typeface="IBM Plex Sans" pitchFamily="34" charset="-120"/>
              </a:rPr>
              <a:t>PERSONA</a:t>
            </a:r>
            <a:endParaRPr lang="en-US" sz="1200" dirty="0"/>
          </a:p>
        </p:txBody>
      </p:sp>
      <p:sp>
        <p:nvSpPr>
          <p:cNvPr id="5" name="Text 3"/>
          <p:cNvSpPr/>
          <p:nvPr/>
        </p:nvSpPr>
        <p:spPr>
          <a:xfrm>
            <a:off x="3073400" y="1803400"/>
            <a:ext cx="422516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D5863"/>
                </a:solidFill>
                <a:latin typeface="IBM Plex Sans" pitchFamily="34" charset="0"/>
                <a:ea typeface="IBM Plex Sans" pitchFamily="34" charset="-122"/>
                <a:cs typeface="IBM Plex Sans" pitchFamily="34" charset="-120"/>
              </a:rPr>
              <a:t>TODAY</a:t>
            </a:r>
            <a:endParaRPr lang="en-US" sz="1200" dirty="0"/>
          </a:p>
        </p:txBody>
      </p:sp>
      <p:sp>
        <p:nvSpPr>
          <p:cNvPr id="6" name="Text 4"/>
          <p:cNvSpPr/>
          <p:nvPr/>
        </p:nvSpPr>
        <p:spPr>
          <a:xfrm>
            <a:off x="7277100" y="1803400"/>
            <a:ext cx="422516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D5863"/>
                </a:solidFill>
                <a:latin typeface="IBM Plex Sans" pitchFamily="34" charset="0"/>
                <a:ea typeface="IBM Plex Sans" pitchFamily="34" charset="-122"/>
                <a:cs typeface="IBM Plex Sans" pitchFamily="34" charset="-120"/>
              </a:rPr>
              <a:t>WITH AFTERWARD</a:t>
            </a:r>
            <a:endParaRPr lang="en-US" sz="1200" dirty="0"/>
          </a:p>
        </p:txBody>
      </p:sp>
      <p:sp>
        <p:nvSpPr>
          <p:cNvPr id="7" name="Text 5"/>
          <p:cNvSpPr/>
          <p:nvPr/>
        </p:nvSpPr>
        <p:spPr>
          <a:xfrm>
            <a:off x="812800" y="2245361"/>
            <a:ext cx="222377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Patient at home</a:t>
            </a:r>
            <a:endParaRPr lang="en-US" sz="1500" dirty="0"/>
          </a:p>
        </p:txBody>
      </p:sp>
      <p:sp>
        <p:nvSpPr>
          <p:cNvPr id="8" name="Text 6"/>
          <p:cNvSpPr/>
          <p:nvPr/>
        </p:nvSpPr>
        <p:spPr>
          <a:xfrm>
            <a:off x="812800" y="2543811"/>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264F"/>
                </a:solidFill>
                <a:latin typeface="IBM Plex Sans" pitchFamily="34" charset="0"/>
                <a:ea typeface="IBM Plex Sans" pitchFamily="34" charset="-122"/>
                <a:cs typeface="IBM Plex Sans" pitchFamily="34" charset="-120"/>
              </a:rPr>
              <a:t>In the hackathon build</a:t>
            </a:r>
            <a:endParaRPr lang="en-US" sz="1200" dirty="0"/>
          </a:p>
        </p:txBody>
      </p:sp>
      <p:sp>
        <p:nvSpPr>
          <p:cNvPr id="9" name="Text 7"/>
          <p:cNvSpPr/>
          <p:nvPr/>
        </p:nvSpPr>
        <p:spPr>
          <a:xfrm>
            <a:off x="3073400" y="2118361"/>
            <a:ext cx="4102100" cy="904240"/>
          </a:xfrm>
          <a:prstGeom prst="roundRect">
            <a:avLst>
              <a:gd name="adj" fmla="val 8427"/>
            </a:avLst>
          </a:prstGeom>
          <a:solidFill>
            <a:srgbClr val="F1EBE0"/>
          </a:solidFill>
          <a:ln/>
        </p:spPr>
        <p:txBody>
          <a:bodyPr wrap="square" lIns="130082" tIns="104682" rIns="16163" bIns="79282"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few sheets of paper. She works out what is due today, remembers what she has done and tracks her follow-ups, hands on a walking frame.</a:t>
            </a:r>
            <a:endParaRPr lang="en-US" sz="1200" dirty="0"/>
          </a:p>
        </p:txBody>
      </p:sp>
      <p:sp>
        <p:nvSpPr>
          <p:cNvPr id="10" name="Text 8"/>
          <p:cNvSpPr/>
          <p:nvPr/>
        </p:nvSpPr>
        <p:spPr>
          <a:xfrm>
            <a:off x="7280275" y="2121536"/>
            <a:ext cx="4095750" cy="897890"/>
          </a:xfrm>
          <a:prstGeom prst="roundRect">
            <a:avLst>
              <a:gd name="adj" fmla="val 8133"/>
            </a:avLst>
          </a:prstGeom>
          <a:solidFill>
            <a:srgbClr val="FFFDF8"/>
          </a:solidFill>
          <a:ln w="6350">
            <a:solidFill>
              <a:srgbClr val="E4DCCF"/>
            </a:solidFill>
            <a:prstDash val="solid"/>
          </a:ln>
        </p:spPr>
        <p:txBody>
          <a:bodyPr wrap="square" lIns="132917" tIns="107517" rIns="19303" bIns="82117"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daily plan from her own letter. A spoken reminder 30 minutes before each item. She says what she did and asks what the letter said.</a:t>
            </a:r>
            <a:endParaRPr lang="en-US" sz="1200" dirty="0"/>
          </a:p>
        </p:txBody>
      </p:sp>
      <p:sp>
        <p:nvSpPr>
          <p:cNvPr id="11" name="Text 9"/>
          <p:cNvSpPr/>
          <p:nvPr/>
        </p:nvSpPr>
        <p:spPr>
          <a:xfrm>
            <a:off x="812800" y="3251200"/>
            <a:ext cx="222377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Family carer</a:t>
            </a:r>
            <a:endParaRPr lang="en-US" sz="1500" dirty="0"/>
          </a:p>
        </p:txBody>
      </p:sp>
      <p:sp>
        <p:nvSpPr>
          <p:cNvPr id="12" name="Text 10"/>
          <p:cNvSpPr/>
          <p:nvPr/>
        </p:nvSpPr>
        <p:spPr>
          <a:xfrm>
            <a:off x="812800" y="3549650"/>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D5863"/>
                </a:solidFill>
                <a:latin typeface="IBM Plex Sans" pitchFamily="34" charset="0"/>
                <a:ea typeface="IBM Plex Sans" pitchFamily="34" charset="-122"/>
                <a:cs typeface="IBM Plex Sans" pitchFamily="34" charset="-120"/>
              </a:rPr>
              <a:t>Roadmap, not built</a:t>
            </a:r>
            <a:endParaRPr lang="en-US" sz="1200" dirty="0"/>
          </a:p>
        </p:txBody>
      </p:sp>
      <p:sp>
        <p:nvSpPr>
          <p:cNvPr id="13" name="Text 11"/>
          <p:cNvSpPr/>
          <p:nvPr/>
        </p:nvSpPr>
        <p:spPr>
          <a:xfrm>
            <a:off x="3073400" y="3124200"/>
            <a:ext cx="4102100" cy="894080"/>
          </a:xfrm>
          <a:prstGeom prst="roundRect">
            <a:avLst>
              <a:gd name="adj" fmla="val 8523"/>
            </a:avLst>
          </a:prstGeom>
          <a:solidFill>
            <a:srgbClr val="F1EBE0"/>
          </a:solidFill>
          <a:ln/>
        </p:spPr>
        <p:txBody>
          <a:bodyPr wrap="square" lIns="130082" tIns="104682" rIns="16163" bIns="79282"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Phones to ask “did you take your tablets?” and depends on the patient's memory. May never have seen the letter.</a:t>
            </a:r>
            <a:endParaRPr lang="en-US" sz="1200" dirty="0"/>
          </a:p>
        </p:txBody>
      </p:sp>
      <p:sp>
        <p:nvSpPr>
          <p:cNvPr id="14" name="Text 12"/>
          <p:cNvSpPr/>
          <p:nvPr/>
        </p:nvSpPr>
        <p:spPr>
          <a:xfrm>
            <a:off x="7280275" y="3127375"/>
            <a:ext cx="4095750" cy="887730"/>
          </a:xfrm>
          <a:prstGeom prst="roundRect">
            <a:avLst>
              <a:gd name="adj" fmla="val 8226"/>
            </a:avLst>
          </a:prstGeom>
          <a:solidFill>
            <a:srgbClr val="FFFDF8"/>
          </a:solidFill>
          <a:ln w="6350">
            <a:solidFill>
              <a:srgbClr val="8A7F70"/>
            </a:solidFill>
            <a:prstDash val="dash"/>
          </a:ln>
        </p:spPr>
        <p:txBody>
          <a:bodyPr wrap="square" lIns="132917" tIns="107517" rIns="19303" bIns="82117"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With the patient's permission, sees what was done today and what is still open, without having to ask.</a:t>
            </a:r>
            <a:endParaRPr lang="en-US" sz="1200" dirty="0"/>
          </a:p>
        </p:txBody>
      </p:sp>
      <p:sp>
        <p:nvSpPr>
          <p:cNvPr id="15" name="Text 13"/>
          <p:cNvSpPr/>
          <p:nvPr/>
        </p:nvSpPr>
        <p:spPr>
          <a:xfrm>
            <a:off x="812800" y="4246882"/>
            <a:ext cx="2223770"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Care team</a:t>
            </a:r>
            <a:endParaRPr lang="en-US" sz="1500" dirty="0"/>
          </a:p>
        </p:txBody>
      </p:sp>
      <p:sp>
        <p:nvSpPr>
          <p:cNvPr id="16" name="Text 14"/>
          <p:cNvSpPr/>
          <p:nvPr/>
        </p:nvSpPr>
        <p:spPr>
          <a:xfrm>
            <a:off x="812800" y="4545332"/>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D5863"/>
                </a:solidFill>
                <a:latin typeface="IBM Plex Sans" pitchFamily="34" charset="0"/>
                <a:ea typeface="IBM Plex Sans" pitchFamily="34" charset="-122"/>
                <a:cs typeface="IBM Plex Sans" pitchFamily="34" charset="-120"/>
              </a:rPr>
              <a:t>Roadmap, not built</a:t>
            </a:r>
            <a:endParaRPr lang="en-US" sz="1200" dirty="0"/>
          </a:p>
        </p:txBody>
      </p:sp>
      <p:sp>
        <p:nvSpPr>
          <p:cNvPr id="17" name="Text 15"/>
          <p:cNvSpPr/>
          <p:nvPr/>
        </p:nvSpPr>
        <p:spPr>
          <a:xfrm>
            <a:off x="3073400" y="4119882"/>
            <a:ext cx="4102100" cy="904240"/>
          </a:xfrm>
          <a:prstGeom prst="roundRect">
            <a:avLst>
              <a:gd name="adj" fmla="val 8427"/>
            </a:avLst>
          </a:prstGeom>
          <a:solidFill>
            <a:srgbClr val="F1EBE0"/>
          </a:solidFill>
          <a:ln/>
        </p:spPr>
        <p:txBody>
          <a:bodyPr wrap="square" lIns="130082" tIns="104682" rIns="16163" bIns="79282"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Writes the letter, then has no view of what happens at home. An unclear line surfaces only if the patient calls.</a:t>
            </a:r>
            <a:endParaRPr lang="en-US" sz="1200" dirty="0"/>
          </a:p>
        </p:txBody>
      </p:sp>
      <p:sp>
        <p:nvSpPr>
          <p:cNvPr id="18" name="Text 16"/>
          <p:cNvSpPr/>
          <p:nvPr/>
        </p:nvSpPr>
        <p:spPr>
          <a:xfrm>
            <a:off x="7280275" y="4123057"/>
            <a:ext cx="4095750" cy="897890"/>
          </a:xfrm>
          <a:prstGeom prst="roundRect">
            <a:avLst>
              <a:gd name="adj" fmla="val 8133"/>
            </a:avLst>
          </a:prstGeom>
          <a:solidFill>
            <a:srgbClr val="FFFDF8"/>
          </a:solidFill>
          <a:ln w="6350">
            <a:solidFill>
              <a:srgbClr val="8A7F70"/>
            </a:solidFill>
            <a:prstDash val="dash"/>
          </a:ln>
        </p:spPr>
        <p:txBody>
          <a:bodyPr wrap="square" lIns="132917" tIns="107517" rIns="19303" bIns="82117"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Unclear lines are flagged on day one for the team to confirm. The letter arrives digitally through a hospital link (FHIR).</a:t>
            </a:r>
            <a:endParaRPr lang="en-US" sz="1200" dirty="0"/>
          </a:p>
        </p:txBody>
      </p:sp>
      <p:sp>
        <p:nvSpPr>
          <p:cNvPr id="19" name="Text 17"/>
          <p:cNvSpPr/>
          <p:nvPr/>
        </p:nvSpPr>
        <p:spPr>
          <a:xfrm>
            <a:off x="812800" y="5278121"/>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Only the patient row is built. For the carer and the care team, “Today” is an assumption we are testing in interviews with a nurse, a carer and a recently discharged patient.</a:t>
            </a:r>
            <a:endParaRPr lang="en-US" sz="1200" dirty="0"/>
          </a:p>
        </p:txBody>
      </p:sp>
      <p:sp>
        <p:nvSpPr>
          <p:cNvPr id="20" name="Shape 18"/>
          <p:cNvSpPr/>
          <p:nvPr/>
        </p:nvSpPr>
        <p:spPr>
          <a:xfrm>
            <a:off x="0" y="0"/>
            <a:ext cx="12192000" cy="508000"/>
          </a:xfrm>
          <a:prstGeom prst="rect">
            <a:avLst/>
          </a:prstGeom>
          <a:solidFill>
            <a:srgbClr val="A51F4C"/>
          </a:solidFill>
          <a:ln/>
        </p:spPr>
      </p:sp>
      <p:pic>
        <p:nvPicPr>
          <p:cNvPr id="21"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22" name="Text 19"/>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23" name="Text 20"/>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24" name="Shape 21"/>
          <p:cNvSpPr/>
          <p:nvPr/>
        </p:nvSpPr>
        <p:spPr>
          <a:xfrm>
            <a:off x="0" y="6502400"/>
            <a:ext cx="12192000" cy="355600"/>
          </a:xfrm>
          <a:prstGeom prst="rect">
            <a:avLst/>
          </a:prstGeom>
          <a:solidFill>
            <a:srgbClr val="A51F4C"/>
          </a:solidFill>
          <a:ln/>
        </p:spPr>
      </p:sp>
      <p:sp>
        <p:nvSpPr>
          <p:cNvPr id="25" name="Text 22"/>
          <p:cNvSpPr/>
          <p:nvPr/>
        </p:nvSpPr>
        <p:spPr>
          <a:xfrm>
            <a:off x="254000" y="6583682"/>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26" name="Text 23"/>
          <p:cNvSpPr/>
          <p:nvPr/>
        </p:nvSpPr>
        <p:spPr>
          <a:xfrm>
            <a:off x="7359650" y="6583682"/>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27" name="Rectangle 26"/>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4"/>
          <a:stretch>
            <a:fillRect/>
          </a:stretch>
        </p:blipFill>
        <p:spPr>
          <a:xfrm>
            <a:off x="228600" y="102412"/>
            <a:ext cx="292608" cy="292608"/>
          </a:xfrm>
          <a:prstGeom prst="rect">
            <a:avLst/>
          </a:prstGeom>
        </p:spPr>
      </p:pic>
      <p:sp>
        <p:nvSpPr>
          <p:cNvPr id="29" name="TextBox 28"/>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30" name="TextBox 29"/>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31" name="Rectangle 30"/>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33" name="TextBox 32"/>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PRODUCT</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The solution</a:t>
            </a:r>
            <a:endParaRPr lang="en-US" sz="3200" dirty="0"/>
          </a:p>
        </p:txBody>
      </p:sp>
      <p:sp>
        <p:nvSpPr>
          <p:cNvPr id="4" name="Shape 2"/>
          <p:cNvSpPr/>
          <p:nvPr/>
        </p:nvSpPr>
        <p:spPr>
          <a:xfrm>
            <a:off x="815975" y="1806575"/>
            <a:ext cx="3380264" cy="2312670"/>
          </a:xfrm>
          <a:prstGeom prst="roundRect">
            <a:avLst>
              <a:gd name="adj" fmla="val 4256"/>
            </a:avLst>
          </a:prstGeom>
          <a:solidFill>
            <a:srgbClr val="FFFDF8"/>
          </a:solidFill>
          <a:ln w="6350">
            <a:solidFill>
              <a:srgbClr val="E4DCCF"/>
            </a:solidFill>
            <a:prstDash val="solid"/>
          </a:ln>
        </p:spPr>
      </p:sp>
      <p:sp>
        <p:nvSpPr>
          <p:cNvPr id="5" name="Text 3"/>
          <p:cNvSpPr/>
          <p:nvPr/>
        </p:nvSpPr>
        <p:spPr>
          <a:xfrm>
            <a:off x="1071880" y="2062482"/>
            <a:ext cx="29545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64F"/>
                </a:solidFill>
                <a:latin typeface="IBM Plex Sans" pitchFamily="34" charset="0"/>
                <a:ea typeface="IBM Plex Sans" pitchFamily="34" charset="-122"/>
                <a:cs typeface="IBM Plex Sans" pitchFamily="34" charset="-120"/>
              </a:rPr>
              <a:t>STEP 1</a:t>
            </a:r>
            <a:endParaRPr lang="en-US" sz="1200" dirty="0"/>
          </a:p>
        </p:txBody>
      </p:sp>
      <p:sp>
        <p:nvSpPr>
          <p:cNvPr id="6" name="Text 4"/>
          <p:cNvSpPr/>
          <p:nvPr/>
        </p:nvSpPr>
        <p:spPr>
          <a:xfrm>
            <a:off x="1071880" y="2364739"/>
            <a:ext cx="31211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A letter becomes a plan</a:t>
            </a:r>
            <a:endParaRPr lang="en-US" sz="2000" dirty="0"/>
          </a:p>
        </p:txBody>
      </p:sp>
      <p:sp>
        <p:nvSpPr>
          <p:cNvPr id="7" name="Text 5"/>
          <p:cNvSpPr/>
          <p:nvPr/>
        </p:nvSpPr>
        <p:spPr>
          <a:xfrm>
            <a:off x="1071880" y="2758439"/>
            <a:ext cx="2954507"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Upload the discharge letter once. Claude on Amazon Bedrock reads it, and fixed rules check every line.</a:t>
            </a:r>
            <a:endParaRPr lang="en-US" sz="1500" dirty="0"/>
          </a:p>
        </p:txBody>
      </p:sp>
      <p:sp>
        <p:nvSpPr>
          <p:cNvPr id="8" name="Shape 6"/>
          <p:cNvSpPr/>
          <p:nvPr/>
        </p:nvSpPr>
        <p:spPr>
          <a:xfrm>
            <a:off x="4405789" y="1806575"/>
            <a:ext cx="3380343" cy="2312670"/>
          </a:xfrm>
          <a:prstGeom prst="roundRect">
            <a:avLst>
              <a:gd name="adj" fmla="val 4256"/>
            </a:avLst>
          </a:prstGeom>
          <a:solidFill>
            <a:srgbClr val="FFFDF8"/>
          </a:solidFill>
          <a:ln w="6350">
            <a:solidFill>
              <a:srgbClr val="E4DCCF"/>
            </a:solidFill>
            <a:prstDash val="solid"/>
          </a:ln>
        </p:spPr>
      </p:sp>
      <p:sp>
        <p:nvSpPr>
          <p:cNvPr id="9" name="Text 7"/>
          <p:cNvSpPr/>
          <p:nvPr/>
        </p:nvSpPr>
        <p:spPr>
          <a:xfrm>
            <a:off x="4661694" y="2062482"/>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64F"/>
                </a:solidFill>
                <a:latin typeface="IBM Plex Sans" pitchFamily="34" charset="0"/>
                <a:ea typeface="IBM Plex Sans" pitchFamily="34" charset="-122"/>
                <a:cs typeface="IBM Plex Sans" pitchFamily="34" charset="-120"/>
              </a:rPr>
              <a:t>STEP 2</a:t>
            </a:r>
            <a:endParaRPr lang="en-US" sz="1200" dirty="0"/>
          </a:p>
        </p:txBody>
      </p:sp>
      <p:sp>
        <p:nvSpPr>
          <p:cNvPr id="10" name="Text 8"/>
          <p:cNvSpPr/>
          <p:nvPr/>
        </p:nvSpPr>
        <p:spPr>
          <a:xfrm>
            <a:off x="4661694" y="2364739"/>
            <a:ext cx="2954589"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You talk, the plan updates</a:t>
            </a:r>
            <a:endParaRPr lang="en-US" sz="2000" dirty="0"/>
          </a:p>
        </p:txBody>
      </p:sp>
      <p:sp>
        <p:nvSpPr>
          <p:cNvPr id="11" name="Text 9"/>
          <p:cNvSpPr/>
          <p:nvPr/>
        </p:nvSpPr>
        <p:spPr>
          <a:xfrm>
            <a:off x="4661694" y="3063239"/>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Say what you did or ask what is left. An MCP tool reads or updates the plan and saves it.</a:t>
            </a:r>
            <a:endParaRPr lang="en-US" sz="1500" dirty="0"/>
          </a:p>
        </p:txBody>
      </p:sp>
      <p:sp>
        <p:nvSpPr>
          <p:cNvPr id="12" name="Shape 10"/>
          <p:cNvSpPr/>
          <p:nvPr/>
        </p:nvSpPr>
        <p:spPr>
          <a:xfrm>
            <a:off x="7995682" y="1806575"/>
            <a:ext cx="3380343" cy="2312670"/>
          </a:xfrm>
          <a:prstGeom prst="roundRect">
            <a:avLst>
              <a:gd name="adj" fmla="val 4256"/>
            </a:avLst>
          </a:prstGeom>
          <a:solidFill>
            <a:srgbClr val="FFFDF8"/>
          </a:solidFill>
          <a:ln w="6350">
            <a:solidFill>
              <a:srgbClr val="E4DCCF"/>
            </a:solidFill>
            <a:prstDash val="solid"/>
          </a:ln>
        </p:spPr>
      </p:sp>
      <p:sp>
        <p:nvSpPr>
          <p:cNvPr id="13" name="Text 11"/>
          <p:cNvSpPr/>
          <p:nvPr/>
        </p:nvSpPr>
        <p:spPr>
          <a:xfrm>
            <a:off x="8251587" y="2062482"/>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64F"/>
                </a:solidFill>
                <a:latin typeface="IBM Plex Sans" pitchFamily="34" charset="0"/>
                <a:ea typeface="IBM Plex Sans" pitchFamily="34" charset="-122"/>
                <a:cs typeface="IBM Plex Sans" pitchFamily="34" charset="-120"/>
              </a:rPr>
              <a:t>STEP 3</a:t>
            </a:r>
            <a:endParaRPr lang="en-US" sz="1200" dirty="0"/>
          </a:p>
        </p:txBody>
      </p:sp>
      <p:sp>
        <p:nvSpPr>
          <p:cNvPr id="14" name="Text 12"/>
          <p:cNvSpPr/>
          <p:nvPr/>
        </p:nvSpPr>
        <p:spPr>
          <a:xfrm>
            <a:off x="8251587" y="2364739"/>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AfterWard speaks first</a:t>
            </a:r>
            <a:endParaRPr lang="en-US" sz="2000" dirty="0"/>
          </a:p>
        </p:txBody>
      </p:sp>
      <p:sp>
        <p:nvSpPr>
          <p:cNvPr id="15" name="Text 13"/>
          <p:cNvSpPr/>
          <p:nvPr/>
        </p:nvSpPr>
        <p:spPr>
          <a:xfrm>
            <a:off x="8251587" y="2758439"/>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A schedule checks every 5 minutes and starts a reminder 30 minutes before an open item.</a:t>
            </a:r>
            <a:endParaRPr lang="en-US" sz="1500" dirty="0"/>
          </a:p>
        </p:txBody>
      </p:sp>
      <p:sp>
        <p:nvSpPr>
          <p:cNvPr id="16" name="Text 14"/>
          <p:cNvSpPr/>
          <p:nvPr/>
        </p:nvSpPr>
        <p:spPr>
          <a:xfrm>
            <a:off x="812800" y="437642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Nine tools on a self-hosted MCP server, spec 2025-11-25, over Streamable HTTP. Sand: read. Pink: write.</a:t>
            </a:r>
            <a:endParaRPr lang="en-US" sz="1200" dirty="0"/>
          </a:p>
        </p:txBody>
      </p:sp>
      <p:sp>
        <p:nvSpPr>
          <p:cNvPr id="17" name="Text 15"/>
          <p:cNvSpPr/>
          <p:nvPr/>
        </p:nvSpPr>
        <p:spPr>
          <a:xfrm>
            <a:off x="812800" y="4691379"/>
            <a:ext cx="1625600" cy="340360"/>
          </a:xfrm>
          <a:prstGeom prst="roundRect">
            <a:avLst>
              <a:gd name="adj" fmla="val 14925"/>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get_today_tasks</a:t>
            </a:r>
            <a:endParaRPr lang="en-US" sz="1200" dirty="0"/>
          </a:p>
        </p:txBody>
      </p:sp>
      <p:sp>
        <p:nvSpPr>
          <p:cNvPr id="18" name="Text 16"/>
          <p:cNvSpPr/>
          <p:nvPr/>
        </p:nvSpPr>
        <p:spPr>
          <a:xfrm>
            <a:off x="2540000" y="4691379"/>
            <a:ext cx="1625600" cy="340360"/>
          </a:xfrm>
          <a:prstGeom prst="roundRect">
            <a:avLst>
              <a:gd name="adj" fmla="val 14925"/>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get_medications</a:t>
            </a:r>
            <a:endParaRPr lang="en-US" sz="1200" dirty="0"/>
          </a:p>
        </p:txBody>
      </p:sp>
      <p:sp>
        <p:nvSpPr>
          <p:cNvPr id="19" name="Text 17"/>
          <p:cNvSpPr/>
          <p:nvPr/>
        </p:nvSpPr>
        <p:spPr>
          <a:xfrm>
            <a:off x="4267200" y="4691379"/>
            <a:ext cx="1808480" cy="340360"/>
          </a:xfrm>
          <a:prstGeom prst="roundRect">
            <a:avLst>
              <a:gd name="adj" fmla="val 14925"/>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get_recovery_plan</a:t>
            </a:r>
            <a:endParaRPr lang="en-US" sz="1200" dirty="0"/>
          </a:p>
        </p:txBody>
      </p:sp>
      <p:sp>
        <p:nvSpPr>
          <p:cNvPr id="20" name="Text 18"/>
          <p:cNvSpPr/>
          <p:nvPr/>
        </p:nvSpPr>
        <p:spPr>
          <a:xfrm>
            <a:off x="6177280" y="4691379"/>
            <a:ext cx="1717040" cy="340360"/>
          </a:xfrm>
          <a:prstGeom prst="roundRect">
            <a:avLst>
              <a:gd name="adj" fmla="val 14925"/>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get_week_summary</a:t>
            </a:r>
            <a:endParaRPr lang="en-US" sz="1200" dirty="0"/>
          </a:p>
        </p:txBody>
      </p:sp>
      <p:sp>
        <p:nvSpPr>
          <p:cNvPr id="21" name="Text 19"/>
          <p:cNvSpPr/>
          <p:nvPr/>
        </p:nvSpPr>
        <p:spPr>
          <a:xfrm>
            <a:off x="7995920" y="4691379"/>
            <a:ext cx="2448560" cy="340360"/>
          </a:xfrm>
          <a:prstGeom prst="roundRect">
            <a:avLst>
              <a:gd name="adj" fmla="val 14925"/>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get_recovery_day_details</a:t>
            </a:r>
            <a:endParaRPr lang="en-US" sz="1200" dirty="0"/>
          </a:p>
        </p:txBody>
      </p:sp>
      <p:sp>
        <p:nvSpPr>
          <p:cNvPr id="22" name="Text 20"/>
          <p:cNvSpPr/>
          <p:nvPr/>
        </p:nvSpPr>
        <p:spPr>
          <a:xfrm>
            <a:off x="812800" y="5133342"/>
            <a:ext cx="2905760" cy="340360"/>
          </a:xfrm>
          <a:prstGeom prst="roundRect">
            <a:avLst>
              <a:gd name="adj" fmla="val 14925"/>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search_discharge_instructions</a:t>
            </a:r>
            <a:endParaRPr lang="en-US" sz="1200" dirty="0"/>
          </a:p>
        </p:txBody>
      </p:sp>
      <p:sp>
        <p:nvSpPr>
          <p:cNvPr id="23" name="Text 21"/>
          <p:cNvSpPr/>
          <p:nvPr/>
        </p:nvSpPr>
        <p:spPr>
          <a:xfrm>
            <a:off x="3820160" y="5133342"/>
            <a:ext cx="2174240" cy="340360"/>
          </a:xfrm>
          <a:prstGeom prst="roundRect">
            <a:avLst>
              <a:gd name="adj" fmla="val 14925"/>
            </a:avLst>
          </a:prstGeom>
          <a:solidFill>
            <a:srgbClr val="FBE4EA"/>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report_task_completed</a:t>
            </a:r>
            <a:endParaRPr lang="en-US" sz="1200" dirty="0"/>
          </a:p>
        </p:txBody>
      </p:sp>
      <p:sp>
        <p:nvSpPr>
          <p:cNvPr id="24" name="Text 22"/>
          <p:cNvSpPr/>
          <p:nvPr/>
        </p:nvSpPr>
        <p:spPr>
          <a:xfrm>
            <a:off x="6096000" y="5133342"/>
            <a:ext cx="2357120" cy="340360"/>
          </a:xfrm>
          <a:prstGeom prst="roundRect">
            <a:avLst>
              <a:gd name="adj" fmla="val 14925"/>
            </a:avLst>
          </a:prstGeom>
          <a:solidFill>
            <a:srgbClr val="FBE4EA"/>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report_medication_taken</a:t>
            </a:r>
            <a:endParaRPr lang="en-US" sz="1200" dirty="0"/>
          </a:p>
        </p:txBody>
      </p:sp>
      <p:sp>
        <p:nvSpPr>
          <p:cNvPr id="25" name="Text 23"/>
          <p:cNvSpPr/>
          <p:nvPr/>
        </p:nvSpPr>
        <p:spPr>
          <a:xfrm>
            <a:off x="8554720" y="5133342"/>
            <a:ext cx="1259840" cy="340360"/>
          </a:xfrm>
          <a:prstGeom prst="roundRect">
            <a:avLst>
              <a:gd name="adj" fmla="val 14925"/>
            </a:avLst>
          </a:prstGeom>
          <a:solidFill>
            <a:srgbClr val="FBE4EA"/>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undo_report</a:t>
            </a:r>
            <a:endParaRPr lang="en-US" sz="1200" dirty="0"/>
          </a:p>
        </p:txBody>
      </p:sp>
      <p:sp>
        <p:nvSpPr>
          <p:cNvPr id="26" name="Shape 24"/>
          <p:cNvSpPr/>
          <p:nvPr/>
        </p:nvSpPr>
        <p:spPr>
          <a:xfrm>
            <a:off x="0" y="0"/>
            <a:ext cx="12192000" cy="508000"/>
          </a:xfrm>
          <a:prstGeom prst="rect">
            <a:avLst/>
          </a:prstGeom>
          <a:solidFill>
            <a:srgbClr val="A51F4C"/>
          </a:solidFill>
          <a:ln/>
        </p:spPr>
      </p:sp>
      <p:pic>
        <p:nvPicPr>
          <p:cNvPr id="27"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28" name="Text 25"/>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29" name="Text 26"/>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30" name="Shape 27"/>
          <p:cNvSpPr/>
          <p:nvPr/>
        </p:nvSpPr>
        <p:spPr>
          <a:xfrm>
            <a:off x="0" y="6502400"/>
            <a:ext cx="12192000" cy="355600"/>
          </a:xfrm>
          <a:prstGeom prst="rect">
            <a:avLst/>
          </a:prstGeom>
          <a:solidFill>
            <a:srgbClr val="A51F4C"/>
          </a:solidFill>
          <a:ln/>
        </p:spPr>
      </p:sp>
      <p:sp>
        <p:nvSpPr>
          <p:cNvPr id="31" name="Text 28"/>
          <p:cNvSpPr/>
          <p:nvPr/>
        </p:nvSpPr>
        <p:spPr>
          <a:xfrm>
            <a:off x="254000" y="6583679"/>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32" name="Text 29"/>
          <p:cNvSpPr/>
          <p:nvPr/>
        </p:nvSpPr>
        <p:spPr>
          <a:xfrm>
            <a:off x="7359650" y="6583679"/>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33" name="Rectangle 3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image.png"/>
          <p:cNvPicPr>
            <a:picLocks noChangeAspect="1"/>
          </p:cNvPicPr>
          <p:nvPr/>
        </p:nvPicPr>
        <p:blipFill>
          <a:blip r:embed="rId4"/>
          <a:stretch>
            <a:fillRect/>
          </a:stretch>
        </p:blipFill>
        <p:spPr>
          <a:xfrm>
            <a:off x="228600" y="102412"/>
            <a:ext cx="292608" cy="292608"/>
          </a:xfrm>
          <a:prstGeom prst="rect">
            <a:avLst/>
          </a:prstGeom>
        </p:spPr>
      </p:pic>
      <p:sp>
        <p:nvSpPr>
          <p:cNvPr id="35" name="TextBox 3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36" name="TextBox 3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37" name="Rectangle 3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39" name="TextBox 3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DEMO: WHAT MARGARET SAYS, WHAT RUNS, WHAT AFTERWARD SAYS</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One morning with Margaret</a:t>
            </a:r>
            <a:endParaRPr lang="en-US" sz="3200" dirty="0"/>
          </a:p>
        </p:txBody>
      </p:sp>
      <p:sp>
        <p:nvSpPr>
          <p:cNvPr id="4" name="Shape 2"/>
          <p:cNvSpPr/>
          <p:nvPr/>
        </p:nvSpPr>
        <p:spPr>
          <a:xfrm>
            <a:off x="812800" y="1730375"/>
            <a:ext cx="10566400" cy="0"/>
          </a:xfrm>
          <a:prstGeom prst="line">
            <a:avLst/>
          </a:prstGeom>
          <a:noFill/>
          <a:ln w="6350">
            <a:solidFill>
              <a:srgbClr val="D9CFBF"/>
            </a:solidFill>
            <a:prstDash val="solid"/>
          </a:ln>
        </p:spPr>
        <p:txBody>
          <a:bodyPr/>
          <a:p/>
        </p:txBody>
      </p:sp>
      <p:sp>
        <p:nvSpPr>
          <p:cNvPr id="5" name="Text 3"/>
          <p:cNvSpPr/>
          <p:nvPr/>
        </p:nvSpPr>
        <p:spPr>
          <a:xfrm>
            <a:off x="812800" y="1808479"/>
            <a:ext cx="366268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B3264F"/>
                </a:solidFill>
                <a:latin typeface="IBM Plex Sans" pitchFamily="34" charset="0"/>
                <a:ea typeface="IBM Plex Sans" pitchFamily="34" charset="-122"/>
                <a:cs typeface="IBM Plex Sans" pitchFamily="34" charset="-120"/>
              </a:rPr>
              <a:t>7:00 am. Nobody asked.</a:t>
            </a:r>
            <a:endParaRPr lang="en-US" sz="1200" dirty="0"/>
          </a:p>
        </p:txBody>
      </p:sp>
      <p:sp>
        <p:nvSpPr>
          <p:cNvPr id="6" name="Text 4"/>
          <p:cNvSpPr/>
          <p:nvPr/>
        </p:nvSpPr>
        <p:spPr>
          <a:xfrm>
            <a:off x="812800" y="2014221"/>
            <a:ext cx="366268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D5863"/>
                </a:solidFill>
                <a:latin typeface="IBM Plex Sans" pitchFamily="34" charset="0"/>
                <a:ea typeface="IBM Plex Sans" pitchFamily="34" charset="-122"/>
                <a:cs typeface="IBM Plex Sans" pitchFamily="34" charset="-120"/>
              </a:rPr>
              <a:t>EventBridge schedule</a:t>
            </a:r>
            <a:endParaRPr lang="en-US" sz="1200" dirty="0"/>
          </a:p>
        </p:txBody>
      </p:sp>
      <p:sp>
        <p:nvSpPr>
          <p:cNvPr id="7" name="Text 5"/>
          <p:cNvSpPr/>
          <p:nvPr/>
        </p:nvSpPr>
        <p:spPr>
          <a:xfrm>
            <a:off x="4521200" y="1808479"/>
            <a:ext cx="706374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22B"/>
                </a:solidFill>
                <a:latin typeface="IBM Plex Sans" pitchFamily="34" charset="0"/>
                <a:ea typeface="IBM Plex Sans" pitchFamily="34" charset="-122"/>
                <a:cs typeface="IBM Plex Sans" pitchFamily="34" charset="-120"/>
              </a:rPr>
              <a:t>“Good morning, Margaret. I hope you slept well. You have about thirty minutes until your morning walk, at half past seven.”</a:t>
            </a:r>
            <a:endParaRPr lang="en-US" sz="1200" dirty="0"/>
          </a:p>
        </p:txBody>
      </p:sp>
      <p:sp>
        <p:nvSpPr>
          <p:cNvPr id="8" name="Shape 6"/>
          <p:cNvSpPr/>
          <p:nvPr/>
        </p:nvSpPr>
        <p:spPr>
          <a:xfrm>
            <a:off x="812800" y="2299339"/>
            <a:ext cx="10566400" cy="0"/>
          </a:xfrm>
          <a:prstGeom prst="line">
            <a:avLst/>
          </a:prstGeom>
          <a:noFill/>
          <a:ln w="6350">
            <a:solidFill>
              <a:srgbClr val="D9CFBF"/>
            </a:solidFill>
            <a:prstDash val="solid"/>
          </a:ln>
        </p:spPr>
        <p:txBody>
          <a:bodyPr/>
          <a:p/>
        </p:txBody>
      </p:sp>
      <p:sp>
        <p:nvSpPr>
          <p:cNvPr id="9" name="Text 7"/>
          <p:cNvSpPr/>
          <p:nvPr/>
        </p:nvSpPr>
        <p:spPr>
          <a:xfrm>
            <a:off x="812800" y="2377442"/>
            <a:ext cx="366268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222B"/>
                </a:solidFill>
                <a:latin typeface="IBM Plex Sans" pitchFamily="34" charset="0"/>
                <a:ea typeface="IBM Plex Sans" pitchFamily="34" charset="-122"/>
                <a:cs typeface="IBM Plex Sans" pitchFamily="34" charset="-120"/>
              </a:rPr>
              <a:t>“Alexa, I'm back from my walk.”</a:t>
            </a:r>
            <a:endParaRPr lang="en-US" sz="1200" dirty="0"/>
          </a:p>
        </p:txBody>
      </p:sp>
      <p:sp>
        <p:nvSpPr>
          <p:cNvPr id="10" name="Text 8"/>
          <p:cNvSpPr/>
          <p:nvPr/>
        </p:nvSpPr>
        <p:spPr>
          <a:xfrm>
            <a:off x="812800" y="2583179"/>
            <a:ext cx="366268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D5863"/>
                </a:solidFill>
                <a:latin typeface="IBM Plex Mono" pitchFamily="49" charset="0"/>
                <a:ea typeface="IBM Plex Mono" pitchFamily="49" charset="-122"/>
                <a:cs typeface="IBM Plex Mono" pitchFamily="49" charset="-120"/>
              </a:rPr>
              <a:t>report_task_completed</a:t>
            </a:r>
            <a:endParaRPr lang="en-US" sz="1200" dirty="0"/>
          </a:p>
        </p:txBody>
      </p:sp>
      <p:sp>
        <p:nvSpPr>
          <p:cNvPr id="11" name="Text 9"/>
          <p:cNvSpPr/>
          <p:nvPr/>
        </p:nvSpPr>
        <p:spPr>
          <a:xfrm>
            <a:off x="4521200" y="2377442"/>
            <a:ext cx="706374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22B"/>
                </a:solidFill>
                <a:latin typeface="IBM Plex Sans" pitchFamily="34" charset="0"/>
                <a:ea typeface="IBM Plex Sans" pitchFamily="34" charset="-122"/>
                <a:cs typeface="IBM Plex Sans" pitchFamily="34" charset="-120"/>
              </a:rPr>
              <a:t>“Well done, Margaret, that's your morning walk done. Next is 2 tablets of your paracetamol and 1 tablet of your blood thinner, after breakfast.”</a:t>
            </a:r>
            <a:endParaRPr lang="en-US" sz="1200" dirty="0"/>
          </a:p>
        </p:txBody>
      </p:sp>
      <p:sp>
        <p:nvSpPr>
          <p:cNvPr id="12" name="Shape 10"/>
          <p:cNvSpPr/>
          <p:nvPr/>
        </p:nvSpPr>
        <p:spPr>
          <a:xfrm>
            <a:off x="812800" y="2868296"/>
            <a:ext cx="10566400" cy="0"/>
          </a:xfrm>
          <a:prstGeom prst="line">
            <a:avLst/>
          </a:prstGeom>
          <a:noFill/>
          <a:ln w="6350">
            <a:solidFill>
              <a:srgbClr val="D9CFBF"/>
            </a:solidFill>
            <a:prstDash val="solid"/>
          </a:ln>
        </p:spPr>
        <p:txBody>
          <a:bodyPr/>
          <a:p/>
        </p:txBody>
      </p:sp>
      <p:sp>
        <p:nvSpPr>
          <p:cNvPr id="13" name="Text 11"/>
          <p:cNvSpPr/>
          <p:nvPr/>
        </p:nvSpPr>
        <p:spPr>
          <a:xfrm>
            <a:off x="812800" y="2946400"/>
            <a:ext cx="3662680"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222B"/>
                </a:solidFill>
                <a:latin typeface="IBM Plex Sans" pitchFamily="34" charset="0"/>
                <a:ea typeface="IBM Plex Sans" pitchFamily="34" charset="-122"/>
                <a:cs typeface="IBM Plex Sans" pitchFamily="34" charset="-120"/>
              </a:rPr>
              <a:t>“I've had my breakfast, and I've taken my medicine.”</a:t>
            </a:r>
            <a:endParaRPr lang="en-US" sz="1200" dirty="0"/>
          </a:p>
        </p:txBody>
      </p:sp>
      <p:sp>
        <p:nvSpPr>
          <p:cNvPr id="14" name="Text 12"/>
          <p:cNvSpPr/>
          <p:nvPr/>
        </p:nvSpPr>
        <p:spPr>
          <a:xfrm>
            <a:off x="812800" y="3357879"/>
            <a:ext cx="366268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D5863"/>
                </a:solidFill>
                <a:latin typeface="IBM Plex Sans" pitchFamily="34" charset="0"/>
                <a:ea typeface="IBM Plex Sans" pitchFamily="34" charset="-122"/>
                <a:cs typeface="IBM Plex Sans" pitchFamily="34" charset="-120"/>
              </a:rPr>
              <a:t>Nothing saved yet: it asks first</a:t>
            </a:r>
            <a:endParaRPr lang="en-US" sz="1200" dirty="0"/>
          </a:p>
        </p:txBody>
      </p:sp>
      <p:sp>
        <p:nvSpPr>
          <p:cNvPr id="15" name="Text 13"/>
          <p:cNvSpPr/>
          <p:nvPr/>
        </p:nvSpPr>
        <p:spPr>
          <a:xfrm>
            <a:off x="4521200" y="2946400"/>
            <a:ext cx="7063740" cy="6426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22B"/>
                </a:solidFill>
                <a:latin typeface="IBM Plex Sans" pitchFamily="34" charset="0"/>
                <a:ea typeface="IBM Plex Sans" pitchFamily="34" charset="-122"/>
                <a:cs typeface="IBM Plex Sans" pitchFamily="34" charset="-120"/>
              </a:rPr>
              <a:t>“Your paracetamol, your blood thinner, or both?”</a:t>
            </a:r>
            <a:endParaRPr lang="en-US" sz="1200" dirty="0"/>
          </a:p>
        </p:txBody>
      </p:sp>
      <p:sp>
        <p:nvSpPr>
          <p:cNvPr id="16" name="Shape 14"/>
          <p:cNvSpPr/>
          <p:nvPr/>
        </p:nvSpPr>
        <p:spPr>
          <a:xfrm>
            <a:off x="812800" y="3642996"/>
            <a:ext cx="10566400" cy="0"/>
          </a:xfrm>
          <a:prstGeom prst="line">
            <a:avLst/>
          </a:prstGeom>
          <a:noFill/>
          <a:ln w="6350">
            <a:solidFill>
              <a:srgbClr val="D9CFBF"/>
            </a:solidFill>
            <a:prstDash val="solid"/>
          </a:ln>
        </p:spPr>
        <p:txBody>
          <a:bodyPr/>
          <a:p/>
        </p:txBody>
      </p:sp>
      <p:sp>
        <p:nvSpPr>
          <p:cNvPr id="17" name="Text 15"/>
          <p:cNvSpPr/>
          <p:nvPr/>
        </p:nvSpPr>
        <p:spPr>
          <a:xfrm>
            <a:off x="812800" y="3721100"/>
            <a:ext cx="366268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222B"/>
                </a:solidFill>
                <a:latin typeface="IBM Plex Sans" pitchFamily="34" charset="0"/>
                <a:ea typeface="IBM Plex Sans" pitchFamily="34" charset="-122"/>
                <a:cs typeface="IBM Plex Sans" pitchFamily="34" charset="-120"/>
              </a:rPr>
              <a:t>“I've taken both. How long do I take them for?”</a:t>
            </a:r>
            <a:endParaRPr lang="en-US" sz="1200" dirty="0"/>
          </a:p>
        </p:txBody>
      </p:sp>
      <p:sp>
        <p:nvSpPr>
          <p:cNvPr id="18" name="Text 16"/>
          <p:cNvSpPr/>
          <p:nvPr/>
        </p:nvSpPr>
        <p:spPr>
          <a:xfrm>
            <a:off x="812800" y="3926842"/>
            <a:ext cx="366268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D5863"/>
                </a:solidFill>
                <a:latin typeface="IBM Plex Mono" pitchFamily="49" charset="0"/>
                <a:ea typeface="IBM Plex Mono" pitchFamily="49" charset="-122"/>
                <a:cs typeface="IBM Plex Mono" pitchFamily="49" charset="-120"/>
              </a:rPr>
              <a:t>report_medication_taken, search</a:t>
            </a:r>
            <a:endParaRPr lang="en-US" sz="1200" dirty="0"/>
          </a:p>
        </p:txBody>
      </p:sp>
      <p:sp>
        <p:nvSpPr>
          <p:cNvPr id="19" name="Text 17"/>
          <p:cNvSpPr/>
          <p:nvPr/>
        </p:nvSpPr>
        <p:spPr>
          <a:xfrm>
            <a:off x="4521200" y="3721100"/>
            <a:ext cx="706374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22B"/>
                </a:solidFill>
                <a:latin typeface="IBM Plex Sans" pitchFamily="34" charset="0"/>
                <a:ea typeface="IBM Plex Sans" pitchFamily="34" charset="-122"/>
                <a:cs typeface="IBM Plex Sans" pitchFamily="34" charset="-120"/>
              </a:rPr>
              <a:t>[CHARVI: INSERT EXACT TESTED MEDICATION RESPONSE]</a:t>
            </a:r>
            <a:endParaRPr lang="en-US" sz="1200" dirty="0"/>
          </a:p>
        </p:txBody>
      </p:sp>
      <p:sp>
        <p:nvSpPr>
          <p:cNvPr id="20" name="Shape 18"/>
          <p:cNvSpPr/>
          <p:nvPr/>
        </p:nvSpPr>
        <p:spPr>
          <a:xfrm>
            <a:off x="812800" y="4211954"/>
            <a:ext cx="10566400" cy="0"/>
          </a:xfrm>
          <a:prstGeom prst="line">
            <a:avLst/>
          </a:prstGeom>
          <a:noFill/>
          <a:ln w="6350">
            <a:solidFill>
              <a:srgbClr val="D9CFBF"/>
            </a:solidFill>
            <a:prstDash val="solid"/>
          </a:ln>
        </p:spPr>
        <p:txBody>
          <a:bodyPr/>
          <a:p/>
        </p:txBody>
      </p:sp>
      <p:sp>
        <p:nvSpPr>
          <p:cNvPr id="21" name="Text 19"/>
          <p:cNvSpPr/>
          <p:nvPr/>
        </p:nvSpPr>
        <p:spPr>
          <a:xfrm>
            <a:off x="812800" y="4290064"/>
            <a:ext cx="366268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222B"/>
                </a:solidFill>
                <a:latin typeface="IBM Plex Sans" pitchFamily="34" charset="0"/>
                <a:ea typeface="IBM Plex Sans" pitchFamily="34" charset="-122"/>
                <a:cs typeface="IBM Plex Sans" pitchFamily="34" charset="-120"/>
              </a:rPr>
              <a:t>“Alexa, can I plan to go for a drive?”</a:t>
            </a:r>
            <a:endParaRPr lang="en-US" sz="1200" dirty="0"/>
          </a:p>
        </p:txBody>
      </p:sp>
      <p:sp>
        <p:nvSpPr>
          <p:cNvPr id="22" name="Text 20"/>
          <p:cNvSpPr/>
          <p:nvPr/>
        </p:nvSpPr>
        <p:spPr>
          <a:xfrm>
            <a:off x="812800" y="4495800"/>
            <a:ext cx="366268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D5863"/>
                </a:solidFill>
                <a:latin typeface="IBM Plex Mono" pitchFamily="49" charset="0"/>
                <a:ea typeface="IBM Plex Mono" pitchFamily="49" charset="-122"/>
                <a:cs typeface="IBM Plex Mono" pitchFamily="49" charset="-120"/>
              </a:rPr>
              <a:t>search_discharge_instructions</a:t>
            </a:r>
            <a:endParaRPr lang="en-US" sz="1200" dirty="0"/>
          </a:p>
        </p:txBody>
      </p:sp>
      <p:sp>
        <p:nvSpPr>
          <p:cNvPr id="23" name="Text 21"/>
          <p:cNvSpPr/>
          <p:nvPr/>
        </p:nvSpPr>
        <p:spPr>
          <a:xfrm>
            <a:off x="4521200" y="4290064"/>
            <a:ext cx="706374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22B"/>
                </a:solidFill>
                <a:latin typeface="IBM Plex Sans" pitchFamily="34" charset="0"/>
                <a:ea typeface="IBM Plex Sans" pitchFamily="34" charset="-122"/>
                <a:cs typeface="IBM Plex Sans" pitchFamily="34" charset="-120"/>
              </a:rPr>
              <a:t>“Your consultant review is on 23 November. Please follow the driving instructions in your letter and confirm with your care team.”</a:t>
            </a:r>
            <a:endParaRPr lang="en-US" sz="1200" dirty="0"/>
          </a:p>
        </p:txBody>
      </p:sp>
      <p:sp>
        <p:nvSpPr>
          <p:cNvPr id="24" name="Shape 22"/>
          <p:cNvSpPr/>
          <p:nvPr/>
        </p:nvSpPr>
        <p:spPr>
          <a:xfrm>
            <a:off x="812800" y="4780917"/>
            <a:ext cx="10566400" cy="0"/>
          </a:xfrm>
          <a:prstGeom prst="line">
            <a:avLst/>
          </a:prstGeom>
          <a:noFill/>
          <a:ln w="6350">
            <a:solidFill>
              <a:srgbClr val="D9CFBF"/>
            </a:solidFill>
            <a:prstDash val="solid"/>
          </a:ln>
        </p:spPr>
        <p:txBody>
          <a:bodyPr/>
          <a:p/>
        </p:txBody>
      </p:sp>
      <p:sp>
        <p:nvSpPr>
          <p:cNvPr id="25" name="Text 23"/>
          <p:cNvSpPr/>
          <p:nvPr/>
        </p:nvSpPr>
        <p:spPr>
          <a:xfrm>
            <a:off x="812800" y="4859021"/>
            <a:ext cx="366268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222B"/>
                </a:solidFill>
                <a:latin typeface="IBM Plex Sans" pitchFamily="34" charset="0"/>
                <a:ea typeface="IBM Plex Sans" pitchFamily="34" charset="-122"/>
                <a:cs typeface="IBM Plex Sans" pitchFamily="34" charset="-120"/>
              </a:rPr>
              <a:t>“My calf is swollen and I'm a bit short of breath.”</a:t>
            </a:r>
            <a:endParaRPr lang="en-US" sz="1200" dirty="0"/>
          </a:p>
        </p:txBody>
      </p:sp>
      <p:sp>
        <p:nvSpPr>
          <p:cNvPr id="26" name="Text 24"/>
          <p:cNvSpPr/>
          <p:nvPr/>
        </p:nvSpPr>
        <p:spPr>
          <a:xfrm>
            <a:off x="812800" y="5064764"/>
            <a:ext cx="3662680"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3264F"/>
                </a:solidFill>
                <a:latin typeface="IBM Plex Sans" pitchFamily="34" charset="0"/>
                <a:ea typeface="IBM Plex Sans" pitchFamily="34" charset="-122"/>
                <a:cs typeface="IBM Plex Sans" pitchFamily="34" charset="-120"/>
              </a:rPr>
              <a:t>Fixed rules. No AI decides.</a:t>
            </a:r>
            <a:endParaRPr lang="en-US" sz="1200" dirty="0"/>
          </a:p>
        </p:txBody>
      </p:sp>
      <p:sp>
        <p:nvSpPr>
          <p:cNvPr id="27" name="Text 25"/>
          <p:cNvSpPr/>
          <p:nvPr/>
        </p:nvSpPr>
        <p:spPr>
          <a:xfrm>
            <a:off x="4521200" y="4859021"/>
            <a:ext cx="7063740" cy="4368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222B"/>
                </a:solidFill>
                <a:latin typeface="IBM Plex Sans" pitchFamily="34" charset="0"/>
                <a:ea typeface="IBM Plex Sans" pitchFamily="34" charset="-122"/>
                <a:cs typeface="IBM Plex Sans" pitchFamily="34" charset="-120"/>
              </a:rPr>
              <a:t>[CHARVI: INSERT EXACT TESTED EMERGENCY REPLY BEFORE SUBMISSION]</a:t>
            </a:r>
            <a:endParaRPr lang="en-US" sz="1200" dirty="0"/>
          </a:p>
        </p:txBody>
      </p:sp>
      <p:sp>
        <p:nvSpPr>
          <p:cNvPr id="28" name="Shape 26"/>
          <p:cNvSpPr/>
          <p:nvPr/>
        </p:nvSpPr>
        <p:spPr>
          <a:xfrm>
            <a:off x="0" y="0"/>
            <a:ext cx="12192000" cy="508000"/>
          </a:xfrm>
          <a:prstGeom prst="rect">
            <a:avLst/>
          </a:prstGeom>
          <a:solidFill>
            <a:srgbClr val="A51F4C"/>
          </a:solidFill>
          <a:ln/>
        </p:spPr>
      </p:sp>
      <p:pic>
        <p:nvPicPr>
          <p:cNvPr id="29"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30" name="Text 27"/>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31" name="Text 28"/>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32" name="Shape 29"/>
          <p:cNvSpPr/>
          <p:nvPr/>
        </p:nvSpPr>
        <p:spPr>
          <a:xfrm>
            <a:off x="0" y="6502400"/>
            <a:ext cx="12192000" cy="355600"/>
          </a:xfrm>
          <a:prstGeom prst="rect">
            <a:avLst/>
          </a:prstGeom>
          <a:solidFill>
            <a:srgbClr val="A51F4C"/>
          </a:solidFill>
          <a:ln/>
        </p:spPr>
      </p:sp>
      <p:sp>
        <p:nvSpPr>
          <p:cNvPr id="33" name="Text 30"/>
          <p:cNvSpPr/>
          <p:nvPr/>
        </p:nvSpPr>
        <p:spPr>
          <a:xfrm>
            <a:off x="254000" y="6583679"/>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34" name="Text 31"/>
          <p:cNvSpPr/>
          <p:nvPr/>
        </p:nvSpPr>
        <p:spPr>
          <a:xfrm>
            <a:off x="7359650" y="6583679"/>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35" name="Rounded Rectangle 34"/>
          <p:cNvSpPr/>
          <p:nvPr/>
        </p:nvSpPr>
        <p:spPr>
          <a:xfrm>
            <a:off x="813816" y="5897880"/>
            <a:ext cx="10661904" cy="320040"/>
          </a:xfrm>
          <a:prstGeom prst="roundRect">
            <a:avLst/>
          </a:prstGeom>
          <a:solidFill>
            <a:srgbClr val="FFE7ED"/>
          </a:solidFill>
          <a:ln w="15240">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wrap="square" rIns="82296" tIns="27432"/>
          <a:lstStyle/>
          <a:p>
            <a:pPr algn="ctr">
              <a:defRPr sz="900" b="1">
                <a:solidFill>
                  <a:srgbClr val="202B3F"/>
                </a:solidFill>
                <a:latin typeface="Aptos"/>
              </a:defRPr>
            </a:pPr>
            <a:r>
              <a:t>CHARVI TO DO · Replace bracketed medication/emergency words with exact successful demo outputs.</a:t>
            </a:r>
          </a:p>
        </p:txBody>
      </p:sp>
      <p:sp>
        <p:nvSpPr>
          <p:cNvPr id="36" name="Rectangle 35"/>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4"/>
          <a:stretch>
            <a:fillRect/>
          </a:stretch>
        </p:blipFill>
        <p:spPr>
          <a:xfrm>
            <a:off x="228600" y="102412"/>
            <a:ext cx="292608" cy="292608"/>
          </a:xfrm>
          <a:prstGeom prst="rect">
            <a:avLst/>
          </a:prstGeom>
        </p:spPr>
      </p:pic>
      <p:sp>
        <p:nvSpPr>
          <p:cNvPr id="38" name="TextBox 37"/>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39" name="TextBox 38"/>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40" name="Rectangle 39"/>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42" name="TextBox 41"/>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PRODUCT: VOICE FIRST, NOT VOICE ONLY</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Designed for a device with a screen</a:t>
            </a:r>
            <a:endParaRPr lang="en-US" sz="3200" dirty="0"/>
          </a:p>
        </p:txBody>
      </p:sp>
      <p:sp>
        <p:nvSpPr>
          <p:cNvPr id="4" name="Shape 2"/>
          <p:cNvSpPr/>
          <p:nvPr/>
        </p:nvSpPr>
        <p:spPr>
          <a:xfrm>
            <a:off x="812800" y="1803400"/>
            <a:ext cx="6413500" cy="3606800"/>
          </a:xfrm>
          <a:prstGeom prst="roundRect">
            <a:avLst>
              <a:gd name="adj" fmla="val 2113"/>
            </a:avLst>
          </a:prstGeom>
          <a:solidFill>
            <a:srgbClr val="FFFDF8"/>
          </a:solidFill>
          <a:ln/>
        </p:spPr>
        <p:txBody>
          <a:bodyPr/>
          <a:p/>
        </p:txBody>
      </p:sp>
      <p:pic>
        <p:nvPicPr>
          <p:cNvPr id="5" name="Image 0" descr="The AfterWard screen at 7:50 am: two large cards for what is next, the rest of the day grouped by time of day, and the spoken reply beside them">    </p:cNvPr>
          <p:cNvPicPr>
            <a:picLocks noChangeAspect="1"/>
          </p:cNvPicPr>
          <p:nvPr/>
        </p:nvPicPr>
        <p:blipFill>
          <a:blip r:embed="rId1"/>
          <a:srcRect l="-88" r="-88" t="0" b="0"/>
          <a:stretch/>
        </p:blipFill>
        <p:spPr>
          <a:xfrm>
            <a:off x="819150" y="1809750"/>
            <a:ext cx="6400800" cy="3594100"/>
          </a:xfrm>
          <a:prstGeom prst="roundRect">
            <a:avLst>
              <a:gd name="adj" fmla="val 1943"/>
            </a:avLst>
          </a:prstGeom>
        </p:spPr>
      </p:pic>
      <p:sp>
        <p:nvSpPr>
          <p:cNvPr id="6" name="Shape 3"/>
          <p:cNvSpPr/>
          <p:nvPr/>
        </p:nvSpPr>
        <p:spPr>
          <a:xfrm>
            <a:off x="815975" y="1806575"/>
            <a:ext cx="6407150" cy="3600450"/>
          </a:xfrm>
          <a:prstGeom prst="roundRect">
            <a:avLst>
              <a:gd name="adj" fmla="val 2028"/>
            </a:avLst>
          </a:prstGeom>
          <a:noFill/>
          <a:ln w="6350">
            <a:solidFill>
              <a:srgbClr val="D9CFBF"/>
            </a:solidFill>
            <a:prstDash val="solid"/>
          </a:ln>
        </p:spPr>
        <p:txBody>
          <a:bodyPr/>
          <a:p/>
        </p:txBody>
      </p:sp>
      <p:sp>
        <p:nvSpPr>
          <p:cNvPr id="7" name="Shape 4"/>
          <p:cNvSpPr/>
          <p:nvPr/>
        </p:nvSpPr>
        <p:spPr>
          <a:xfrm>
            <a:off x="7531100" y="1809750"/>
            <a:ext cx="3848100" cy="0"/>
          </a:xfrm>
          <a:prstGeom prst="line">
            <a:avLst/>
          </a:prstGeom>
          <a:noFill/>
          <a:ln w="12700">
            <a:solidFill>
              <a:srgbClr val="17222B"/>
            </a:solidFill>
            <a:prstDash val="solid"/>
          </a:ln>
        </p:spPr>
        <p:txBody>
          <a:bodyPr/>
          <a:p/>
        </p:txBody>
      </p:sp>
      <p:sp>
        <p:nvSpPr>
          <p:cNvPr id="8" name="Text 5"/>
          <p:cNvSpPr/>
          <p:nvPr/>
        </p:nvSpPr>
        <p:spPr>
          <a:xfrm>
            <a:off x="7531100" y="1915164"/>
            <a:ext cx="396354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2B"/>
                </a:solidFill>
                <a:latin typeface="IBM Plex Sans" pitchFamily="34" charset="0"/>
                <a:ea typeface="IBM Plex Sans" pitchFamily="34" charset="-122"/>
                <a:cs typeface="IBM Plex Sans" pitchFamily="34" charset="-120"/>
              </a:rPr>
              <a:t>Voice</a:t>
            </a:r>
            <a:endParaRPr lang="en-US" sz="1500" dirty="0"/>
          </a:p>
        </p:txBody>
      </p:sp>
      <p:sp>
        <p:nvSpPr>
          <p:cNvPr id="9" name="Text 6"/>
          <p:cNvSpPr/>
          <p:nvPr/>
        </p:nvSpPr>
        <p:spPr>
          <a:xfrm>
            <a:off x="7531100" y="2219964"/>
            <a:ext cx="396354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Her hands are on a walking frame, so she talks and AfterWard answers aloud. It names two items and stops.</a:t>
            </a:r>
            <a:endParaRPr lang="en-US" sz="1200" dirty="0"/>
          </a:p>
        </p:txBody>
      </p:sp>
      <p:sp>
        <p:nvSpPr>
          <p:cNvPr id="10" name="Shape 7"/>
          <p:cNvSpPr/>
          <p:nvPr/>
        </p:nvSpPr>
        <p:spPr>
          <a:xfrm>
            <a:off x="7531100" y="2993392"/>
            <a:ext cx="3848100" cy="0"/>
          </a:xfrm>
          <a:prstGeom prst="line">
            <a:avLst/>
          </a:prstGeom>
          <a:noFill/>
          <a:ln w="12700">
            <a:solidFill>
              <a:srgbClr val="17222B"/>
            </a:solidFill>
            <a:prstDash val="solid"/>
          </a:ln>
        </p:spPr>
        <p:txBody>
          <a:bodyPr/>
          <a:p/>
        </p:txBody>
      </p:sp>
      <p:sp>
        <p:nvSpPr>
          <p:cNvPr id="11" name="Text 8"/>
          <p:cNvSpPr/>
          <p:nvPr/>
        </p:nvSpPr>
        <p:spPr>
          <a:xfrm>
            <a:off x="7531100" y="3098800"/>
            <a:ext cx="396354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2B"/>
                </a:solidFill>
                <a:latin typeface="IBM Plex Sans" pitchFamily="34" charset="0"/>
                <a:ea typeface="IBM Plex Sans" pitchFamily="34" charset="-122"/>
                <a:cs typeface="IBM Plex Sans" pitchFamily="34" charset="-120"/>
              </a:rPr>
              <a:t>Screen</a:t>
            </a:r>
            <a:endParaRPr lang="en-US" sz="1500" dirty="0"/>
          </a:p>
        </p:txBody>
      </p:sp>
      <p:sp>
        <p:nvSpPr>
          <p:cNvPr id="12" name="Text 9"/>
          <p:cNvSpPr/>
          <p:nvPr/>
        </p:nvSpPr>
        <p:spPr>
          <a:xfrm>
            <a:off x="7531100" y="3403600"/>
            <a:ext cx="39635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Two large cards she can read from across the room. The rest of the day is grouped below.</a:t>
            </a:r>
            <a:endParaRPr lang="en-US" sz="1200" dirty="0"/>
          </a:p>
        </p:txBody>
      </p:sp>
      <p:sp>
        <p:nvSpPr>
          <p:cNvPr id="13" name="Shape 10"/>
          <p:cNvSpPr/>
          <p:nvPr/>
        </p:nvSpPr>
        <p:spPr>
          <a:xfrm>
            <a:off x="7531100" y="3963671"/>
            <a:ext cx="3848100" cy="0"/>
          </a:xfrm>
          <a:prstGeom prst="line">
            <a:avLst/>
          </a:prstGeom>
          <a:noFill/>
          <a:ln w="12700">
            <a:solidFill>
              <a:srgbClr val="17222B"/>
            </a:solidFill>
            <a:prstDash val="solid"/>
          </a:ln>
        </p:spPr>
        <p:txBody>
          <a:bodyPr/>
          <a:p/>
        </p:txBody>
      </p:sp>
      <p:sp>
        <p:nvSpPr>
          <p:cNvPr id="14" name="Text 11"/>
          <p:cNvSpPr/>
          <p:nvPr/>
        </p:nvSpPr>
        <p:spPr>
          <a:xfrm>
            <a:off x="7531100" y="4069079"/>
            <a:ext cx="396354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2B"/>
                </a:solidFill>
                <a:latin typeface="IBM Plex Sans" pitchFamily="34" charset="0"/>
                <a:ea typeface="IBM Plex Sans" pitchFamily="34" charset="-122"/>
                <a:cs typeface="IBM Plex Sans" pitchFamily="34" charset="-120"/>
              </a:rPr>
              <a:t>Touch and text</a:t>
            </a:r>
            <a:endParaRPr lang="en-US" sz="1500" dirty="0"/>
          </a:p>
        </p:txBody>
      </p:sp>
      <p:sp>
        <p:nvSpPr>
          <p:cNvPr id="15" name="Text 12"/>
          <p:cNvSpPr/>
          <p:nvPr/>
        </p:nvSpPr>
        <p:spPr>
          <a:xfrm>
            <a:off x="7531100" y="4373879"/>
            <a:ext cx="39635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Tap a button for a short answer, or type. One set of MCP tools sits behind all three.</a:t>
            </a:r>
            <a:endParaRPr lang="en-US" sz="1200" dirty="0"/>
          </a:p>
        </p:txBody>
      </p:sp>
      <p:sp>
        <p:nvSpPr>
          <p:cNvPr id="16"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CURRENT DESIGN MOCK-UP · CHARVI TO REPLACE WITH REAL RUNNING-APP SCREENSHOT. Simulated Alexa+ client.</a:t>
            </a:r>
            <a:endParaRPr lang="en-US" sz="1200" dirty="0"/>
          </a:p>
        </p:txBody>
      </p:sp>
      <p:sp>
        <p:nvSpPr>
          <p:cNvPr id="17" name="Shape 14"/>
          <p:cNvSpPr/>
          <p:nvPr/>
        </p:nvSpPr>
        <p:spPr>
          <a:xfrm>
            <a:off x="0" y="0"/>
            <a:ext cx="12192000" cy="508000"/>
          </a:xfrm>
          <a:prstGeom prst="rect">
            <a:avLst/>
          </a:prstGeom>
          <a:solidFill>
            <a:srgbClr val="A51F4C"/>
          </a:solidFill>
          <a:ln/>
        </p:spPr>
      </p:sp>
      <p:pic>
        <p:nvPicPr>
          <p:cNvPr id="18" name="Image 1" descr="AfterWard logo">    </p:cNvPr>
          <p:cNvPicPr>
            <a:picLocks noChangeAspect="1"/>
          </p:cNvPicPr>
          <p:nvPr/>
        </p:nvPicPr>
        <p:blipFill>
          <a:blip r:embed="rId2"/>
          <a:srcRect l="0" r="0" t="0" b="0"/>
          <a:stretch/>
        </p:blipFill>
        <p:spPr>
          <a:xfrm>
            <a:off x="254000" y="114300"/>
            <a:ext cx="279400" cy="279400"/>
          </a:xfrm>
          <a:prstGeom prst="rect">
            <a:avLst/>
          </a:prstGeom>
        </p:spPr>
      </p:pic>
      <p:sp>
        <p:nvSpPr>
          <p:cNvPr id="19" name="Text 15"/>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20" name="Text 16"/>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21" name="Shape 17"/>
          <p:cNvSpPr/>
          <p:nvPr/>
        </p:nvSpPr>
        <p:spPr>
          <a:xfrm>
            <a:off x="0" y="6502400"/>
            <a:ext cx="12192000" cy="355600"/>
          </a:xfrm>
          <a:prstGeom prst="rect">
            <a:avLst/>
          </a:prstGeom>
          <a:solidFill>
            <a:srgbClr val="A51F4C"/>
          </a:solidFill>
          <a:ln/>
        </p:spPr>
      </p:sp>
      <p:sp>
        <p:nvSpPr>
          <p:cNvPr id="22" name="Text 18"/>
          <p:cNvSpPr/>
          <p:nvPr/>
        </p:nvSpPr>
        <p:spPr>
          <a:xfrm>
            <a:off x="254000" y="6583679"/>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23" name="Text 19"/>
          <p:cNvSpPr/>
          <p:nvPr/>
        </p:nvSpPr>
        <p:spPr>
          <a:xfrm>
            <a:off x="7359650" y="6583679"/>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24" name="Rounded Rectangle 23"/>
          <p:cNvSpPr/>
          <p:nvPr/>
        </p:nvSpPr>
        <p:spPr>
          <a:xfrm>
            <a:off x="868680" y="5623560"/>
            <a:ext cx="10515600" cy="402336"/>
          </a:xfrm>
          <a:prstGeom prst="roundRect">
            <a:avLst/>
          </a:prstGeom>
          <a:solidFill>
            <a:srgbClr val="FFE7ED"/>
          </a:solidFill>
          <a:ln w="15240">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wrap="square" rIns="82296" tIns="27432"/>
          <a:lstStyle/>
          <a:p>
            <a:pPr algn="ctr">
              <a:defRPr sz="1100" b="1">
                <a:solidFill>
                  <a:srgbClr val="202B3F"/>
                </a:solidFill>
                <a:latin typeface="Aptos"/>
              </a:defRPr>
            </a:pPr>
            <a:r>
              <a:t>CHARVI TO DO · Replace left mock-up with screenshots of the actual Today / week dashboard.</a:t>
            </a:r>
          </a:p>
        </p:txBody>
      </p:sp>
      <p:sp>
        <p:nvSpPr>
          <p:cNvPr id="25" name="Rectangle 24"/>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228600" y="102412"/>
            <a:ext cx="292608" cy="292608"/>
          </a:xfrm>
          <a:prstGeom prst="rect">
            <a:avLst/>
          </a:prstGeom>
        </p:spPr>
      </p:pic>
      <p:sp>
        <p:nvSpPr>
          <p:cNvPr id="27" name="TextBox 26"/>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28" name="TextBox 27"/>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29" name="Rectangle 28"/>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31" name="TextBox 30"/>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PROACTIVE MEANS MORE THAN “SET A REMINDER”</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7222B"/>
                </a:solidFill>
                <a:latin typeface="Source Serif 4" pitchFamily="18" charset="0"/>
                <a:ea typeface="Source Serif 4" pitchFamily="18" charset="-122"/>
                <a:cs typeface="Source Serif 4" pitchFamily="18" charset="-120"/>
              </a:rPr>
              <a:t>AfterWard speaks first</a:t>
            </a:r>
            <a:endParaRPr lang="en-US" sz="3600" dirty="0"/>
          </a:p>
        </p:txBody>
      </p:sp>
      <p:sp>
        <p:nvSpPr>
          <p:cNvPr id="4" name="Text 2"/>
          <p:cNvSpPr/>
          <p:nvPr/>
        </p:nvSpPr>
        <p:spPr>
          <a:xfrm>
            <a:off x="812800" y="1732279"/>
            <a:ext cx="11379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A reminder only knows the time. AfterWard knows her plan: what is done, what is next, and what is still open.</a:t>
            </a:r>
            <a:endParaRPr lang="en-US" sz="1500" dirty="0"/>
          </a:p>
        </p:txBody>
      </p:sp>
      <p:sp>
        <p:nvSpPr>
          <p:cNvPr id="5" name="Shape 3"/>
          <p:cNvSpPr/>
          <p:nvPr/>
        </p:nvSpPr>
        <p:spPr>
          <a:xfrm>
            <a:off x="815975" y="2306954"/>
            <a:ext cx="3383677" cy="2533650"/>
          </a:xfrm>
          <a:prstGeom prst="roundRect">
            <a:avLst>
              <a:gd name="adj" fmla="val 3885"/>
            </a:avLst>
          </a:prstGeom>
          <a:solidFill>
            <a:srgbClr val="FFFDF8"/>
          </a:solidFill>
          <a:ln w="6350">
            <a:solidFill>
              <a:srgbClr val="E4DCCF"/>
            </a:solidFill>
            <a:prstDash val="solid"/>
          </a:ln>
        </p:spPr>
        <p:txBody>
          <a:bodyPr/>
          <a:p/>
        </p:txBody>
      </p:sp>
      <p:sp>
        <p:nvSpPr>
          <p:cNvPr id="6" name="Text 4"/>
          <p:cNvSpPr/>
          <p:nvPr/>
        </p:nvSpPr>
        <p:spPr>
          <a:xfrm>
            <a:off x="1071880" y="2562864"/>
            <a:ext cx="295802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3264F"/>
                </a:solidFill>
                <a:latin typeface="Source Serif 4" pitchFamily="18" charset="0"/>
                <a:ea typeface="Source Serif 4" pitchFamily="18" charset="-122"/>
                <a:cs typeface="Source Serif 4" pitchFamily="18" charset="-120"/>
              </a:rPr>
              <a:t>1</a:t>
            </a:r>
            <a:endParaRPr lang="en-US" sz="3600" dirty="0"/>
          </a:p>
        </p:txBody>
      </p:sp>
      <p:sp>
        <p:nvSpPr>
          <p:cNvPr id="7" name="Text 5"/>
          <p:cNvSpPr/>
          <p:nvPr/>
        </p:nvSpPr>
        <p:spPr>
          <a:xfrm>
            <a:off x="1071880" y="3121664"/>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Schedule</a:t>
            </a:r>
            <a:endParaRPr lang="en-US" sz="2000" dirty="0"/>
          </a:p>
        </p:txBody>
      </p:sp>
      <p:sp>
        <p:nvSpPr>
          <p:cNvPr id="8" name="Text 6"/>
          <p:cNvSpPr/>
          <p:nvPr/>
        </p:nvSpPr>
        <p:spPr>
          <a:xfrm>
            <a:off x="1071880" y="3528064"/>
            <a:ext cx="295802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Amazon EventBridge Scheduler checks every 5 minutes for anything due in the next 30.</a:t>
            </a:r>
            <a:endParaRPr lang="en-US" sz="1500" dirty="0"/>
          </a:p>
        </p:txBody>
      </p:sp>
      <p:sp>
        <p:nvSpPr>
          <p:cNvPr id="9" name="Shape 7"/>
          <p:cNvSpPr/>
          <p:nvPr/>
        </p:nvSpPr>
        <p:spPr>
          <a:xfrm>
            <a:off x="4409202" y="2306954"/>
            <a:ext cx="3383756" cy="2533650"/>
          </a:xfrm>
          <a:prstGeom prst="roundRect">
            <a:avLst>
              <a:gd name="adj" fmla="val 3885"/>
            </a:avLst>
          </a:prstGeom>
          <a:solidFill>
            <a:srgbClr val="FFFDF8"/>
          </a:solidFill>
          <a:ln w="6350">
            <a:solidFill>
              <a:srgbClr val="E4DCCF"/>
            </a:solidFill>
            <a:prstDash val="solid"/>
          </a:ln>
        </p:spPr>
        <p:txBody>
          <a:bodyPr/>
          <a:p/>
        </p:txBody>
      </p:sp>
      <p:sp>
        <p:nvSpPr>
          <p:cNvPr id="10" name="Text 8"/>
          <p:cNvSpPr/>
          <p:nvPr/>
        </p:nvSpPr>
        <p:spPr>
          <a:xfrm>
            <a:off x="4665107" y="2562864"/>
            <a:ext cx="295810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B3264F"/>
                </a:solidFill>
                <a:latin typeface="Source Serif 4" pitchFamily="18" charset="0"/>
                <a:ea typeface="Source Serif 4" pitchFamily="18" charset="-122"/>
                <a:cs typeface="Source Serif 4" pitchFamily="18" charset="-120"/>
              </a:rPr>
              <a:t>2</a:t>
            </a:r>
            <a:endParaRPr lang="en-US" sz="3600" dirty="0"/>
          </a:p>
        </p:txBody>
      </p:sp>
      <p:sp>
        <p:nvSpPr>
          <p:cNvPr id="11" name="Text 9"/>
          <p:cNvSpPr/>
          <p:nvPr/>
        </p:nvSpPr>
        <p:spPr>
          <a:xfrm>
            <a:off x="4665107" y="3121664"/>
            <a:ext cx="295810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Guard</a:t>
            </a:r>
            <a:endParaRPr lang="en-US" sz="2000" dirty="0"/>
          </a:p>
        </p:txBody>
      </p:sp>
      <p:sp>
        <p:nvSpPr>
          <p:cNvPr id="12" name="Text 10"/>
          <p:cNvSpPr/>
          <p:nvPr/>
        </p:nvSpPr>
        <p:spPr>
          <a:xfrm>
            <a:off x="4665107" y="3528064"/>
            <a:ext cx="295810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Already done, only if needed, stopped or unclear? No reminder is sent.</a:t>
            </a:r>
            <a:endParaRPr lang="en-US" sz="1500" dirty="0"/>
          </a:p>
        </p:txBody>
      </p:sp>
      <p:sp>
        <p:nvSpPr>
          <p:cNvPr id="13" name="Shape 11"/>
          <p:cNvSpPr/>
          <p:nvPr/>
        </p:nvSpPr>
        <p:spPr>
          <a:xfrm>
            <a:off x="7999333" y="2303779"/>
            <a:ext cx="3379867" cy="2540000"/>
          </a:xfrm>
          <a:prstGeom prst="roundRect">
            <a:avLst>
              <a:gd name="adj" fmla="val 4000"/>
            </a:avLst>
          </a:prstGeom>
          <a:solidFill>
            <a:srgbClr val="17222B"/>
          </a:solidFill>
          <a:ln/>
        </p:spPr>
        <p:txBody>
          <a:bodyPr/>
          <a:p/>
        </p:txBody>
      </p:sp>
      <p:sp>
        <p:nvSpPr>
          <p:cNvPr id="14" name="Text 12"/>
          <p:cNvSpPr/>
          <p:nvPr/>
        </p:nvSpPr>
        <p:spPr>
          <a:xfrm>
            <a:off x="8253333" y="2557779"/>
            <a:ext cx="295802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2A3B8"/>
                </a:solidFill>
                <a:latin typeface="Source Serif 4" pitchFamily="18" charset="0"/>
                <a:ea typeface="Source Serif 4" pitchFamily="18" charset="-122"/>
                <a:cs typeface="Source Serif 4" pitchFamily="18" charset="-120"/>
              </a:rPr>
              <a:t>3</a:t>
            </a:r>
            <a:endParaRPr lang="en-US" sz="3600" dirty="0"/>
          </a:p>
        </p:txBody>
      </p:sp>
      <p:sp>
        <p:nvSpPr>
          <p:cNvPr id="15" name="Text 13"/>
          <p:cNvSpPr/>
          <p:nvPr/>
        </p:nvSpPr>
        <p:spPr>
          <a:xfrm>
            <a:off x="8253333" y="3116579"/>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1E8"/>
                </a:solidFill>
                <a:latin typeface="Source Serif 4" pitchFamily="18" charset="0"/>
                <a:ea typeface="Source Serif 4" pitchFamily="18" charset="-122"/>
                <a:cs typeface="Source Serif 4" pitchFamily="18" charset="-120"/>
              </a:rPr>
              <a:t>Deliver</a:t>
            </a:r>
            <a:endParaRPr lang="en-US" sz="2000" dirty="0"/>
          </a:p>
        </p:txBody>
      </p:sp>
      <p:sp>
        <p:nvSpPr>
          <p:cNvPr id="16" name="Text 14"/>
          <p:cNvSpPr/>
          <p:nvPr/>
        </p:nvSpPr>
        <p:spPr>
          <a:xfrm>
            <a:off x="8253333" y="3522979"/>
            <a:ext cx="2958023"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7C2CB"/>
                </a:solidFill>
                <a:latin typeface="IBM Plex Sans" pitchFamily="34" charset="0"/>
                <a:ea typeface="IBM Plex Sans" pitchFamily="34" charset="-122"/>
                <a:cs typeface="IBM Plex Sans" pitchFamily="34" charset="-120"/>
              </a:rPr>
              <a:t>The client speaks a short reminder. The words are built by code from her saved plan, not by the model.</a:t>
            </a:r>
            <a:endParaRPr lang="en-US" sz="1500" dirty="0"/>
          </a:p>
        </p:txBody>
      </p:sp>
      <p:sp>
        <p:nvSpPr>
          <p:cNvPr id="17" name="Text 15"/>
          <p:cNvSpPr/>
          <p:nvPr/>
        </p:nvSpPr>
        <p:spPr>
          <a:xfrm>
            <a:off x="812800" y="51485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Verified: EventBridge → Lambda → web companion speaks proactively (SIMULATED). Classic Alexa skill does not speak first.</a:t>
            </a:r>
            <a:endParaRPr lang="en-US" sz="1200" dirty="0"/>
          </a:p>
        </p:txBody>
      </p:sp>
      <p:sp>
        <p:nvSpPr>
          <p:cNvPr id="18" name="Shape 16"/>
          <p:cNvSpPr/>
          <p:nvPr/>
        </p:nvSpPr>
        <p:spPr>
          <a:xfrm>
            <a:off x="0" y="0"/>
            <a:ext cx="12192000" cy="508000"/>
          </a:xfrm>
          <a:prstGeom prst="rect">
            <a:avLst/>
          </a:prstGeom>
          <a:solidFill>
            <a:srgbClr val="A51F4C"/>
          </a:solidFill>
          <a:ln/>
        </p:spPr>
      </p:sp>
      <p:pic>
        <p:nvPicPr>
          <p:cNvPr id="19"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20" name="Text 17"/>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21" name="Text 18"/>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22" name="Shape 19"/>
          <p:cNvSpPr/>
          <p:nvPr/>
        </p:nvSpPr>
        <p:spPr>
          <a:xfrm>
            <a:off x="0" y="6502400"/>
            <a:ext cx="12192000" cy="355600"/>
          </a:xfrm>
          <a:prstGeom prst="rect">
            <a:avLst/>
          </a:prstGeom>
          <a:solidFill>
            <a:srgbClr val="A51F4C"/>
          </a:solidFill>
          <a:ln/>
        </p:spPr>
      </p:sp>
      <p:sp>
        <p:nvSpPr>
          <p:cNvPr id="23" name="Text 20"/>
          <p:cNvSpPr/>
          <p:nvPr/>
        </p:nvSpPr>
        <p:spPr>
          <a:xfrm>
            <a:off x="254000" y="6583679"/>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24" name="Text 21"/>
          <p:cNvSpPr/>
          <p:nvPr/>
        </p:nvSpPr>
        <p:spPr>
          <a:xfrm>
            <a:off x="7359650" y="6583679"/>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25" name="Rectangle 24"/>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4"/>
          <a:stretch>
            <a:fillRect/>
          </a:stretch>
        </p:blipFill>
        <p:spPr>
          <a:xfrm>
            <a:off x="228600" y="102412"/>
            <a:ext cx="292608" cy="292608"/>
          </a:xfrm>
          <a:prstGeom prst="rect">
            <a:avLst/>
          </a:prstGeom>
        </p:spPr>
      </p:pic>
      <p:sp>
        <p:nvSpPr>
          <p:cNvPr id="27" name="TextBox 26"/>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28" name="TextBox 27"/>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29" name="Rectangle 28"/>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31" name="TextBox 30"/>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0E8"/>
        </a:solidFill>
      </p:bgPr>
    </p:bg>
    <p:spTree>
      <p:nvGrpSpPr>
        <p:cNvPr id="1" name=""/>
        <p:cNvGrpSpPr/>
        <p:nvPr/>
      </p:nvGrpSpPr>
      <p:grpSpPr>
        <a:xfrm>
          <a:off x="0" y="0"/>
          <a:ext cx="0" cy="0"/>
          <a:chOff x="0" y="0"/>
          <a:chExt cx="0" cy="0"/>
        </a:xfrm>
      </p:grpSpPr>
      <p:pic>
        <p:nvPicPr>
          <p:cNvPr id="2" name="Image 0" descr="The safety gate: four kinds of unclear line, four tested rules. No end date: kept in the plan, no end date made up. Unreadable word: flagged for a person to confirm. Two review dates: both kept and flagged, none picked. No dose given: left blank, never invented. Open source: discharge-letter-check, MIT, v0.1.0, 149 tests.">    </p:cNvPr>
          <p:cNvPicPr>
            <a:picLocks noChangeAspect="1"/>
          </p:cNvPicPr>
          <p:nvPr/>
        </p:nvPicPr>
        <p:blipFill>
          <a:blip r:embed="rId1"/>
          <a:srcRect l="-343" r="-343" t="0" b="0"/>
          <a:stretch/>
        </p:blipFill>
        <p:spPr>
          <a:xfrm>
            <a:off x="0" y="0"/>
            <a:ext cx="12192000" cy="6858000"/>
          </a:xfrm>
          <a:prstGeom prst="rect">
            <a:avLst/>
          </a:prstGeom>
        </p:spPr>
      </p:pic>
      <p:sp>
        <p:nvSpPr>
          <p:cNvPr id="3" name="Rounded Rectangle 2"/>
          <p:cNvSpPr/>
          <p:nvPr/>
        </p:nvSpPr>
        <p:spPr>
          <a:xfrm>
            <a:off x="777240" y="6108192"/>
            <a:ext cx="10561320" cy="301752"/>
          </a:xfrm>
          <a:prstGeom prst="roundRect">
            <a:avLst/>
          </a:prstGeom>
          <a:solidFill>
            <a:srgbClr val="FFE7ED"/>
          </a:solidFill>
          <a:ln w="15240">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wrap="square" rIns="82296" tIns="27432"/>
          <a:lstStyle/>
          <a:p>
            <a:pPr algn="ctr">
              <a:defRPr sz="900" b="1">
                <a:solidFill>
                  <a:srgbClr val="202B3F"/>
                </a:solidFill>
                <a:latin typeface="Aptos"/>
              </a:defRPr>
            </a:pPr>
            <a:r>
              <a:t>CHARVI TO DO · Insert GitHub Actions / 149 passing open-source tests screenshot in appendix.</a:t>
            </a:r>
          </a:p>
        </p:txBody>
      </p:sp>
      <p:sp>
        <p:nvSpPr>
          <p:cNvPr id="4" name="Rectangle 3"/>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4"/>
          <a:stretch>
            <a:fillRect/>
          </a:stretch>
        </p:blipFill>
        <p:spPr>
          <a:xfrm>
            <a:off x="228600" y="102412"/>
            <a:ext cx="292608" cy="292608"/>
          </a:xfrm>
          <a:prstGeom prst="rect">
            <a:avLst/>
          </a:prstGeom>
        </p:spPr>
      </p:pic>
      <p:sp>
        <p:nvSpPr>
          <p:cNvPr id="6" name="TextBox 5"/>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7" name="TextBox 6"/>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8" name="Rectangle 7"/>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10" name="TextBox 9"/>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PRODUCT: ONE MCP SERVER, MANY FRONT ENDS</a:t>
            </a:r>
            <a:endParaRPr lang="en-US" sz="1200" dirty="0"/>
          </a:p>
        </p:txBody>
      </p:sp>
      <p:sp>
        <p:nvSpPr>
          <p:cNvPr id="3" name="Text 1"/>
          <p:cNvSpPr/>
          <p:nvPr>
            <p:ph type="title"/>
          </p:nvPr>
        </p:nvSpPr>
        <p:spPr>
          <a:xfrm>
            <a:off x="812800" y="11023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More than tools: prompts and an MCP App</a:t>
            </a:r>
            <a:endParaRPr lang="en-US" sz="3200" dirty="0"/>
          </a:p>
        </p:txBody>
      </p:sp>
      <p:sp>
        <p:nvSpPr>
          <p:cNvPr id="4" name="Shape 2"/>
          <p:cNvSpPr/>
          <p:nvPr/>
        </p:nvSpPr>
        <p:spPr>
          <a:xfrm>
            <a:off x="815975" y="1806575"/>
            <a:ext cx="3383677" cy="3150870"/>
          </a:xfrm>
          <a:prstGeom prst="roundRect">
            <a:avLst>
              <a:gd name="adj" fmla="val 3124"/>
            </a:avLst>
          </a:prstGeom>
          <a:solidFill>
            <a:srgbClr val="FFFDF8"/>
          </a:solidFill>
          <a:ln w="6350">
            <a:solidFill>
              <a:srgbClr val="E4DCCF"/>
            </a:solidFill>
            <a:prstDash val="solid"/>
          </a:ln>
        </p:spPr>
        <p:txBody>
          <a:bodyPr/>
          <a:p/>
        </p:txBody>
      </p:sp>
      <p:sp>
        <p:nvSpPr>
          <p:cNvPr id="5" name="Text 3"/>
          <p:cNvSpPr/>
          <p:nvPr/>
        </p:nvSpPr>
        <p:spPr>
          <a:xfrm>
            <a:off x="1071880" y="2062479"/>
            <a:ext cx="295802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3264F"/>
                </a:solidFill>
                <a:latin typeface="Source Serif 4" pitchFamily="18" charset="0"/>
                <a:ea typeface="Source Serif 4" pitchFamily="18" charset="-122"/>
                <a:cs typeface="Source Serif 4" pitchFamily="18" charset="-120"/>
              </a:rPr>
              <a:t>9</a:t>
            </a:r>
            <a:endParaRPr lang="en-US" sz="4800" dirty="0"/>
          </a:p>
        </p:txBody>
      </p:sp>
      <p:sp>
        <p:nvSpPr>
          <p:cNvPr id="6" name="Text 4"/>
          <p:cNvSpPr/>
          <p:nvPr/>
        </p:nvSpPr>
        <p:spPr>
          <a:xfrm>
            <a:off x="1071880" y="2760979"/>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Tools</a:t>
            </a:r>
            <a:endParaRPr lang="en-US" sz="2000" dirty="0"/>
          </a:p>
        </p:txBody>
      </p:sp>
      <p:sp>
        <p:nvSpPr>
          <p:cNvPr id="7" name="Text 5"/>
          <p:cNvSpPr/>
          <p:nvPr/>
        </p:nvSpPr>
        <p:spPr>
          <a:xfrm>
            <a:off x="1071880" y="3154679"/>
            <a:ext cx="295802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Six read the plan, the week and her letter. Three write: a task done, a dose taken, and undo for a report made by mistake.</a:t>
            </a:r>
            <a:endParaRPr lang="en-US" sz="1200" dirty="0"/>
          </a:p>
        </p:txBody>
      </p:sp>
      <p:sp>
        <p:nvSpPr>
          <p:cNvPr id="8" name="Shape 6"/>
          <p:cNvSpPr/>
          <p:nvPr/>
        </p:nvSpPr>
        <p:spPr>
          <a:xfrm>
            <a:off x="4409202" y="1806575"/>
            <a:ext cx="3383756" cy="3150870"/>
          </a:xfrm>
          <a:prstGeom prst="roundRect">
            <a:avLst>
              <a:gd name="adj" fmla="val 3124"/>
            </a:avLst>
          </a:prstGeom>
          <a:solidFill>
            <a:srgbClr val="FFFDF8"/>
          </a:solidFill>
          <a:ln w="6350">
            <a:solidFill>
              <a:srgbClr val="E4DCCF"/>
            </a:solidFill>
            <a:prstDash val="solid"/>
          </a:ln>
        </p:spPr>
        <p:txBody>
          <a:bodyPr/>
          <a:p/>
        </p:txBody>
      </p:sp>
      <p:sp>
        <p:nvSpPr>
          <p:cNvPr id="9" name="Text 7"/>
          <p:cNvSpPr/>
          <p:nvPr/>
        </p:nvSpPr>
        <p:spPr>
          <a:xfrm>
            <a:off x="4665107" y="2062479"/>
            <a:ext cx="2958105"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B3264F"/>
                </a:solidFill>
                <a:latin typeface="Source Serif 4" pitchFamily="18" charset="0"/>
                <a:ea typeface="Source Serif 4" pitchFamily="18" charset="-122"/>
                <a:cs typeface="Source Serif 4" pitchFamily="18" charset="-120"/>
              </a:rPr>
              <a:t>2</a:t>
            </a:r>
            <a:endParaRPr lang="en-US" sz="4800" dirty="0"/>
          </a:p>
        </p:txBody>
      </p:sp>
      <p:sp>
        <p:nvSpPr>
          <p:cNvPr id="10" name="Text 8"/>
          <p:cNvSpPr/>
          <p:nvPr/>
        </p:nvSpPr>
        <p:spPr>
          <a:xfrm>
            <a:off x="4665107" y="2760979"/>
            <a:ext cx="295810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Prompts</a:t>
            </a:r>
            <a:endParaRPr lang="en-US" sz="2000" dirty="0"/>
          </a:p>
        </p:txBody>
      </p:sp>
      <p:sp>
        <p:nvSpPr>
          <p:cNvPr id="11" name="Text 9"/>
          <p:cNvSpPr/>
          <p:nvPr/>
        </p:nvSpPr>
        <p:spPr>
          <a:xfrm>
            <a:off x="4665107" y="3154679"/>
            <a:ext cx="29581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ask_my_letter</a:t>
            </a:r>
            <a:endParaRPr lang="en-US" sz="1200" dirty="0"/>
          </a:p>
        </p:txBody>
      </p:sp>
      <p:sp>
        <p:nvSpPr>
          <p:cNvPr id="12" name="Text 10"/>
          <p:cNvSpPr/>
          <p:nvPr/>
        </p:nvSpPr>
        <p:spPr>
          <a:xfrm>
            <a:off x="4665107" y="3456942"/>
            <a:ext cx="29581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Search her letter first, answer with the page, never guess.</a:t>
            </a:r>
            <a:endParaRPr lang="en-US" sz="1200" dirty="0"/>
          </a:p>
        </p:txBody>
      </p:sp>
      <p:sp>
        <p:nvSpPr>
          <p:cNvPr id="13" name="Text 11"/>
          <p:cNvSpPr/>
          <p:nvPr/>
        </p:nvSpPr>
        <p:spPr>
          <a:xfrm>
            <a:off x="4665107" y="3972564"/>
            <a:ext cx="29581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morning_checkin</a:t>
            </a:r>
            <a:endParaRPr lang="en-US" sz="1200" dirty="0"/>
          </a:p>
        </p:txBody>
      </p:sp>
      <p:sp>
        <p:nvSpPr>
          <p:cNvPr id="14" name="Text 12"/>
          <p:cNvSpPr/>
          <p:nvPr/>
        </p:nvSpPr>
        <p:spPr>
          <a:xfrm>
            <a:off x="4665107" y="4274821"/>
            <a:ext cx="29581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Read today's plan, then one short spoken step.</a:t>
            </a:r>
            <a:endParaRPr lang="en-US" sz="1200" dirty="0"/>
          </a:p>
        </p:txBody>
      </p:sp>
      <p:sp>
        <p:nvSpPr>
          <p:cNvPr id="15" name="Shape 13"/>
          <p:cNvSpPr/>
          <p:nvPr/>
        </p:nvSpPr>
        <p:spPr>
          <a:xfrm>
            <a:off x="7999333" y="1803400"/>
            <a:ext cx="3379867" cy="3157220"/>
          </a:xfrm>
          <a:prstGeom prst="roundRect">
            <a:avLst>
              <a:gd name="adj" fmla="val 3218"/>
            </a:avLst>
          </a:prstGeom>
          <a:solidFill>
            <a:srgbClr val="17222B"/>
          </a:solidFill>
          <a:ln/>
        </p:spPr>
        <p:txBody>
          <a:bodyPr/>
          <a:p/>
        </p:txBody>
      </p:sp>
      <p:sp>
        <p:nvSpPr>
          <p:cNvPr id="16" name="Text 14"/>
          <p:cNvSpPr/>
          <p:nvPr/>
        </p:nvSpPr>
        <p:spPr>
          <a:xfrm>
            <a:off x="8253333" y="2057400"/>
            <a:ext cx="295802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2A3B8"/>
                </a:solidFill>
                <a:latin typeface="Source Serif 4" pitchFamily="18" charset="0"/>
                <a:ea typeface="Source Serif 4" pitchFamily="18" charset="-122"/>
                <a:cs typeface="Source Serif 4" pitchFamily="18" charset="-120"/>
              </a:rPr>
              <a:t>1</a:t>
            </a:r>
            <a:endParaRPr lang="en-US" sz="4800" dirty="0"/>
          </a:p>
        </p:txBody>
      </p:sp>
      <p:sp>
        <p:nvSpPr>
          <p:cNvPr id="17" name="Text 15"/>
          <p:cNvSpPr/>
          <p:nvPr/>
        </p:nvSpPr>
        <p:spPr>
          <a:xfrm>
            <a:off x="8253333" y="2755900"/>
            <a:ext cx="2958023"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1E8"/>
                </a:solidFill>
                <a:latin typeface="Source Serif 4" pitchFamily="18" charset="0"/>
                <a:ea typeface="Source Serif 4" pitchFamily="18" charset="-122"/>
                <a:cs typeface="Source Serif 4" pitchFamily="18" charset="-120"/>
              </a:rPr>
              <a:t>MCP App: the Today card</a:t>
            </a:r>
            <a:endParaRPr lang="en-US" sz="2000" dirty="0"/>
          </a:p>
        </p:txBody>
      </p:sp>
      <p:sp>
        <p:nvSpPr>
          <p:cNvPr id="18" name="Text 16"/>
          <p:cNvSpPr/>
          <p:nvPr/>
        </p:nvSpPr>
        <p:spPr>
          <a:xfrm>
            <a:off x="8253333" y="3454400"/>
            <a:ext cx="2958023"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CB"/>
                </a:solidFill>
                <a:latin typeface="IBM Plex Sans" pitchFamily="34" charset="0"/>
                <a:ea typeface="IBM Plex Sans" pitchFamily="34" charset="-122"/>
                <a:cs typeface="IBM Plex Sans" pitchFamily="34" charset="-120"/>
              </a:rPr>
              <a:t>A host that supports MCP Apps shows Margaret's day as a card, not plain text: progress, what is done, what is next, and a “needs confirmation” tag.</a:t>
            </a:r>
            <a:endParaRPr lang="en-US" sz="1200" dirty="0"/>
          </a:p>
        </p:txBody>
      </p:sp>
      <p:sp>
        <p:nvSpPr>
          <p:cNvPr id="19" name="Text 17"/>
          <p:cNvSpPr/>
          <p:nvPr/>
        </p:nvSpPr>
        <p:spPr>
          <a:xfrm>
            <a:off x="8253333" y="4396742"/>
            <a:ext cx="2958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B8"/>
                </a:solidFill>
                <a:latin typeface="IBM Plex Mono" pitchFamily="49" charset="0"/>
                <a:ea typeface="IBM Plex Mono" pitchFamily="49" charset="-122"/>
                <a:cs typeface="IBM Plex Mono" pitchFamily="49" charset="-120"/>
              </a:rPr>
              <a:t>ui://afterward/today.html</a:t>
            </a:r>
            <a:endParaRPr lang="en-US" sz="1200" dirty="0"/>
          </a:p>
        </p:txBody>
      </p:sp>
      <p:sp>
        <p:nvSpPr>
          <p:cNvPr id="20" name="Text 18"/>
          <p:cNvSpPr/>
          <p:nvPr/>
        </p:nvSpPr>
        <p:spPr>
          <a:xfrm>
            <a:off x="812800" y="5214621"/>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22B"/>
                </a:solidFill>
                <a:latin typeface="IBM Plex Sans" pitchFamily="34" charset="0"/>
                <a:ea typeface="IBM Plex Sans" pitchFamily="34" charset="-122"/>
                <a:cs typeface="IBM Plex Sans" pitchFamily="34" charset="-120"/>
              </a:rPr>
              <a:t>The prompts put our safety rules where any agent can use them, including Alexa+, which is the agent in a real add-on.</a:t>
            </a:r>
            <a:endParaRPr lang="en-US" sz="1500" dirty="0"/>
          </a:p>
        </p:txBody>
      </p:sp>
      <p:sp>
        <p:nvSpPr>
          <p:cNvPr id="21" name="Text 1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9 tools and 2 prompts implemented and tested. CHARVI: add MCPJam tool-call + MCP App screenshots (appendix placeholder).</a:t>
            </a:r>
            <a:endParaRPr lang="en-US" sz="1200" dirty="0"/>
          </a:p>
        </p:txBody>
      </p:sp>
      <p:sp>
        <p:nvSpPr>
          <p:cNvPr id="22" name="Shape 20"/>
          <p:cNvSpPr/>
          <p:nvPr/>
        </p:nvSpPr>
        <p:spPr>
          <a:xfrm>
            <a:off x="0" y="0"/>
            <a:ext cx="12192000" cy="508000"/>
          </a:xfrm>
          <a:prstGeom prst="rect">
            <a:avLst/>
          </a:prstGeom>
          <a:solidFill>
            <a:srgbClr val="A51F4C"/>
          </a:solidFill>
          <a:ln/>
        </p:spPr>
      </p:sp>
      <p:pic>
        <p:nvPicPr>
          <p:cNvPr id="23"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24" name="Text 21"/>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25" name="Text 22"/>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26" name="Shape 23"/>
          <p:cNvSpPr/>
          <p:nvPr/>
        </p:nvSpPr>
        <p:spPr>
          <a:xfrm>
            <a:off x="0" y="6502400"/>
            <a:ext cx="12192000" cy="355600"/>
          </a:xfrm>
          <a:prstGeom prst="rect">
            <a:avLst/>
          </a:prstGeom>
          <a:solidFill>
            <a:srgbClr val="A51F4C"/>
          </a:solidFill>
          <a:ln/>
        </p:spPr>
      </p:sp>
      <p:sp>
        <p:nvSpPr>
          <p:cNvPr id="27" name="Text 24"/>
          <p:cNvSpPr/>
          <p:nvPr/>
        </p:nvSpPr>
        <p:spPr>
          <a:xfrm>
            <a:off x="254000" y="6583679"/>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28" name="Text 25"/>
          <p:cNvSpPr/>
          <p:nvPr/>
        </p:nvSpPr>
        <p:spPr>
          <a:xfrm>
            <a:off x="7359650" y="6583679"/>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29" name="Rounded Rectangle 28"/>
          <p:cNvSpPr/>
          <p:nvPr/>
        </p:nvSpPr>
        <p:spPr>
          <a:xfrm>
            <a:off x="859536" y="5806440"/>
            <a:ext cx="10533888" cy="356616"/>
          </a:xfrm>
          <a:prstGeom prst="roundRect">
            <a:avLst/>
          </a:prstGeom>
          <a:solidFill>
            <a:srgbClr val="FFE7ED"/>
          </a:solidFill>
          <a:ln w="15240">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wrap="square" rIns="82296" tIns="27432"/>
          <a:lstStyle/>
          <a:p>
            <a:pPr algn="ctr">
              <a:defRPr sz="1000" b="1">
                <a:solidFill>
                  <a:srgbClr val="202B3F"/>
                </a:solidFill>
                <a:latin typeface="Aptos"/>
              </a:defRPr>
            </a:pPr>
            <a:r>
              <a:t>CHARVI TO DO · Add real MCPJam tool-call and Today-card screenshots (see appendix placeholders).</a:t>
            </a:r>
          </a:p>
        </p:txBody>
      </p:sp>
      <p:sp>
        <p:nvSpPr>
          <p:cNvPr id="30" name="Rectangle 29"/>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image.png"/>
          <p:cNvPicPr>
            <a:picLocks noChangeAspect="1"/>
          </p:cNvPicPr>
          <p:nvPr/>
        </p:nvPicPr>
        <p:blipFill>
          <a:blip r:embed="rId4"/>
          <a:stretch>
            <a:fillRect/>
          </a:stretch>
        </p:blipFill>
        <p:spPr>
          <a:xfrm>
            <a:off x="228600" y="102412"/>
            <a:ext cx="292608" cy="292608"/>
          </a:xfrm>
          <a:prstGeom prst="rect">
            <a:avLst/>
          </a:prstGeom>
        </p:spPr>
      </p:pic>
      <p:sp>
        <p:nvSpPr>
          <p:cNvPr id="32" name="TextBox 31"/>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33" name="TextBox 32"/>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34" name="Rectangle 33"/>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36" name="TextBox 35"/>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0E8"/>
        </a:solidFill>
      </p:bgPr>
    </p:bg>
    <p:spTree>
      <p:nvGrpSpPr>
        <p:cNvPr id="1" name=""/>
        <p:cNvGrpSpPr/>
        <p:nvPr/>
      </p:nvGrpSpPr>
      <p:grpSpPr>
        <a:xfrm>
          <a:off x="0" y="0"/>
          <a:ext cx="0" cy="0"/>
          <a:chOff x="0" y="0"/>
          <a:chExt cx="0" cy="0"/>
        </a:xfrm>
      </p:grpSpPr>
      <p:pic>
        <p:nvPicPr>
          <p:cNvPr id="2" name="Image 0" descr="How AfterWard works, built on AWS in eu-west-2. 1: a letter becomes a plan (Amazon S3, SQS, Lambda, the open-source safety gate). 2: she talks to her plan (simulated Alexa+ client and Alexa skill, agent, AfterWard MCP server on ECS Fargate, nine tools). 3: AfterWard speaks first (EventBridge Scheduler, Lambda, pending reminder). Kept per patient in DynamoDB and S3 Vectors.">    </p:cNvPr>
          <p:cNvPicPr>
            <a:picLocks noChangeAspect="1"/>
          </p:cNvPicPr>
          <p:nvPr/>
        </p:nvPicPr>
        <p:blipFill>
          <a:blip r:embed="rId1"/>
          <a:srcRect l="-64" r="-64" t="0" b="0"/>
          <a:stretch/>
        </p:blipFill>
        <p:spPr>
          <a:xfrm>
            <a:off x="0" y="0"/>
            <a:ext cx="12192000" cy="6858000"/>
          </a:xfrm>
          <a:prstGeom prst="rect">
            <a:avLst/>
          </a:prstGeom>
        </p:spPr>
      </p:pic>
      <p:sp>
        <p:nvSpPr>
          <p:cNvPr id="3" name="Rectangle 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4"/>
          <a:stretch>
            <a:fillRect/>
          </a:stretch>
        </p:blipFill>
        <p:spPr>
          <a:xfrm>
            <a:off x="228600" y="102412"/>
            <a:ext cx="292608" cy="292608"/>
          </a:xfrm>
          <a:prstGeom prst="rect">
            <a:avLst/>
          </a:prstGeom>
        </p:spPr>
      </p:pic>
      <p:sp>
        <p:nvSpPr>
          <p:cNvPr id="5" name="TextBox 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6" name="TextBox 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7" name="Rectangle 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9" name="TextBox 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pic>
        <p:nvPicPr>
          <p:cNvPr id="2" name="Image 0" descr="The MVP. Built and running: letter to plan, answers quoted from her letter, an open-source safety gate, a crisis check before any AI, nine MCP tools, two prompts and an MCP App, proactive reminders from EventBridge, and a classic Alexa skill plus a web voice client. Simulated or synthetic: Alexa+ simulated, synthetic letters, one demo patient, a fixed demo clock. What comes next: sign-in and consent, reminder times, care team and family reports, hospital integration, a clinical pilot.">    </p:cNvPr>
          <p:cNvPicPr>
            <a:picLocks noChangeAspect="1"/>
          </p:cNvPicPr>
          <p:nvPr/>
        </p:nvPicPr>
        <p:blipFill>
          <a:blip r:embed="rId1"/>
          <a:srcRect l="0" r="0" t="0" b="0"/>
          <a:stretch/>
        </p:blipFill>
        <p:spPr>
          <a:xfrm>
            <a:off x="0" y="0"/>
            <a:ext cx="12192000" cy="6858000"/>
          </a:xfrm>
          <a:prstGeom prst="rect">
            <a:avLst/>
          </a:prstGeom>
        </p:spPr>
      </p:pic>
      <p:sp>
        <p:nvSpPr>
          <p:cNvPr id="3" name="Rectangle 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4"/>
          <a:stretch>
            <a:fillRect/>
          </a:stretch>
        </p:blipFill>
        <p:spPr>
          <a:xfrm>
            <a:off x="228600" y="102412"/>
            <a:ext cx="292608" cy="292608"/>
          </a:xfrm>
          <a:prstGeom prst="rect">
            <a:avLst/>
          </a:prstGeom>
        </p:spPr>
      </p:pic>
      <p:sp>
        <p:nvSpPr>
          <p:cNvPr id="5" name="TextBox 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6" name="TextBox 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7" name="Rectangle 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9" name="TextBox 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pic>
        <p:nvPicPr>
          <p:cNvPr id="2" name="Image 0" descr="How AfterWard meets the brief: the full architecture with green badges R1 to R7 where each hackathon requirement is met, a requirements checklist, and six technology choices with the trade-offs accepted.">    </p:cNvPr>
          <p:cNvPicPr>
            <a:picLocks noChangeAspect="1"/>
          </p:cNvPicPr>
          <p:nvPr/>
        </p:nvPicPr>
        <p:blipFill>
          <a:blip r:embed="rId1"/>
          <a:srcRect l="0" r="0" t="0" b="0"/>
          <a:stretch/>
        </p:blipFill>
        <p:spPr>
          <a:xfrm>
            <a:off x="0" y="0"/>
            <a:ext cx="12192000" cy="6858000"/>
          </a:xfrm>
          <a:prstGeom prst="rect">
            <a:avLst/>
          </a:prstGeom>
        </p:spPr>
      </p:pic>
      <p:sp>
        <p:nvSpPr>
          <p:cNvPr id="3" name="Rectangle 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4"/>
          <a:stretch>
            <a:fillRect/>
          </a:stretch>
        </p:blipFill>
        <p:spPr>
          <a:xfrm>
            <a:off x="228600" y="102412"/>
            <a:ext cx="292608" cy="292608"/>
          </a:xfrm>
          <a:prstGeom prst="rect">
            <a:avLst/>
          </a:prstGeom>
        </p:spPr>
      </p:pic>
      <p:sp>
        <p:nvSpPr>
          <p:cNvPr id="5" name="TextBox 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6" name="TextBox 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7" name="Rectangle 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9" name="TextBox 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IMPACT AND GROWTH</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Impact</a:t>
            </a:r>
            <a:endParaRPr lang="en-US" sz="3200" dirty="0"/>
          </a:p>
        </p:txBody>
      </p:sp>
      <p:sp>
        <p:nvSpPr>
          <p:cNvPr id="4" name="Shape 2"/>
          <p:cNvSpPr/>
          <p:nvPr/>
        </p:nvSpPr>
        <p:spPr>
          <a:xfrm>
            <a:off x="815975" y="1806575"/>
            <a:ext cx="3383677" cy="2868930"/>
          </a:xfrm>
          <a:prstGeom prst="roundRect">
            <a:avLst>
              <a:gd name="adj" fmla="val 3431"/>
            </a:avLst>
          </a:prstGeom>
          <a:solidFill>
            <a:srgbClr val="FFFDF8"/>
          </a:solidFill>
          <a:ln w="6350">
            <a:solidFill>
              <a:srgbClr val="E4DCCF"/>
            </a:solidFill>
            <a:prstDash val="solid"/>
          </a:ln>
        </p:spPr>
        <p:txBody>
          <a:bodyPr/>
          <a:p/>
        </p:txBody>
      </p:sp>
      <p:sp>
        <p:nvSpPr>
          <p:cNvPr id="5" name="Text 3"/>
          <p:cNvSpPr/>
          <p:nvPr/>
        </p:nvSpPr>
        <p:spPr>
          <a:xfrm>
            <a:off x="1071880" y="2062485"/>
            <a:ext cx="295802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64F"/>
                </a:solidFill>
                <a:latin typeface="IBM Plex Sans" pitchFamily="34" charset="0"/>
                <a:ea typeface="IBM Plex Sans" pitchFamily="34" charset="-122"/>
                <a:cs typeface="IBM Plex Sans" pitchFamily="34" charset="-120"/>
              </a:rPr>
              <a:t>IN THE BUILD</a:t>
            </a:r>
            <a:endParaRPr lang="en-US" sz="1200" dirty="0"/>
          </a:p>
        </p:txBody>
      </p:sp>
      <p:sp>
        <p:nvSpPr>
          <p:cNvPr id="6" name="Text 4"/>
          <p:cNvSpPr/>
          <p:nvPr/>
        </p:nvSpPr>
        <p:spPr>
          <a:xfrm>
            <a:off x="1071880" y="2364742"/>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For the patient</a:t>
            </a:r>
            <a:endParaRPr lang="en-US" sz="2000" dirty="0"/>
          </a:p>
        </p:txBody>
      </p:sp>
      <p:sp>
        <p:nvSpPr>
          <p:cNvPr id="7" name="Text 5"/>
          <p:cNvSpPr/>
          <p:nvPr/>
        </p:nvSpPr>
        <p:spPr>
          <a:xfrm>
            <a:off x="1071880" y="2758442"/>
            <a:ext cx="29580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Knows what is due today without re-reading her paperwork.</a:t>
            </a:r>
            <a:endParaRPr lang="en-US" sz="1200" dirty="0"/>
          </a:p>
        </p:txBody>
      </p:sp>
      <p:sp>
        <p:nvSpPr>
          <p:cNvPr id="8" name="Text 6"/>
          <p:cNvSpPr/>
          <p:nvPr/>
        </p:nvSpPr>
        <p:spPr>
          <a:xfrm>
            <a:off x="1071880" y="3274058"/>
            <a:ext cx="29580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Hears a reminder before each item, hands free.</a:t>
            </a:r>
            <a:endParaRPr lang="en-US" sz="1200" dirty="0"/>
          </a:p>
        </p:txBody>
      </p:sp>
      <p:sp>
        <p:nvSpPr>
          <p:cNvPr id="9" name="Text 7"/>
          <p:cNvSpPr/>
          <p:nvPr/>
        </p:nvSpPr>
        <p:spPr>
          <a:xfrm>
            <a:off x="1071880" y="3789685"/>
            <a:ext cx="29580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Where the letter is unclear, hears “your letter does not say”, not a guess.</a:t>
            </a:r>
            <a:endParaRPr lang="en-US" sz="1200" dirty="0"/>
          </a:p>
        </p:txBody>
      </p:sp>
      <p:sp>
        <p:nvSpPr>
          <p:cNvPr id="10" name="Shape 8"/>
          <p:cNvSpPr/>
          <p:nvPr/>
        </p:nvSpPr>
        <p:spPr>
          <a:xfrm>
            <a:off x="4409202" y="1806575"/>
            <a:ext cx="3383756" cy="2868930"/>
          </a:xfrm>
          <a:prstGeom prst="roundRect">
            <a:avLst>
              <a:gd name="adj" fmla="val 3431"/>
            </a:avLst>
          </a:prstGeom>
          <a:solidFill>
            <a:srgbClr val="FFFDF8"/>
          </a:solidFill>
          <a:ln w="6350">
            <a:solidFill>
              <a:srgbClr val="E4DCCF"/>
            </a:solidFill>
            <a:prstDash val="solid"/>
          </a:ln>
        </p:spPr>
        <p:txBody>
          <a:bodyPr/>
          <a:p/>
        </p:txBody>
      </p:sp>
      <p:sp>
        <p:nvSpPr>
          <p:cNvPr id="11" name="Text 9"/>
          <p:cNvSpPr/>
          <p:nvPr/>
        </p:nvSpPr>
        <p:spPr>
          <a:xfrm>
            <a:off x="4665107" y="2062485"/>
            <a:ext cx="295810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64F"/>
                </a:solidFill>
                <a:latin typeface="IBM Plex Sans" pitchFamily="34" charset="0"/>
                <a:ea typeface="IBM Plex Sans" pitchFamily="34" charset="-122"/>
                <a:cs typeface="IBM Plex Sans" pitchFamily="34" charset="-120"/>
              </a:rPr>
              <a:t>OUR OWN TESTS</a:t>
            </a:r>
            <a:endParaRPr lang="en-US" sz="1200" dirty="0"/>
          </a:p>
        </p:txBody>
      </p:sp>
      <p:sp>
        <p:nvSpPr>
          <p:cNvPr id="12" name="Text 10"/>
          <p:cNvSpPr/>
          <p:nvPr/>
        </p:nvSpPr>
        <p:spPr>
          <a:xfrm>
            <a:off x="4665107" y="2364742"/>
            <a:ext cx="295810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For safety</a:t>
            </a:r>
            <a:endParaRPr lang="en-US" sz="2000" dirty="0"/>
          </a:p>
        </p:txBody>
      </p:sp>
      <p:sp>
        <p:nvSpPr>
          <p:cNvPr id="13" name="Text 11"/>
          <p:cNvSpPr/>
          <p:nvPr/>
        </p:nvSpPr>
        <p:spPr>
          <a:xfrm>
            <a:off x="4665107" y="2758442"/>
            <a:ext cx="29581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1,269 Python and 143 web tests pass (user-reported final results).</a:t>
            </a:r>
            <a:endParaRPr lang="en-US" sz="1200" dirty="0"/>
          </a:p>
        </p:txBody>
      </p:sp>
      <p:sp>
        <p:nvSpPr>
          <p:cNvPr id="14" name="Text 12"/>
          <p:cNvSpPr/>
          <p:nvPr/>
        </p:nvSpPr>
        <p:spPr>
          <a:xfrm>
            <a:off x="4665107" y="3060700"/>
            <a:ext cx="295810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Agent evaluation: confirm final run numbers before submission; crisis responses are deterministic.</a:t>
            </a:r>
            <a:endParaRPr lang="en-US" sz="1200" dirty="0"/>
          </a:p>
        </p:txBody>
      </p:sp>
      <p:sp>
        <p:nvSpPr>
          <p:cNvPr id="15" name="Text 13"/>
          <p:cNvSpPr/>
          <p:nvPr/>
        </p:nvSpPr>
        <p:spPr>
          <a:xfrm>
            <a:off x="4665107" y="3789685"/>
            <a:ext cx="29581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Open limitation: when only one medicine is due, the system may infer it; explicit confirmation is the next fix.</a:t>
            </a:r>
            <a:endParaRPr lang="en-US" sz="1200" dirty="0"/>
          </a:p>
        </p:txBody>
      </p:sp>
      <p:sp>
        <p:nvSpPr>
          <p:cNvPr id="16" name="Shape 14"/>
          <p:cNvSpPr/>
          <p:nvPr/>
        </p:nvSpPr>
        <p:spPr>
          <a:xfrm>
            <a:off x="7999333" y="1803400"/>
            <a:ext cx="3379867" cy="2875280"/>
          </a:xfrm>
          <a:prstGeom prst="roundRect">
            <a:avLst>
              <a:gd name="adj" fmla="val 3534"/>
            </a:avLst>
          </a:prstGeom>
          <a:solidFill>
            <a:srgbClr val="F1EBE0"/>
          </a:solidFill>
          <a:ln/>
        </p:spPr>
      </p:sp>
      <p:sp>
        <p:nvSpPr>
          <p:cNvPr id="17" name="Text 15"/>
          <p:cNvSpPr/>
          <p:nvPr/>
        </p:nvSpPr>
        <p:spPr>
          <a:xfrm>
            <a:off x="8253333" y="2057400"/>
            <a:ext cx="295802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D5863"/>
                </a:solidFill>
                <a:latin typeface="IBM Plex Sans" pitchFamily="34" charset="0"/>
                <a:ea typeface="IBM Plex Sans" pitchFamily="34" charset="-122"/>
                <a:cs typeface="IBM Plex Sans" pitchFamily="34" charset="-120"/>
              </a:rPr>
              <a:t>EVIDENCE AND NEXT STEP</a:t>
            </a:r>
            <a:endParaRPr lang="en-US" sz="1200" dirty="0"/>
          </a:p>
        </p:txBody>
      </p:sp>
      <p:sp>
        <p:nvSpPr>
          <p:cNvPr id="18" name="Text 16"/>
          <p:cNvSpPr/>
          <p:nvPr/>
        </p:nvSpPr>
        <p:spPr>
          <a:xfrm>
            <a:off x="8253333" y="2359658"/>
            <a:ext cx="29580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For the health system</a:t>
            </a:r>
            <a:endParaRPr lang="en-US" sz="2000" dirty="0"/>
          </a:p>
        </p:txBody>
      </p:sp>
      <p:sp>
        <p:nvSpPr>
          <p:cNvPr id="19" name="Text 17"/>
          <p:cNvSpPr/>
          <p:nvPr/>
        </p:nvSpPr>
        <p:spPr>
          <a:xfrm>
            <a:off x="8253333" y="2753358"/>
            <a:ext cx="295802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In a 2024 study, 50 discharge summaries scored 13% for understandability. AI rewrites scored 81%.</a:t>
            </a:r>
            <a:endParaRPr lang="en-US" sz="1200" dirty="0"/>
          </a:p>
        </p:txBody>
      </p:sp>
      <p:sp>
        <p:nvSpPr>
          <p:cNvPr id="20" name="Text 18"/>
          <p:cNvSpPr/>
          <p:nvPr/>
        </p:nvSpPr>
        <p:spPr>
          <a:xfrm>
            <a:off x="8253333" y="3482342"/>
            <a:ext cx="29580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3.77 million 30-day readmissions of US adults in 2023 show how large that gap is.</a:t>
            </a:r>
            <a:endParaRPr lang="en-US" sz="1200" dirty="0"/>
          </a:p>
        </p:txBody>
      </p:sp>
      <p:sp>
        <p:nvSpPr>
          <p:cNvPr id="21" name="Text 19"/>
          <p:cNvSpPr/>
          <p:nvPr/>
        </p:nvSpPr>
        <p:spPr>
          <a:xfrm>
            <a:off x="8253333" y="3997958"/>
            <a:ext cx="29580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pilot would measure recovery days on track.</a:t>
            </a:r>
            <a:endParaRPr lang="en-US" sz="1200" dirty="0"/>
          </a:p>
        </p:txBody>
      </p:sp>
      <p:sp>
        <p:nvSpPr>
          <p:cNvPr id="22" name="Text 20"/>
          <p:cNvSpPr/>
          <p:nvPr/>
        </p:nvSpPr>
        <p:spPr>
          <a:xfrm>
            <a:off x="812800" y="4932685"/>
            <a:ext cx="981075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22B"/>
                </a:solidFill>
                <a:latin typeface="IBM Plex Sans" pitchFamily="34" charset="0"/>
                <a:ea typeface="IBM Plex Sans" pitchFamily="34" charset="-122"/>
                <a:cs typeface="IBM Plex Sans" pitchFamily="34" charset="-120"/>
              </a:rPr>
              <a:t>We do not claim that AfterWard reduces readmissions. That needs a pilot with real patients.</a:t>
            </a:r>
            <a:endParaRPr lang="en-US" sz="1500" dirty="0"/>
          </a:p>
        </p:txBody>
      </p:sp>
      <p:sp>
        <p:nvSpPr>
          <p:cNvPr id="23" name="Text 21"/>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Sources: AHRQ HCUP Nationwide Readmissions Database 2023; JAMA Network Open, 2024. Test numbers: our own runs, October 2026.</a:t>
            </a:r>
            <a:endParaRPr lang="en-US" sz="1200" dirty="0"/>
          </a:p>
        </p:txBody>
      </p:sp>
      <p:sp>
        <p:nvSpPr>
          <p:cNvPr id="24" name="Shape 22"/>
          <p:cNvSpPr/>
          <p:nvPr/>
        </p:nvSpPr>
        <p:spPr>
          <a:xfrm>
            <a:off x="0" y="0"/>
            <a:ext cx="12192000" cy="508000"/>
          </a:xfrm>
          <a:prstGeom prst="rect">
            <a:avLst/>
          </a:prstGeom>
          <a:solidFill>
            <a:srgbClr val="A51F4C"/>
          </a:solidFill>
          <a:ln/>
        </p:spPr>
      </p:sp>
      <p:pic>
        <p:nvPicPr>
          <p:cNvPr id="25"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26" name="Text 23"/>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27" name="Text 24"/>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28" name="Shape 25"/>
          <p:cNvSpPr/>
          <p:nvPr/>
        </p:nvSpPr>
        <p:spPr>
          <a:xfrm>
            <a:off x="0" y="6502400"/>
            <a:ext cx="12192000" cy="355600"/>
          </a:xfrm>
          <a:prstGeom prst="rect">
            <a:avLst/>
          </a:prstGeom>
          <a:solidFill>
            <a:srgbClr val="A51F4C"/>
          </a:solidFill>
          <a:ln/>
        </p:spPr>
      </p:sp>
      <p:sp>
        <p:nvSpPr>
          <p:cNvPr id="29" name="Text 26"/>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30" name="Text 27"/>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31" name="Rounded Rectangle 30"/>
          <p:cNvSpPr/>
          <p:nvPr/>
        </p:nvSpPr>
        <p:spPr>
          <a:xfrm>
            <a:off x="841248" y="5852160"/>
            <a:ext cx="10561320" cy="329184"/>
          </a:xfrm>
          <a:prstGeom prst="roundRect">
            <a:avLst/>
          </a:prstGeom>
          <a:solidFill>
            <a:srgbClr val="FFE7ED"/>
          </a:solidFill>
          <a:ln w="15240">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wrap="square" rIns="82296" tIns="27432"/>
          <a:lstStyle/>
          <a:p>
            <a:pPr algn="ctr">
              <a:defRPr sz="1000" b="1">
                <a:solidFill>
                  <a:srgbClr val="202B3F"/>
                </a:solidFill>
                <a:latin typeface="Aptos"/>
              </a:defRPr>
            </a:pPr>
            <a:r>
              <a:t>CURRENT RECORDS ≠ CLINICAL OUTCOME · 1,269 Python + 143 web tests (confirm CI).</a:t>
            </a:r>
          </a:p>
        </p:txBody>
      </p:sp>
      <p:sp>
        <p:nvSpPr>
          <p:cNvPr id="32" name="Rectangle 31"/>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4"/>
          <a:stretch>
            <a:fillRect/>
          </a:stretch>
        </p:blipFill>
        <p:spPr>
          <a:xfrm>
            <a:off x="228600" y="102412"/>
            <a:ext cx="292608" cy="292608"/>
          </a:xfrm>
          <a:prstGeom prst="rect">
            <a:avLst/>
          </a:prstGeom>
        </p:spPr>
      </p:pic>
      <p:sp>
        <p:nvSpPr>
          <p:cNvPr id="34" name="TextBox 33"/>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35" name="TextBox 34"/>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36" name="Rectangle 35"/>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38" name="TextBox 37"/>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IMPACT AND GROWTH: HOW WE WILL MEASURE SUCCESS</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North Star metric</a:t>
            </a:r>
            <a:endParaRPr lang="en-US" sz="3200" dirty="0"/>
          </a:p>
        </p:txBody>
      </p:sp>
      <p:sp>
        <p:nvSpPr>
          <p:cNvPr id="4" name="Shape 2"/>
          <p:cNvSpPr/>
          <p:nvPr/>
        </p:nvSpPr>
        <p:spPr>
          <a:xfrm>
            <a:off x="812800" y="1778000"/>
            <a:ext cx="3556000" cy="3505200"/>
          </a:xfrm>
          <a:prstGeom prst="roundRect">
            <a:avLst>
              <a:gd name="adj" fmla="val 2899"/>
            </a:avLst>
          </a:prstGeom>
          <a:solidFill>
            <a:srgbClr val="17222B"/>
          </a:solidFill>
          <a:ln/>
        </p:spPr>
      </p:sp>
      <p:sp>
        <p:nvSpPr>
          <p:cNvPr id="5" name="Text 3"/>
          <p:cNvSpPr/>
          <p:nvPr/>
        </p:nvSpPr>
        <p:spPr>
          <a:xfrm>
            <a:off x="1066800" y="2032000"/>
            <a:ext cx="31394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B8"/>
                </a:solidFill>
                <a:latin typeface="IBM Plex Sans" pitchFamily="34" charset="0"/>
                <a:ea typeface="IBM Plex Sans" pitchFamily="34" charset="-122"/>
                <a:cs typeface="IBM Plex Sans" pitchFamily="34" charset="-120"/>
              </a:rPr>
              <a:t>OUR NORTH STAR</a:t>
            </a:r>
            <a:endParaRPr lang="en-US" sz="1200" dirty="0"/>
          </a:p>
        </p:txBody>
      </p:sp>
      <p:sp>
        <p:nvSpPr>
          <p:cNvPr id="6" name="Text 4"/>
          <p:cNvSpPr/>
          <p:nvPr/>
        </p:nvSpPr>
        <p:spPr>
          <a:xfrm>
            <a:off x="1066800" y="2346958"/>
            <a:ext cx="3139440" cy="695960"/>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F6F1E8"/>
                </a:solidFill>
                <a:latin typeface="Source Serif 4" pitchFamily="18" charset="0"/>
                <a:ea typeface="Source Serif 4" pitchFamily="18" charset="-122"/>
                <a:cs typeface="Source Serif 4" pitchFamily="18" charset="-120"/>
              </a:rPr>
              <a:t>Recovery days on track</a:t>
            </a:r>
            <a:endParaRPr lang="en-US" sz="2400" dirty="0"/>
          </a:p>
        </p:txBody>
      </p:sp>
      <p:sp>
        <p:nvSpPr>
          <p:cNvPr id="7" name="Text 5"/>
          <p:cNvSpPr/>
          <p:nvPr/>
        </p:nvSpPr>
        <p:spPr>
          <a:xfrm>
            <a:off x="1066800" y="3119127"/>
            <a:ext cx="31394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1E8"/>
                </a:solidFill>
                <a:latin typeface="IBM Plex Sans" pitchFamily="34" charset="0"/>
                <a:ea typeface="IBM Plex Sans" pitchFamily="34" charset="-122"/>
                <a:cs typeface="IBM Plex Sans" pitchFamily="34" charset="-120"/>
              </a:rPr>
              <a:t>The share of a patient's days where every item her letter set for that day is recorded as done.</a:t>
            </a:r>
            <a:endParaRPr lang="en-US" sz="1200" dirty="0"/>
          </a:p>
        </p:txBody>
      </p:sp>
      <p:sp>
        <p:nvSpPr>
          <p:cNvPr id="8" name="Text 6"/>
          <p:cNvSpPr/>
          <p:nvPr/>
        </p:nvSpPr>
        <p:spPr>
          <a:xfrm>
            <a:off x="1066800" y="3860800"/>
            <a:ext cx="31394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CB"/>
                </a:solidFill>
                <a:latin typeface="IBM Plex Sans" pitchFamily="34" charset="0"/>
                <a:ea typeface="IBM Plex Sans" pitchFamily="34" charset="-122"/>
                <a:cs typeface="IBM Plex Sans" pitchFamily="34" charset="-120"/>
              </a:rPr>
              <a:t>It is the value she feels: today's plan, done. Our weekly recovery view already shows days completed.</a:t>
            </a:r>
            <a:endParaRPr lang="en-US" sz="1200" dirty="0"/>
          </a:p>
        </p:txBody>
      </p:sp>
      <p:sp>
        <p:nvSpPr>
          <p:cNvPr id="9" name="Text 7"/>
          <p:cNvSpPr/>
          <p:nvPr/>
        </p:nvSpPr>
        <p:spPr>
          <a:xfrm>
            <a:off x="1066800" y="4602485"/>
            <a:ext cx="31394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CB"/>
                </a:solidFill>
                <a:latin typeface="IBM Plex Sans" pitchFamily="34" charset="0"/>
                <a:ea typeface="IBM Plex Sans" pitchFamily="34" charset="-122"/>
                <a:cs typeface="IBM Plex Sans" pitchFamily="34" charset="-120"/>
              </a:rPr>
              <a:t>A missing record counts as unknown, not missed. It is not a clinical score.</a:t>
            </a:r>
            <a:endParaRPr lang="en-US" sz="1200" dirty="0"/>
          </a:p>
        </p:txBody>
      </p:sp>
      <p:sp>
        <p:nvSpPr>
          <p:cNvPr id="10" name="Shape 8"/>
          <p:cNvSpPr/>
          <p:nvPr/>
        </p:nvSpPr>
        <p:spPr>
          <a:xfrm>
            <a:off x="4572000" y="1778000"/>
            <a:ext cx="6807200" cy="2748280"/>
          </a:xfrm>
          <a:prstGeom prst="rect">
            <a:avLst/>
          </a:prstGeom>
          <a:solidFill>
            <a:srgbClr val="FFFDF8"/>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82160" y="1788160"/>
          <a:ext cx="6797040" cy="2738120"/>
        </p:xfrm>
        <a:graphic>
          <a:graphicData uri="http://schemas.openxmlformats.org/drawingml/2006/table">
            <a:tbl>
              <a:tblPr/>
              <a:tblGrid>
                <a:gridCol w="1019556"/>
                <a:gridCol w="1903171"/>
                <a:gridCol w="2378964"/>
                <a:gridCol w="1495349"/>
              </a:tblGrid>
              <a:tr h="330200">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Kind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Metric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How we measure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r>
              <a:tr h="330200">
                <a:tc>
                  <a:txBody>
                    <a:bodyPr/>
                    <a:lstStyle/>
                    <a:p>
                      <a:pPr indent="0" marL="0">
                        <a:lnSpc>
                          <a:spcPts val="1680"/>
                        </a:lnSpc>
                        <a:buNone/>
                      </a:pPr>
                      <a:r>
                        <a:rPr lang="en-US" sz="1200" dirty="0">
                          <a:solidFill>
                            <a:srgbClr val="1F5E8C"/>
                          </a:solidFill>
                          <a:latin typeface="IBM Plex Sans" pitchFamily="34" charset="0"/>
                          <a:ea typeface="IBM Plex Sans" pitchFamily="34" charset="-122"/>
                          <a:cs typeface="IBM Plex Sans" pitchFamily="34" charset="-120"/>
                        </a:rPr>
                        <a:t>Input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Letter to ready plan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Time from upload to plan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About 15 seconds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3560">
                <a:tc>
                  <a:txBody>
                    <a:bodyPr/>
                    <a:lstStyle/>
                    <a:p>
                      <a:pPr indent="0" marL="0">
                        <a:lnSpc>
                          <a:spcPts val="1680"/>
                        </a:lnSpc>
                        <a:buNone/>
                      </a:pPr>
                      <a:r>
                        <a:rPr lang="en-US" sz="1200" dirty="0">
                          <a:solidFill>
                            <a:srgbClr val="1F5E8C"/>
                          </a:solidFill>
                          <a:latin typeface="IBM Plex Sans" pitchFamily="34" charset="0"/>
                          <a:ea typeface="IBM Plex Sans" pitchFamily="34" charset="-122"/>
                          <a:cs typeface="IBM Plex Sans" pitchFamily="34" charset="-120"/>
                        </a:rPr>
                        <a:t>Input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Reminders acted 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Item done within 2 hours of its reminder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In the pilot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3560">
                <a:tc>
                  <a:txBody>
                    <a:bodyPr/>
                    <a:lstStyle/>
                    <a:p>
                      <a:pPr indent="0" marL="0">
                        <a:lnSpc>
                          <a:spcPts val="1680"/>
                        </a:lnSpc>
                        <a:buNone/>
                      </a:pPr>
                      <a:r>
                        <a:rPr lang="en-US" sz="1200" dirty="0">
                          <a:solidFill>
                            <a:srgbClr val="1F5E8C"/>
                          </a:solidFill>
                          <a:latin typeface="IBM Plex Sans" pitchFamily="34" charset="0"/>
                          <a:ea typeface="IBM Plex Sans" pitchFamily="34" charset="-122"/>
                          <a:cs typeface="IBM Plex Sans" pitchFamily="34" charset="-120"/>
                        </a:rPr>
                        <a:t>Input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Answers from her letter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Replies backed by a letter search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Enforced in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Guardrail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Crisis replies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Fixed reply before any 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3 of 3 tests 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8A5A00"/>
                          </a:solidFill>
                          <a:latin typeface="IBM Plex Sans" pitchFamily="34" charset="0"/>
                          <a:ea typeface="IBM Plex Sans" pitchFamily="34" charset="-122"/>
                          <a:cs typeface="IBM Plex Sans" pitchFamily="34" charset="-120"/>
                        </a:rPr>
                        <a:t>Guardrail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Tool errors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Alarm above 3 in 5 minutes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Alarm live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B3264F"/>
                          </a:solidFill>
                          <a:latin typeface="IBM Plex Sans" pitchFamily="34" charset="0"/>
                          <a:ea typeface="IBM Plex Sans" pitchFamily="34" charset="-122"/>
                          <a:cs typeface="IBM Plex Sans" pitchFamily="34" charset="-120"/>
                        </a:rPr>
                        <a:t>Outcome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30-day readmissions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Against usual care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Pilot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12" name="Text 9"/>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Inputs move the North Star; guardrails must never get worse. “Today”: our own runs on synthetic letters, October 2026.</a:t>
            </a:r>
            <a:endParaRPr lang="en-US" sz="1200" dirty="0"/>
          </a:p>
        </p:txBody>
      </p:sp>
      <p:sp>
        <p:nvSpPr>
          <p:cNvPr id="13" name="Shape 10"/>
          <p:cNvSpPr/>
          <p:nvPr/>
        </p:nvSpPr>
        <p:spPr>
          <a:xfrm>
            <a:off x="0" y="0"/>
            <a:ext cx="12192000" cy="508000"/>
          </a:xfrm>
          <a:prstGeom prst="rect">
            <a:avLst/>
          </a:prstGeom>
          <a:solidFill>
            <a:srgbClr val="A51F4C"/>
          </a:solidFill>
          <a:ln/>
        </p:spPr>
      </p:sp>
      <p:pic>
        <p:nvPicPr>
          <p:cNvPr id="14"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15" name="Text 11"/>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16" name="Text 12"/>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17" name="Shape 13"/>
          <p:cNvSpPr/>
          <p:nvPr/>
        </p:nvSpPr>
        <p:spPr>
          <a:xfrm>
            <a:off x="0" y="6502400"/>
            <a:ext cx="12192000" cy="355600"/>
          </a:xfrm>
          <a:prstGeom prst="rect">
            <a:avLst/>
          </a:prstGeom>
          <a:solidFill>
            <a:srgbClr val="A51F4C"/>
          </a:solidFill>
          <a:ln/>
        </p:spPr>
      </p:sp>
      <p:sp>
        <p:nvSpPr>
          <p:cNvPr id="18" name="Text 14"/>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9" name="Text 15"/>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20" name="Rectangle 19"/>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4"/>
          <a:stretch>
            <a:fillRect/>
          </a:stretch>
        </p:blipFill>
        <p:spPr>
          <a:xfrm>
            <a:off x="228600" y="102412"/>
            <a:ext cx="292608" cy="292608"/>
          </a:xfrm>
          <a:prstGeom prst="rect">
            <a:avLst/>
          </a:prstGeom>
        </p:spPr>
      </p:pic>
      <p:sp>
        <p:nvSpPr>
          <p:cNvPr id="22" name="TextBox 21"/>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23" name="TextBox 22"/>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24" name="Rectangle 23"/>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26" name="TextBox 25"/>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IMPACT AND GROWTH: A PLAN, NOT YET TESTED</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Go-to-market</a:t>
            </a:r>
            <a:endParaRPr lang="en-US" sz="3200" dirty="0"/>
          </a:p>
        </p:txBody>
      </p:sp>
      <p:sp>
        <p:nvSpPr>
          <p:cNvPr id="4" name="Shape 2"/>
          <p:cNvSpPr/>
          <p:nvPr/>
        </p:nvSpPr>
        <p:spPr>
          <a:xfrm>
            <a:off x="815975" y="1806575"/>
            <a:ext cx="3380264" cy="2035810"/>
          </a:xfrm>
          <a:prstGeom prst="roundRect">
            <a:avLst>
              <a:gd name="adj" fmla="val 4835"/>
            </a:avLst>
          </a:prstGeom>
          <a:solidFill>
            <a:srgbClr val="FFFDF8"/>
          </a:solidFill>
          <a:ln w="6350">
            <a:solidFill>
              <a:srgbClr val="E4DCCF"/>
            </a:solidFill>
            <a:prstDash val="solid"/>
          </a:ln>
        </p:spPr>
        <p:txBody>
          <a:bodyPr/>
          <a:p/>
        </p:txBody>
      </p:sp>
      <p:sp>
        <p:nvSpPr>
          <p:cNvPr id="5" name="Text 3"/>
          <p:cNvSpPr/>
          <p:nvPr/>
        </p:nvSpPr>
        <p:spPr>
          <a:xfrm>
            <a:off x="1071880" y="2062485"/>
            <a:ext cx="29545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64F"/>
                </a:solidFill>
                <a:latin typeface="IBM Plex Sans" pitchFamily="34" charset="0"/>
                <a:ea typeface="IBM Plex Sans" pitchFamily="34" charset="-122"/>
                <a:cs typeface="IBM Plex Sans" pitchFamily="34" charset="-120"/>
              </a:rPr>
              <a:t>NOW</a:t>
            </a:r>
            <a:endParaRPr lang="en-US" sz="1200" dirty="0"/>
          </a:p>
        </p:txBody>
      </p:sp>
      <p:sp>
        <p:nvSpPr>
          <p:cNvPr id="6" name="Text 4"/>
          <p:cNvSpPr/>
          <p:nvPr/>
        </p:nvSpPr>
        <p:spPr>
          <a:xfrm>
            <a:off x="1071880" y="2352042"/>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Prove</a:t>
            </a:r>
            <a:endParaRPr lang="en-US" sz="2000" dirty="0"/>
          </a:p>
        </p:txBody>
      </p:sp>
      <p:sp>
        <p:nvSpPr>
          <p:cNvPr id="7" name="Text 5"/>
          <p:cNvSpPr/>
          <p:nvPr/>
        </p:nvSpPr>
        <p:spPr>
          <a:xfrm>
            <a:off x="1071880" y="2733042"/>
            <a:ext cx="295450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PLANNED, NOT COMPLETED: 3–5 interviews (nurse, carer, recently discharged patient), letter evaluation, clinician safety review.</a:t>
            </a:r>
            <a:endParaRPr lang="en-US" sz="1200" dirty="0"/>
          </a:p>
        </p:txBody>
      </p:sp>
      <p:sp>
        <p:nvSpPr>
          <p:cNvPr id="8" name="Shape 6"/>
          <p:cNvSpPr/>
          <p:nvPr/>
        </p:nvSpPr>
        <p:spPr>
          <a:xfrm>
            <a:off x="4405789" y="1806575"/>
            <a:ext cx="3380343" cy="2035810"/>
          </a:xfrm>
          <a:prstGeom prst="roundRect">
            <a:avLst>
              <a:gd name="adj" fmla="val 4835"/>
            </a:avLst>
          </a:prstGeom>
          <a:solidFill>
            <a:srgbClr val="FFFDF8"/>
          </a:solidFill>
          <a:ln w="6350">
            <a:solidFill>
              <a:srgbClr val="E4DCCF"/>
            </a:solidFill>
            <a:prstDash val="solid"/>
          </a:ln>
        </p:spPr>
      </p:sp>
      <p:sp>
        <p:nvSpPr>
          <p:cNvPr id="9" name="Text 7"/>
          <p:cNvSpPr/>
          <p:nvPr/>
        </p:nvSpPr>
        <p:spPr>
          <a:xfrm>
            <a:off x="4661694" y="2062485"/>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64F"/>
                </a:solidFill>
                <a:latin typeface="IBM Plex Sans" pitchFamily="34" charset="0"/>
                <a:ea typeface="IBM Plex Sans" pitchFamily="34" charset="-122"/>
                <a:cs typeface="IBM Plex Sans" pitchFamily="34" charset="-120"/>
              </a:rPr>
              <a:t>NEXT</a:t>
            </a:r>
            <a:endParaRPr lang="en-US" sz="1200" dirty="0"/>
          </a:p>
        </p:txBody>
      </p:sp>
      <p:sp>
        <p:nvSpPr>
          <p:cNvPr id="10" name="Text 8"/>
          <p:cNvSpPr/>
          <p:nvPr/>
        </p:nvSpPr>
        <p:spPr>
          <a:xfrm>
            <a:off x="4661694" y="2352042"/>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At home</a:t>
            </a:r>
            <a:endParaRPr lang="en-US" sz="2000" dirty="0"/>
          </a:p>
        </p:txBody>
      </p:sp>
      <p:sp>
        <p:nvSpPr>
          <p:cNvPr id="11" name="Text 9"/>
          <p:cNvSpPr/>
          <p:nvPr/>
        </p:nvSpPr>
        <p:spPr>
          <a:xfrm>
            <a:off x="4661694" y="2733042"/>
            <a:ext cx="2954589"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The patient or a family member shares the letter. Secure sign-in and consent. An Alexa+ add-on, when the toolkit opens to developers.</a:t>
            </a:r>
            <a:endParaRPr lang="en-US" sz="1200" dirty="0"/>
          </a:p>
        </p:txBody>
      </p:sp>
      <p:sp>
        <p:nvSpPr>
          <p:cNvPr id="12" name="Shape 10"/>
          <p:cNvSpPr/>
          <p:nvPr/>
        </p:nvSpPr>
        <p:spPr>
          <a:xfrm>
            <a:off x="7995682" y="1806575"/>
            <a:ext cx="3380343" cy="2035810"/>
          </a:xfrm>
          <a:prstGeom prst="roundRect">
            <a:avLst>
              <a:gd name="adj" fmla="val 4835"/>
            </a:avLst>
          </a:prstGeom>
          <a:solidFill>
            <a:srgbClr val="FFFDF8"/>
          </a:solidFill>
          <a:ln w="6350">
            <a:solidFill>
              <a:srgbClr val="E4DCCF"/>
            </a:solidFill>
            <a:prstDash val="solid"/>
          </a:ln>
        </p:spPr>
      </p:sp>
      <p:sp>
        <p:nvSpPr>
          <p:cNvPr id="13" name="Text 11"/>
          <p:cNvSpPr/>
          <p:nvPr/>
        </p:nvSpPr>
        <p:spPr>
          <a:xfrm>
            <a:off x="8251587" y="2062485"/>
            <a:ext cx="295458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64F"/>
                </a:solidFill>
                <a:latin typeface="IBM Plex Sans" pitchFamily="34" charset="0"/>
                <a:ea typeface="IBM Plex Sans" pitchFamily="34" charset="-122"/>
                <a:cs typeface="IBM Plex Sans" pitchFamily="34" charset="-120"/>
              </a:rPr>
              <a:t>LATER</a:t>
            </a:r>
            <a:endParaRPr lang="en-US" sz="1200" dirty="0"/>
          </a:p>
        </p:txBody>
      </p:sp>
      <p:sp>
        <p:nvSpPr>
          <p:cNvPr id="14" name="Text 12"/>
          <p:cNvSpPr/>
          <p:nvPr/>
        </p:nvSpPr>
        <p:spPr>
          <a:xfrm>
            <a:off x="8251587" y="2352042"/>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With hospitals</a:t>
            </a:r>
            <a:endParaRPr lang="en-US" sz="2000" dirty="0"/>
          </a:p>
        </p:txBody>
      </p:sp>
      <p:sp>
        <p:nvSpPr>
          <p:cNvPr id="15" name="Text 13"/>
          <p:cNvSpPr/>
          <p:nvPr/>
        </p:nvSpPr>
        <p:spPr>
          <a:xfrm>
            <a:off x="8251587" y="2733042"/>
            <a:ext cx="2954589"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pilot with one orthopaedic unit measures recovery days on track. Then more procedures: the open-source checks are not tied to one operation.</a:t>
            </a:r>
            <a:endParaRPr lang="en-US" sz="1200" dirty="0"/>
          </a:p>
        </p:txBody>
      </p:sp>
      <p:sp>
        <p:nvSpPr>
          <p:cNvPr id="16" name="Shape 14"/>
          <p:cNvSpPr/>
          <p:nvPr/>
        </p:nvSpPr>
        <p:spPr>
          <a:xfrm>
            <a:off x="812800" y="4105908"/>
            <a:ext cx="2489200" cy="0"/>
          </a:xfrm>
          <a:prstGeom prst="line">
            <a:avLst/>
          </a:prstGeom>
          <a:noFill/>
          <a:ln w="12700">
            <a:solidFill>
              <a:srgbClr val="17222B"/>
            </a:solidFill>
            <a:prstDash val="solid"/>
          </a:ln>
        </p:spPr>
      </p:sp>
      <p:sp>
        <p:nvSpPr>
          <p:cNvPr id="17" name="Text 15"/>
          <p:cNvSpPr/>
          <p:nvPr/>
        </p:nvSpPr>
        <p:spPr>
          <a:xfrm>
            <a:off x="812800" y="4236727"/>
            <a:ext cx="25638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First users</a:t>
            </a:r>
            <a:endParaRPr lang="en-US" sz="1200" dirty="0"/>
          </a:p>
        </p:txBody>
      </p:sp>
      <p:sp>
        <p:nvSpPr>
          <p:cNvPr id="18" name="Text 16"/>
          <p:cNvSpPr/>
          <p:nvPr/>
        </p:nvSpPr>
        <p:spPr>
          <a:xfrm>
            <a:off x="812800" y="4500885"/>
            <a:ext cx="256387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People at home after planned surgery, and the family who help them</a:t>
            </a:r>
            <a:endParaRPr lang="en-US" sz="1200" dirty="0"/>
          </a:p>
        </p:txBody>
      </p:sp>
      <p:sp>
        <p:nvSpPr>
          <p:cNvPr id="19" name="Shape 17"/>
          <p:cNvSpPr/>
          <p:nvPr/>
        </p:nvSpPr>
        <p:spPr>
          <a:xfrm>
            <a:off x="3505200" y="4105908"/>
            <a:ext cx="2489200" cy="0"/>
          </a:xfrm>
          <a:prstGeom prst="line">
            <a:avLst/>
          </a:prstGeom>
          <a:noFill/>
          <a:ln w="12700">
            <a:solidFill>
              <a:srgbClr val="17222B"/>
            </a:solidFill>
            <a:prstDash val="solid"/>
          </a:ln>
        </p:spPr>
      </p:sp>
      <p:sp>
        <p:nvSpPr>
          <p:cNvPr id="20" name="Text 18"/>
          <p:cNvSpPr/>
          <p:nvPr/>
        </p:nvSpPr>
        <p:spPr>
          <a:xfrm>
            <a:off x="3505200" y="4236727"/>
            <a:ext cx="25638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Who pays</a:t>
            </a:r>
            <a:endParaRPr lang="en-US" sz="1200" dirty="0"/>
          </a:p>
        </p:txBody>
      </p:sp>
      <p:sp>
        <p:nvSpPr>
          <p:cNvPr id="21" name="Text 19"/>
          <p:cNvSpPr/>
          <p:nvPr/>
        </p:nvSpPr>
        <p:spPr>
          <a:xfrm>
            <a:off x="3505200" y="4500885"/>
            <a:ext cx="256387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An untested hypothesis: free for the patient, paid by a hospital or insurer</a:t>
            </a:r>
            <a:endParaRPr lang="en-US" sz="1200" dirty="0"/>
          </a:p>
        </p:txBody>
      </p:sp>
      <p:sp>
        <p:nvSpPr>
          <p:cNvPr id="22" name="Shape 20"/>
          <p:cNvSpPr/>
          <p:nvPr/>
        </p:nvSpPr>
        <p:spPr>
          <a:xfrm>
            <a:off x="6197600" y="4105908"/>
            <a:ext cx="2489200" cy="0"/>
          </a:xfrm>
          <a:prstGeom prst="line">
            <a:avLst/>
          </a:prstGeom>
          <a:noFill/>
          <a:ln w="12700">
            <a:solidFill>
              <a:srgbClr val="17222B"/>
            </a:solidFill>
            <a:prstDash val="solid"/>
          </a:ln>
        </p:spPr>
      </p:sp>
      <p:sp>
        <p:nvSpPr>
          <p:cNvPr id="23" name="Text 21"/>
          <p:cNvSpPr/>
          <p:nvPr/>
        </p:nvSpPr>
        <p:spPr>
          <a:xfrm>
            <a:off x="6197600" y="4236727"/>
            <a:ext cx="25638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Channels</a:t>
            </a:r>
            <a:endParaRPr lang="en-US" sz="1200" dirty="0"/>
          </a:p>
        </p:txBody>
      </p:sp>
      <p:sp>
        <p:nvSpPr>
          <p:cNvPr id="24" name="Text 22"/>
          <p:cNvSpPr/>
          <p:nvPr/>
        </p:nvSpPr>
        <p:spPr>
          <a:xfrm>
            <a:off x="6197600" y="4500885"/>
            <a:ext cx="256387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Alexa+ at home, discharge teams, and developers through the open-source checks</a:t>
            </a:r>
            <a:endParaRPr lang="en-US" sz="1200" dirty="0"/>
          </a:p>
        </p:txBody>
      </p:sp>
      <p:sp>
        <p:nvSpPr>
          <p:cNvPr id="25" name="Shape 23"/>
          <p:cNvSpPr/>
          <p:nvPr/>
        </p:nvSpPr>
        <p:spPr>
          <a:xfrm>
            <a:off x="8890000" y="4105908"/>
            <a:ext cx="2489200" cy="0"/>
          </a:xfrm>
          <a:prstGeom prst="line">
            <a:avLst/>
          </a:prstGeom>
          <a:noFill/>
          <a:ln w="12700">
            <a:solidFill>
              <a:srgbClr val="17222B"/>
            </a:solidFill>
            <a:prstDash val="solid"/>
          </a:ln>
        </p:spPr>
      </p:sp>
      <p:sp>
        <p:nvSpPr>
          <p:cNvPr id="26" name="Text 24"/>
          <p:cNvSpPr/>
          <p:nvPr/>
        </p:nvSpPr>
        <p:spPr>
          <a:xfrm>
            <a:off x="8890000" y="4236727"/>
            <a:ext cx="25638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Why AfterWard</a:t>
            </a:r>
            <a:endParaRPr lang="en-US" sz="1200" dirty="0"/>
          </a:p>
        </p:txBody>
      </p:sp>
      <p:sp>
        <p:nvSpPr>
          <p:cNvPr id="27" name="Text 25"/>
          <p:cNvSpPr/>
          <p:nvPr/>
        </p:nvSpPr>
        <p:spPr>
          <a:xfrm>
            <a:off x="8890000" y="4500885"/>
            <a:ext cx="256387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plan built from the letter itself, that knows what is done and never guesses</a:t>
            </a:r>
            <a:endParaRPr lang="en-US" sz="1200" dirty="0"/>
          </a:p>
        </p:txBody>
      </p:sp>
      <p:sp>
        <p:nvSpPr>
          <p:cNvPr id="28" name="Shape 26"/>
          <p:cNvSpPr/>
          <p:nvPr/>
        </p:nvSpPr>
        <p:spPr>
          <a:xfrm>
            <a:off x="0" y="0"/>
            <a:ext cx="12192000" cy="508000"/>
          </a:xfrm>
          <a:prstGeom prst="rect">
            <a:avLst/>
          </a:prstGeom>
          <a:solidFill>
            <a:srgbClr val="A51F4C"/>
          </a:solidFill>
          <a:ln/>
        </p:spPr>
      </p:sp>
      <p:pic>
        <p:nvPicPr>
          <p:cNvPr id="29"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30" name="Text 27"/>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31" name="Text 28"/>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32" name="Shape 29"/>
          <p:cNvSpPr/>
          <p:nvPr/>
        </p:nvSpPr>
        <p:spPr>
          <a:xfrm>
            <a:off x="0" y="6502400"/>
            <a:ext cx="12192000" cy="355600"/>
          </a:xfrm>
          <a:prstGeom prst="rect">
            <a:avLst/>
          </a:prstGeom>
          <a:solidFill>
            <a:srgbClr val="A51F4C"/>
          </a:solidFill>
          <a:ln/>
        </p:spPr>
      </p:sp>
      <p:sp>
        <p:nvSpPr>
          <p:cNvPr id="33" name="Text 30"/>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34" name="Text 31"/>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35" name="Rounded Rectangle 34"/>
          <p:cNvSpPr/>
          <p:nvPr/>
        </p:nvSpPr>
        <p:spPr>
          <a:xfrm>
            <a:off x="832104" y="5888736"/>
            <a:ext cx="10561320" cy="338328"/>
          </a:xfrm>
          <a:prstGeom prst="roundRect">
            <a:avLst/>
          </a:prstGeom>
          <a:solidFill>
            <a:srgbClr val="FFE7ED"/>
          </a:solidFill>
          <a:ln w="15240">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wrap="square" rIns="82296" tIns="27432"/>
          <a:lstStyle/>
          <a:p>
            <a:pPr algn="ctr">
              <a:defRPr sz="1000" b="1">
                <a:solidFill>
                  <a:srgbClr val="202B3F"/>
                </a:solidFill>
                <a:latin typeface="Aptos"/>
              </a:defRPr>
            </a:pPr>
            <a:r>
              <a:t>Interviews, clinician review and clinical pilot are FUTURE PLANS; none claimed completed.</a:t>
            </a:r>
          </a:p>
        </p:txBody>
      </p:sp>
      <p:sp>
        <p:nvSpPr>
          <p:cNvPr id="36" name="Rectangle 35"/>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image.png"/>
          <p:cNvPicPr>
            <a:picLocks noChangeAspect="1"/>
          </p:cNvPicPr>
          <p:nvPr/>
        </p:nvPicPr>
        <p:blipFill>
          <a:blip r:embed="rId4"/>
          <a:stretch>
            <a:fillRect/>
          </a:stretch>
        </p:blipFill>
        <p:spPr>
          <a:xfrm>
            <a:off x="228600" y="102412"/>
            <a:ext cx="292608" cy="292608"/>
          </a:xfrm>
          <a:prstGeom prst="rect">
            <a:avLst/>
          </a:prstGeom>
        </p:spPr>
      </p:pic>
      <p:sp>
        <p:nvSpPr>
          <p:cNvPr id="38" name="TextBox 37"/>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39" name="TextBox 38"/>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40" name="Rectangle 39"/>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42" name="TextBox 41"/>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IMPACT AND GROWTH</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Roadmap and global expansion</a:t>
            </a:r>
            <a:endParaRPr lang="en-US" sz="3200" dirty="0"/>
          </a:p>
        </p:txBody>
      </p:sp>
      <p:sp>
        <p:nvSpPr>
          <p:cNvPr id="4" name="Shape 2"/>
          <p:cNvSpPr/>
          <p:nvPr/>
        </p:nvSpPr>
        <p:spPr>
          <a:xfrm>
            <a:off x="819150" y="1809750"/>
            <a:ext cx="2484120" cy="2959100"/>
          </a:xfrm>
          <a:prstGeom prst="roundRect">
            <a:avLst>
              <a:gd name="adj" fmla="val 3834"/>
            </a:avLst>
          </a:prstGeom>
          <a:solidFill>
            <a:srgbClr val="FBE4EA"/>
          </a:solidFill>
          <a:ln w="12700">
            <a:solidFill>
              <a:srgbClr val="B3264F"/>
            </a:solidFill>
            <a:prstDash val="solid"/>
          </a:ln>
        </p:spPr>
      </p:sp>
      <p:sp>
        <p:nvSpPr>
          <p:cNvPr id="5" name="Text 3"/>
          <p:cNvSpPr/>
          <p:nvPr/>
        </p:nvSpPr>
        <p:spPr>
          <a:xfrm>
            <a:off x="1000760" y="1991358"/>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Now</a:t>
            </a:r>
            <a:endParaRPr lang="en-US" sz="2000" dirty="0"/>
          </a:p>
        </p:txBody>
      </p:sp>
      <p:sp>
        <p:nvSpPr>
          <p:cNvPr id="6" name="Text 4"/>
          <p:cNvSpPr/>
          <p:nvPr/>
        </p:nvSpPr>
        <p:spPr>
          <a:xfrm>
            <a:off x="1000760" y="2372358"/>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3264F"/>
                </a:solidFill>
                <a:latin typeface="IBM Plex Sans" pitchFamily="34" charset="0"/>
                <a:ea typeface="IBM Plex Sans" pitchFamily="34" charset="-122"/>
                <a:cs typeface="IBM Plex Sans" pitchFamily="34" charset="-120"/>
              </a:rPr>
              <a:t>Hackathon MVP</a:t>
            </a:r>
            <a:endParaRPr lang="en-US" sz="1200" dirty="0"/>
          </a:p>
        </p:txBody>
      </p:sp>
      <p:sp>
        <p:nvSpPr>
          <p:cNvPr id="7" name="Text 5"/>
          <p:cNvSpPr/>
          <p:nvPr/>
        </p:nvSpPr>
        <p:spPr>
          <a:xfrm>
            <a:off x="1000760" y="2661927"/>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Letter to daily plan</a:t>
            </a:r>
            <a:endParaRPr lang="en-US" sz="1200" dirty="0"/>
          </a:p>
        </p:txBody>
      </p:sp>
      <p:sp>
        <p:nvSpPr>
          <p:cNvPr id="8" name="Text 6"/>
          <p:cNvSpPr/>
          <p:nvPr/>
        </p:nvSpPr>
        <p:spPr>
          <a:xfrm>
            <a:off x="1000760" y="2951485"/>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Open-source safety checks</a:t>
            </a:r>
            <a:endParaRPr lang="en-US" sz="1200" dirty="0"/>
          </a:p>
        </p:txBody>
      </p:sp>
      <p:sp>
        <p:nvSpPr>
          <p:cNvPr id="9" name="Text 7"/>
          <p:cNvSpPr/>
          <p:nvPr/>
        </p:nvSpPr>
        <p:spPr>
          <a:xfrm>
            <a:off x="1000760" y="3241042"/>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9 MCP tools, 2 prompts, an MCP App</a:t>
            </a:r>
            <a:endParaRPr lang="en-US" sz="1200" dirty="0"/>
          </a:p>
        </p:txBody>
      </p:sp>
      <p:sp>
        <p:nvSpPr>
          <p:cNvPr id="10" name="Text 8"/>
          <p:cNvSpPr/>
          <p:nvPr/>
        </p:nvSpPr>
        <p:spPr>
          <a:xfrm>
            <a:off x="1000760" y="3743958"/>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Scheduled reminders</a:t>
            </a:r>
            <a:endParaRPr lang="en-US" sz="1200" dirty="0"/>
          </a:p>
        </p:txBody>
      </p:sp>
      <p:sp>
        <p:nvSpPr>
          <p:cNvPr id="11" name="Text 9"/>
          <p:cNvSpPr/>
          <p:nvPr/>
        </p:nvSpPr>
        <p:spPr>
          <a:xfrm>
            <a:off x="1000760" y="4033527"/>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Simulated Alexa+ and a classic Alexa skill</a:t>
            </a:r>
            <a:endParaRPr lang="en-US" sz="1200" dirty="0"/>
          </a:p>
        </p:txBody>
      </p:sp>
      <p:sp>
        <p:nvSpPr>
          <p:cNvPr id="12" name="Shape 10"/>
          <p:cNvSpPr/>
          <p:nvPr/>
        </p:nvSpPr>
        <p:spPr>
          <a:xfrm>
            <a:off x="3515995" y="1806575"/>
            <a:ext cx="2480310" cy="2965450"/>
          </a:xfrm>
          <a:prstGeom prst="roundRect">
            <a:avLst>
              <a:gd name="adj" fmla="val 3968"/>
            </a:avLst>
          </a:prstGeom>
          <a:solidFill>
            <a:srgbClr val="FFFDF8"/>
          </a:solidFill>
          <a:ln w="6350">
            <a:solidFill>
              <a:srgbClr val="E4DCCF"/>
            </a:solidFill>
            <a:prstDash val="solid"/>
          </a:ln>
        </p:spPr>
      </p:sp>
      <p:sp>
        <p:nvSpPr>
          <p:cNvPr id="13" name="Text 11"/>
          <p:cNvSpPr/>
          <p:nvPr/>
        </p:nvSpPr>
        <p:spPr>
          <a:xfrm>
            <a:off x="3695700" y="1986285"/>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Next</a:t>
            </a:r>
            <a:endParaRPr lang="en-US" sz="2000" dirty="0"/>
          </a:p>
        </p:txBody>
      </p:sp>
      <p:sp>
        <p:nvSpPr>
          <p:cNvPr id="14" name="Text 12"/>
          <p:cNvSpPr/>
          <p:nvPr/>
        </p:nvSpPr>
        <p:spPr>
          <a:xfrm>
            <a:off x="3695700" y="2367285"/>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D5863"/>
                </a:solidFill>
                <a:latin typeface="IBM Plex Sans" pitchFamily="34" charset="0"/>
                <a:ea typeface="IBM Plex Sans" pitchFamily="34" charset="-122"/>
                <a:cs typeface="IBM Plex Sans" pitchFamily="34" charset="-120"/>
              </a:rPr>
              <a:t>Ready for a pilot</a:t>
            </a:r>
            <a:endParaRPr lang="en-US" sz="1200" dirty="0"/>
          </a:p>
        </p:txBody>
      </p:sp>
      <p:sp>
        <p:nvSpPr>
          <p:cNvPr id="15" name="Text 13"/>
          <p:cNvSpPr/>
          <p:nvPr/>
        </p:nvSpPr>
        <p:spPr>
          <a:xfrm>
            <a:off x="3695700" y="2656842"/>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Secure sign-in and consent</a:t>
            </a:r>
            <a:endParaRPr lang="en-US" sz="1200" dirty="0"/>
          </a:p>
        </p:txBody>
      </p:sp>
      <p:sp>
        <p:nvSpPr>
          <p:cNvPr id="16" name="Text 14"/>
          <p:cNvSpPr/>
          <p:nvPr/>
        </p:nvSpPr>
        <p:spPr>
          <a:xfrm>
            <a:off x="3695700" y="2946400"/>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Reminder times the patient can change</a:t>
            </a:r>
            <a:endParaRPr lang="en-US" sz="1200" dirty="0"/>
          </a:p>
        </p:txBody>
      </p:sp>
      <p:sp>
        <p:nvSpPr>
          <p:cNvPr id="17" name="Text 15"/>
          <p:cNvSpPr/>
          <p:nvPr/>
        </p:nvSpPr>
        <p:spPr>
          <a:xfrm>
            <a:off x="3695700" y="3449327"/>
            <a:ext cx="22974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family view, with permission</a:t>
            </a:r>
            <a:endParaRPr lang="en-US" sz="1200" dirty="0"/>
          </a:p>
        </p:txBody>
      </p:sp>
      <p:sp>
        <p:nvSpPr>
          <p:cNvPr id="18" name="Text 16"/>
          <p:cNvSpPr/>
          <p:nvPr/>
        </p:nvSpPr>
        <p:spPr>
          <a:xfrm>
            <a:off x="3695700" y="3738885"/>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Rules reviewed by a clinician</a:t>
            </a:r>
            <a:endParaRPr lang="en-US" sz="1200" dirty="0"/>
          </a:p>
        </p:txBody>
      </p:sp>
      <p:sp>
        <p:nvSpPr>
          <p:cNvPr id="19" name="Text 17"/>
          <p:cNvSpPr/>
          <p:nvPr/>
        </p:nvSpPr>
        <p:spPr>
          <a:xfrm>
            <a:off x="3695700" y="4028442"/>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An Alexa+ add-on, when the toolkit opens</a:t>
            </a:r>
            <a:endParaRPr lang="en-US" sz="1200" dirty="0"/>
          </a:p>
        </p:txBody>
      </p:sp>
      <p:sp>
        <p:nvSpPr>
          <p:cNvPr id="20" name="Shape 18"/>
          <p:cNvSpPr/>
          <p:nvPr/>
        </p:nvSpPr>
        <p:spPr>
          <a:xfrm>
            <a:off x="6205855" y="1806575"/>
            <a:ext cx="2480310" cy="2965450"/>
          </a:xfrm>
          <a:prstGeom prst="roundRect">
            <a:avLst>
              <a:gd name="adj" fmla="val 3968"/>
            </a:avLst>
          </a:prstGeom>
          <a:solidFill>
            <a:srgbClr val="FFFDF8"/>
          </a:solidFill>
          <a:ln w="6350">
            <a:solidFill>
              <a:srgbClr val="E4DCCF"/>
            </a:solidFill>
            <a:prstDash val="solid"/>
          </a:ln>
        </p:spPr>
      </p:sp>
      <p:sp>
        <p:nvSpPr>
          <p:cNvPr id="21" name="Text 19"/>
          <p:cNvSpPr/>
          <p:nvPr/>
        </p:nvSpPr>
        <p:spPr>
          <a:xfrm>
            <a:off x="6385560" y="1986285"/>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Later</a:t>
            </a:r>
            <a:endParaRPr lang="en-US" sz="2000" dirty="0"/>
          </a:p>
        </p:txBody>
      </p:sp>
      <p:sp>
        <p:nvSpPr>
          <p:cNvPr id="22" name="Text 20"/>
          <p:cNvSpPr/>
          <p:nvPr/>
        </p:nvSpPr>
        <p:spPr>
          <a:xfrm>
            <a:off x="6385560" y="2367285"/>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D5863"/>
                </a:solidFill>
                <a:latin typeface="IBM Plex Sans" pitchFamily="34" charset="0"/>
                <a:ea typeface="IBM Plex Sans" pitchFamily="34" charset="-122"/>
                <a:cs typeface="IBM Plex Sans" pitchFamily="34" charset="-120"/>
              </a:rPr>
              <a:t>Connected</a:t>
            </a:r>
            <a:endParaRPr lang="en-US" sz="1200" dirty="0"/>
          </a:p>
        </p:txBody>
      </p:sp>
      <p:sp>
        <p:nvSpPr>
          <p:cNvPr id="23" name="Text 21"/>
          <p:cNvSpPr/>
          <p:nvPr/>
        </p:nvSpPr>
        <p:spPr>
          <a:xfrm>
            <a:off x="6385560" y="2656842"/>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Hospital link (FHIR), so the letter arrives digitally</a:t>
            </a:r>
            <a:endParaRPr lang="en-US" sz="1200" dirty="0"/>
          </a:p>
        </p:txBody>
      </p:sp>
      <p:sp>
        <p:nvSpPr>
          <p:cNvPr id="24" name="Text 22"/>
          <p:cNvSpPr/>
          <p:nvPr/>
        </p:nvSpPr>
        <p:spPr>
          <a:xfrm>
            <a:off x="6385560" y="3159758"/>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care team view, with permission</a:t>
            </a:r>
            <a:endParaRPr lang="en-US" sz="1200" dirty="0"/>
          </a:p>
        </p:txBody>
      </p:sp>
      <p:sp>
        <p:nvSpPr>
          <p:cNvPr id="25" name="Text 23"/>
          <p:cNvSpPr/>
          <p:nvPr/>
        </p:nvSpPr>
        <p:spPr>
          <a:xfrm>
            <a:off x="6385560" y="3662685"/>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pilot that measures recovery days on track</a:t>
            </a:r>
            <a:endParaRPr lang="en-US" sz="1200" dirty="0"/>
          </a:p>
        </p:txBody>
      </p:sp>
      <p:sp>
        <p:nvSpPr>
          <p:cNvPr id="26" name="Shape 24"/>
          <p:cNvSpPr/>
          <p:nvPr/>
        </p:nvSpPr>
        <p:spPr>
          <a:xfrm>
            <a:off x="8895715" y="1806575"/>
            <a:ext cx="2480310" cy="2965450"/>
          </a:xfrm>
          <a:prstGeom prst="roundRect">
            <a:avLst>
              <a:gd name="adj" fmla="val 3968"/>
            </a:avLst>
          </a:prstGeom>
          <a:solidFill>
            <a:srgbClr val="FFFDF8"/>
          </a:solidFill>
          <a:ln w="6350">
            <a:solidFill>
              <a:srgbClr val="E4DCCF"/>
            </a:solidFill>
            <a:prstDash val="solid"/>
          </a:ln>
        </p:spPr>
      </p:sp>
      <p:sp>
        <p:nvSpPr>
          <p:cNvPr id="27" name="Text 25"/>
          <p:cNvSpPr/>
          <p:nvPr/>
        </p:nvSpPr>
        <p:spPr>
          <a:xfrm>
            <a:off x="9075420" y="1986285"/>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Global</a:t>
            </a:r>
            <a:endParaRPr lang="en-US" sz="2000" dirty="0"/>
          </a:p>
        </p:txBody>
      </p:sp>
      <p:sp>
        <p:nvSpPr>
          <p:cNvPr id="28" name="Text 26"/>
          <p:cNvSpPr/>
          <p:nvPr/>
        </p:nvSpPr>
        <p:spPr>
          <a:xfrm>
            <a:off x="9075420" y="2367285"/>
            <a:ext cx="218452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D5863"/>
                </a:solidFill>
                <a:latin typeface="IBM Plex Sans" pitchFamily="34" charset="0"/>
                <a:ea typeface="IBM Plex Sans" pitchFamily="34" charset="-122"/>
                <a:cs typeface="IBM Plex Sans" pitchFamily="34" charset="-120"/>
              </a:rPr>
              <a:t>Country by country</a:t>
            </a:r>
            <a:endParaRPr lang="en-US" sz="1200" dirty="0"/>
          </a:p>
        </p:txBody>
      </p:sp>
      <p:sp>
        <p:nvSpPr>
          <p:cNvPr id="29" name="Text 27"/>
          <p:cNvSpPr/>
          <p:nvPr/>
        </p:nvSpPr>
        <p:spPr>
          <a:xfrm>
            <a:off x="9075420" y="2656842"/>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One AWS region per country, so data stays local</a:t>
            </a:r>
            <a:endParaRPr lang="en-US" sz="1200" dirty="0"/>
          </a:p>
        </p:txBody>
      </p:sp>
      <p:sp>
        <p:nvSpPr>
          <p:cNvPr id="30" name="Text 28"/>
          <p:cNvSpPr/>
          <p:nvPr/>
        </p:nvSpPr>
        <p:spPr>
          <a:xfrm>
            <a:off x="9075420" y="3159758"/>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Local languages and medicine names</a:t>
            </a:r>
            <a:endParaRPr lang="en-US" sz="1200" dirty="0"/>
          </a:p>
        </p:txBody>
      </p:sp>
      <p:sp>
        <p:nvSpPr>
          <p:cNvPr id="31" name="Text 29"/>
          <p:cNvSpPr/>
          <p:nvPr/>
        </p:nvSpPr>
        <p:spPr>
          <a:xfrm>
            <a:off x="9075420" y="3662685"/>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Local privacy rules: UK GDPR, HIPAA, GDPR</a:t>
            </a:r>
            <a:endParaRPr lang="en-US" sz="1200" dirty="0"/>
          </a:p>
        </p:txBody>
      </p:sp>
      <p:sp>
        <p:nvSpPr>
          <p:cNvPr id="32" name="Text 30"/>
          <p:cNvSpPr/>
          <p:nvPr/>
        </p:nvSpPr>
        <p:spPr>
          <a:xfrm>
            <a:off x="9075420" y="4165600"/>
            <a:ext cx="218452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medical device check in each market</a:t>
            </a:r>
            <a:endParaRPr lang="en-US" sz="1200" dirty="0"/>
          </a:p>
        </p:txBody>
      </p:sp>
      <p:sp>
        <p:nvSpPr>
          <p:cNvPr id="33" name="Text 31"/>
          <p:cNvSpPr/>
          <p:nvPr/>
        </p:nvSpPr>
        <p:spPr>
          <a:xfrm>
            <a:off x="812800" y="5029200"/>
            <a:ext cx="11379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Everything after “Now” is a plan. The safety checks and the MCP tools carry over to each country. The region, the language and the rules are what change.</a:t>
            </a:r>
            <a:endParaRPr lang="en-US" sz="1200" dirty="0"/>
          </a:p>
        </p:txBody>
      </p:sp>
      <p:sp>
        <p:nvSpPr>
          <p:cNvPr id="34" name="Shape 32"/>
          <p:cNvSpPr/>
          <p:nvPr/>
        </p:nvSpPr>
        <p:spPr>
          <a:xfrm>
            <a:off x="0" y="0"/>
            <a:ext cx="12192000" cy="508000"/>
          </a:xfrm>
          <a:prstGeom prst="rect">
            <a:avLst/>
          </a:prstGeom>
          <a:solidFill>
            <a:srgbClr val="A51F4C"/>
          </a:solidFill>
          <a:ln/>
        </p:spPr>
      </p:sp>
      <p:pic>
        <p:nvPicPr>
          <p:cNvPr id="35"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36" name="Text 33"/>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37" name="Text 34"/>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38" name="Shape 35"/>
          <p:cNvSpPr/>
          <p:nvPr/>
        </p:nvSpPr>
        <p:spPr>
          <a:xfrm>
            <a:off x="0" y="6502400"/>
            <a:ext cx="12192000" cy="355600"/>
          </a:xfrm>
          <a:prstGeom prst="rect">
            <a:avLst/>
          </a:prstGeom>
          <a:solidFill>
            <a:srgbClr val="A51F4C"/>
          </a:solidFill>
          <a:ln/>
        </p:spPr>
      </p:sp>
      <p:sp>
        <p:nvSpPr>
          <p:cNvPr id="39" name="Text 36"/>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40" name="Text 37"/>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41" name="Rectangle 40"/>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image.png"/>
          <p:cNvPicPr>
            <a:picLocks noChangeAspect="1"/>
          </p:cNvPicPr>
          <p:nvPr/>
        </p:nvPicPr>
        <p:blipFill>
          <a:blip r:embed="rId4"/>
          <a:stretch>
            <a:fillRect/>
          </a:stretch>
        </p:blipFill>
        <p:spPr>
          <a:xfrm>
            <a:off x="228600" y="102412"/>
            <a:ext cx="292608" cy="292608"/>
          </a:xfrm>
          <a:prstGeom prst="rect">
            <a:avLst/>
          </a:prstGeom>
        </p:spPr>
      </p:pic>
      <p:sp>
        <p:nvSpPr>
          <p:cNvPr id="43" name="TextBox 42"/>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44" name="TextBox 43"/>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45" name="Rectangle 44"/>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47" name="TextBox 46"/>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pic>
        <p:nvPicPr>
          <p:cNvPr id="2" name="Image 0" descr="AfterWard at scale, a future design not built yet: the same nine MCP tools and safety gate for millions of patients, with channels, edge and identity, services, per-patient data and platform, what changes from today, sizing for one million active patients, and the design rules that let it grow.">    </p:cNvPr>
          <p:cNvPicPr>
            <a:picLocks noChangeAspect="1"/>
          </p:cNvPicPr>
          <p:nvPr/>
        </p:nvPicPr>
        <p:blipFill>
          <a:blip r:embed="rId1"/>
          <a:srcRect l="0" r="0" t="0" b="0"/>
          <a:stretch/>
        </p:blipFill>
        <p:spPr>
          <a:xfrm>
            <a:off x="0" y="0"/>
            <a:ext cx="12192000" cy="6858000"/>
          </a:xfrm>
          <a:prstGeom prst="rect">
            <a:avLst/>
          </a:prstGeom>
        </p:spPr>
      </p:pic>
      <p:sp>
        <p:nvSpPr>
          <p:cNvPr id="3" name="Rectangle 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4"/>
          <a:stretch>
            <a:fillRect/>
          </a:stretch>
        </p:blipFill>
        <p:spPr>
          <a:xfrm>
            <a:off x="228600" y="102412"/>
            <a:ext cx="292608" cy="292608"/>
          </a:xfrm>
          <a:prstGeom prst="rect">
            <a:avLst/>
          </a:prstGeom>
        </p:spPr>
      </p:pic>
      <p:sp>
        <p:nvSpPr>
          <p:cNvPr id="5" name="TextBox 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6" name="TextBox 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7" name="Rectangle 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9" name="TextBox 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JOURNEY: HOW AFTERWARD MEETS EACH ONE</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Mini challenges</a:t>
            </a:r>
            <a:endParaRPr lang="en-US" sz="3200" dirty="0"/>
          </a:p>
        </p:txBody>
      </p:sp>
      <p:sp>
        <p:nvSpPr>
          <p:cNvPr id="4" name="Shape 2"/>
          <p:cNvSpPr/>
          <p:nvPr/>
        </p:nvSpPr>
        <p:spPr>
          <a:xfrm>
            <a:off x="815975" y="1806575"/>
            <a:ext cx="5175250" cy="3633470"/>
          </a:xfrm>
          <a:prstGeom prst="roundRect">
            <a:avLst>
              <a:gd name="adj" fmla="val 2709"/>
            </a:avLst>
          </a:prstGeom>
          <a:solidFill>
            <a:srgbClr val="FFFDF8"/>
          </a:solidFill>
          <a:ln w="6350">
            <a:solidFill>
              <a:srgbClr val="E4DCCF"/>
            </a:solidFill>
            <a:prstDash val="solid"/>
          </a:ln>
        </p:spPr>
      </p:sp>
      <p:sp>
        <p:nvSpPr>
          <p:cNvPr id="5" name="Text 3"/>
          <p:cNvSpPr/>
          <p:nvPr/>
        </p:nvSpPr>
        <p:spPr>
          <a:xfrm>
            <a:off x="1071880" y="2062485"/>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AWS Builder</a:t>
            </a:r>
            <a:endParaRPr lang="en-US" sz="2000" dirty="0"/>
          </a:p>
        </p:txBody>
      </p:sp>
      <p:sp>
        <p:nvSpPr>
          <p:cNvPr id="6" name="Text 4"/>
          <p:cNvSpPr/>
          <p:nvPr/>
        </p:nvSpPr>
        <p:spPr>
          <a:xfrm>
            <a:off x="1071880" y="2468885"/>
            <a:ext cx="4803343"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D5863"/>
                </a:solidFill>
                <a:latin typeface="IBM Plex Sans" pitchFamily="34" charset="0"/>
                <a:ea typeface="IBM Plex Sans" pitchFamily="34" charset="-122"/>
                <a:cs typeface="IBM Plex Sans" pitchFamily="34" charset="-120"/>
              </a:rPr>
              <a:t>A project that incorporates AWS services with documented integrations.</a:t>
            </a:r>
            <a:endParaRPr lang="en-US" sz="1200" dirty="0"/>
          </a:p>
        </p:txBody>
      </p:sp>
      <p:sp>
        <p:nvSpPr>
          <p:cNvPr id="7" name="Shape 5"/>
          <p:cNvSpPr/>
          <p:nvPr/>
        </p:nvSpPr>
        <p:spPr>
          <a:xfrm>
            <a:off x="1071880" y="3000375"/>
            <a:ext cx="4663440" cy="0"/>
          </a:xfrm>
          <a:prstGeom prst="line">
            <a:avLst/>
          </a:prstGeom>
          <a:noFill/>
          <a:ln w="6350">
            <a:solidFill>
              <a:srgbClr val="D9CFBF"/>
            </a:solidFill>
            <a:prstDash val="solid"/>
          </a:ln>
        </p:spPr>
      </p:sp>
      <p:sp>
        <p:nvSpPr>
          <p:cNvPr id="8" name="Text 6"/>
          <p:cNvSpPr/>
          <p:nvPr/>
        </p:nvSpPr>
        <p:spPr>
          <a:xfrm>
            <a:off x="1071880" y="3103885"/>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14 AWS services in eu-west-2 (London), including IAM and KMS</a:t>
            </a:r>
            <a:endParaRPr lang="en-US" sz="1200" dirty="0"/>
          </a:p>
        </p:txBody>
      </p:sp>
      <p:sp>
        <p:nvSpPr>
          <p:cNvPr id="9" name="Text 7"/>
          <p:cNvSpPr/>
          <p:nvPr/>
        </p:nvSpPr>
        <p:spPr>
          <a:xfrm>
            <a:off x="1071880" y="3380742"/>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One page lists each service, its code and its live status</a:t>
            </a:r>
            <a:endParaRPr lang="en-US" sz="1200" dirty="0"/>
          </a:p>
        </p:txBody>
      </p:sp>
      <p:sp>
        <p:nvSpPr>
          <p:cNvPr id="10" name="Text 8"/>
          <p:cNvSpPr/>
          <p:nvPr/>
        </p:nvSpPr>
        <p:spPr>
          <a:xfrm>
            <a:off x="1071880" y="3695700"/>
            <a:ext cx="772319"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Bedrock</a:t>
            </a:r>
            <a:endParaRPr lang="en-US" sz="1200" dirty="0"/>
          </a:p>
        </p:txBody>
      </p:sp>
      <p:sp>
        <p:nvSpPr>
          <p:cNvPr id="11" name="Text 9"/>
          <p:cNvSpPr/>
          <p:nvPr/>
        </p:nvSpPr>
        <p:spPr>
          <a:xfrm>
            <a:off x="1920399" y="3695700"/>
            <a:ext cx="383223"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S3</a:t>
            </a:r>
            <a:endParaRPr lang="en-US" sz="1200" dirty="0"/>
          </a:p>
        </p:txBody>
      </p:sp>
      <p:sp>
        <p:nvSpPr>
          <p:cNvPr id="12" name="Text 10"/>
          <p:cNvSpPr/>
          <p:nvPr/>
        </p:nvSpPr>
        <p:spPr>
          <a:xfrm>
            <a:off x="2379821" y="3695700"/>
            <a:ext cx="936149"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S3 Vectors</a:t>
            </a:r>
            <a:endParaRPr lang="en-US" sz="1200" dirty="0"/>
          </a:p>
        </p:txBody>
      </p:sp>
      <p:sp>
        <p:nvSpPr>
          <p:cNvPr id="13" name="Text 11"/>
          <p:cNvSpPr/>
          <p:nvPr/>
        </p:nvSpPr>
        <p:spPr>
          <a:xfrm>
            <a:off x="3392170" y="3695700"/>
            <a:ext cx="488236"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SQS</a:t>
            </a:r>
            <a:endParaRPr lang="en-US" sz="1200" dirty="0"/>
          </a:p>
        </p:txBody>
      </p:sp>
      <p:sp>
        <p:nvSpPr>
          <p:cNvPr id="14" name="Text 12"/>
          <p:cNvSpPr/>
          <p:nvPr/>
        </p:nvSpPr>
        <p:spPr>
          <a:xfrm>
            <a:off x="3956606" y="3695700"/>
            <a:ext cx="751999"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Lambda</a:t>
            </a:r>
            <a:endParaRPr lang="en-US" sz="1200" dirty="0"/>
          </a:p>
        </p:txBody>
      </p:sp>
      <p:sp>
        <p:nvSpPr>
          <p:cNvPr id="15" name="Text 13"/>
          <p:cNvSpPr/>
          <p:nvPr/>
        </p:nvSpPr>
        <p:spPr>
          <a:xfrm>
            <a:off x="1071880" y="4086858"/>
            <a:ext cx="969645"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DynamoDB</a:t>
            </a:r>
            <a:endParaRPr lang="en-US" sz="1200" dirty="0"/>
          </a:p>
        </p:txBody>
      </p:sp>
      <p:sp>
        <p:nvSpPr>
          <p:cNvPr id="16" name="Text 14"/>
          <p:cNvSpPr/>
          <p:nvPr/>
        </p:nvSpPr>
        <p:spPr>
          <a:xfrm>
            <a:off x="2117725" y="4086858"/>
            <a:ext cx="1762125"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EventBridge Scheduler</a:t>
            </a:r>
            <a:endParaRPr lang="en-US" sz="1200" dirty="0"/>
          </a:p>
        </p:txBody>
      </p:sp>
      <p:sp>
        <p:nvSpPr>
          <p:cNvPr id="17" name="Text 15"/>
          <p:cNvSpPr/>
          <p:nvPr/>
        </p:nvSpPr>
        <p:spPr>
          <a:xfrm>
            <a:off x="3956050" y="4086858"/>
            <a:ext cx="1631394"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ECS Fargate and ECR</a:t>
            </a:r>
            <a:endParaRPr lang="en-US" sz="1200" dirty="0"/>
          </a:p>
        </p:txBody>
      </p:sp>
      <p:sp>
        <p:nvSpPr>
          <p:cNvPr id="18" name="Text 16"/>
          <p:cNvSpPr/>
          <p:nvPr/>
        </p:nvSpPr>
        <p:spPr>
          <a:xfrm>
            <a:off x="1071880" y="4478027"/>
            <a:ext cx="1241266"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Load Balancing</a:t>
            </a:r>
            <a:endParaRPr lang="en-US" sz="1200" dirty="0"/>
          </a:p>
        </p:txBody>
      </p:sp>
      <p:sp>
        <p:nvSpPr>
          <p:cNvPr id="19" name="Text 17"/>
          <p:cNvSpPr/>
          <p:nvPr/>
        </p:nvSpPr>
        <p:spPr>
          <a:xfrm>
            <a:off x="2389346" y="4478027"/>
            <a:ext cx="962343"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CloudFront</a:t>
            </a:r>
            <a:endParaRPr lang="en-US" sz="1200" dirty="0"/>
          </a:p>
        </p:txBody>
      </p:sp>
      <p:sp>
        <p:nvSpPr>
          <p:cNvPr id="20" name="Text 18"/>
          <p:cNvSpPr/>
          <p:nvPr/>
        </p:nvSpPr>
        <p:spPr>
          <a:xfrm>
            <a:off x="3427889" y="4478027"/>
            <a:ext cx="1346835"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Secrets Manager</a:t>
            </a:r>
            <a:endParaRPr lang="en-US" sz="1200" dirty="0"/>
          </a:p>
        </p:txBody>
      </p:sp>
      <p:sp>
        <p:nvSpPr>
          <p:cNvPr id="21" name="Text 19"/>
          <p:cNvSpPr/>
          <p:nvPr/>
        </p:nvSpPr>
        <p:spPr>
          <a:xfrm>
            <a:off x="1071880" y="4869185"/>
            <a:ext cx="1031399"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CloudWatch</a:t>
            </a:r>
            <a:endParaRPr lang="en-US" sz="1200" dirty="0"/>
          </a:p>
        </p:txBody>
      </p:sp>
      <p:sp>
        <p:nvSpPr>
          <p:cNvPr id="22" name="Shape 20"/>
          <p:cNvSpPr/>
          <p:nvPr/>
        </p:nvSpPr>
        <p:spPr>
          <a:xfrm>
            <a:off x="6200775" y="1806575"/>
            <a:ext cx="5175250" cy="3633470"/>
          </a:xfrm>
          <a:prstGeom prst="roundRect">
            <a:avLst>
              <a:gd name="adj" fmla="val 2709"/>
            </a:avLst>
          </a:prstGeom>
          <a:solidFill>
            <a:srgbClr val="FFFDF8"/>
          </a:solidFill>
          <a:ln w="6350">
            <a:solidFill>
              <a:srgbClr val="E4DCCF"/>
            </a:solidFill>
            <a:prstDash val="solid"/>
          </a:ln>
        </p:spPr>
      </p:sp>
      <p:sp>
        <p:nvSpPr>
          <p:cNvPr id="23" name="Text 21"/>
          <p:cNvSpPr/>
          <p:nvPr/>
        </p:nvSpPr>
        <p:spPr>
          <a:xfrm>
            <a:off x="6456680" y="2062485"/>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Open Source</a:t>
            </a:r>
            <a:endParaRPr lang="en-US" sz="2000" dirty="0"/>
          </a:p>
        </p:txBody>
      </p:sp>
      <p:sp>
        <p:nvSpPr>
          <p:cNvPr id="24" name="Text 22"/>
          <p:cNvSpPr/>
          <p:nvPr/>
        </p:nvSpPr>
        <p:spPr>
          <a:xfrm>
            <a:off x="6456680" y="2468885"/>
            <a:ext cx="4803343"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D5863"/>
                </a:solidFill>
                <a:latin typeface="IBM Plex Sans" pitchFamily="34" charset="0"/>
                <a:ea typeface="IBM Plex Sans" pitchFamily="34" charset="-122"/>
                <a:cs typeface="IBM Plex Sans" pitchFamily="34" charset="-120"/>
              </a:rPr>
              <a:t>A new, additional open-source project, created during the hackathon window.</a:t>
            </a:r>
            <a:endParaRPr lang="en-US" sz="1200" dirty="0"/>
          </a:p>
        </p:txBody>
      </p:sp>
      <p:sp>
        <p:nvSpPr>
          <p:cNvPr id="25" name="Shape 23"/>
          <p:cNvSpPr/>
          <p:nvPr/>
        </p:nvSpPr>
        <p:spPr>
          <a:xfrm>
            <a:off x="6456680" y="3000375"/>
            <a:ext cx="4663440" cy="0"/>
          </a:xfrm>
          <a:prstGeom prst="line">
            <a:avLst/>
          </a:prstGeom>
          <a:noFill/>
          <a:ln w="6350">
            <a:solidFill>
              <a:srgbClr val="D9CFBF"/>
            </a:solidFill>
            <a:prstDash val="solid"/>
          </a:ln>
        </p:spPr>
      </p:sp>
      <p:sp>
        <p:nvSpPr>
          <p:cNvPr id="26" name="Text 24"/>
          <p:cNvSpPr/>
          <p:nvPr/>
        </p:nvSpPr>
        <p:spPr>
          <a:xfrm>
            <a:off x="6456680" y="3103885"/>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new public repo with an MIT licence, version 0.1.0</a:t>
            </a:r>
            <a:endParaRPr lang="en-US" sz="1200" dirty="0"/>
          </a:p>
        </p:txBody>
      </p:sp>
      <p:sp>
        <p:nvSpPr>
          <p:cNvPr id="27" name="Text 25"/>
          <p:cNvSpPr/>
          <p:nvPr/>
        </p:nvSpPr>
        <p:spPr>
          <a:xfrm>
            <a:off x="6456680" y="3380742"/>
            <a:ext cx="48033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fixed form for each letter, and rules that flag missing, unclear or unreadable lines</a:t>
            </a:r>
            <a:endParaRPr lang="en-US" sz="1200" dirty="0"/>
          </a:p>
        </p:txBody>
      </p:sp>
      <p:sp>
        <p:nvSpPr>
          <p:cNvPr id="28" name="Text 26"/>
          <p:cNvSpPr/>
          <p:nvPr/>
        </p:nvSpPr>
        <p:spPr>
          <a:xfrm>
            <a:off x="6456680" y="3870958"/>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149 tests on Python 3.11 to 3.13, run by GitHub Actions</a:t>
            </a:r>
            <a:endParaRPr lang="en-US" sz="1200" dirty="0"/>
          </a:p>
        </p:txBody>
      </p:sp>
      <p:sp>
        <p:nvSpPr>
          <p:cNvPr id="29" name="Text 27"/>
          <p:cNvSpPr/>
          <p:nvPr/>
        </p:nvSpPr>
        <p:spPr>
          <a:xfrm>
            <a:off x="6456680" y="4147827"/>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AfterWard uses it, so the open-source code is the real safety check</a:t>
            </a:r>
            <a:endParaRPr lang="en-US" sz="1200" dirty="0"/>
          </a:p>
        </p:txBody>
      </p:sp>
      <p:sp>
        <p:nvSpPr>
          <p:cNvPr id="30" name="Text 28"/>
          <p:cNvSpPr/>
          <p:nvPr/>
        </p:nvSpPr>
        <p:spPr>
          <a:xfrm>
            <a:off x="6456680" y="4462785"/>
            <a:ext cx="4409440" cy="314960"/>
          </a:xfrm>
          <a:prstGeom prst="roundRect">
            <a:avLst>
              <a:gd name="adj" fmla="val 16129"/>
            </a:avLst>
          </a:prstGeom>
          <a:solidFill>
            <a:srgbClr val="F1EBE0"/>
          </a:solidFill>
          <a:ln/>
        </p:spPr>
        <p:txBody>
          <a:bodyPr wrap="none" lIns="0" tIns="0" rIns="0" bIns="0" rtlCol="0" anchor="ctr">
            <a:normAutofit/>
          </a:bodyPr>
          <a:lstStyle/>
          <a:p>
            <a:pPr algn="ctr" indent="0" marL="0">
              <a:lnSpc>
                <a:spcPts val="1680"/>
              </a:lnSpc>
              <a:buNone/>
            </a:pPr>
            <a:r>
              <a:rPr lang="en-US" sz="1200" dirty="0">
                <a:solidFill>
                  <a:srgbClr val="17222B"/>
                </a:solidFill>
                <a:latin typeface="IBM Plex Mono" pitchFamily="49" charset="0"/>
                <a:ea typeface="IBM Plex Mono" pitchFamily="49" charset="-122"/>
                <a:cs typeface="IBM Plex Mono" pitchFamily="49" charset="-120"/>
              </a:rPr>
              <a:t>github.com/charvimaurya/discharge-letter-check</a:t>
            </a:r>
            <a:endParaRPr lang="en-US" sz="1200" dirty="0"/>
          </a:p>
        </p:txBody>
      </p:sp>
      <p:sp>
        <p:nvSpPr>
          <p:cNvPr id="31" name="Shape 29"/>
          <p:cNvSpPr/>
          <p:nvPr/>
        </p:nvSpPr>
        <p:spPr>
          <a:xfrm>
            <a:off x="0" y="0"/>
            <a:ext cx="12192000" cy="508000"/>
          </a:xfrm>
          <a:prstGeom prst="rect">
            <a:avLst/>
          </a:prstGeom>
          <a:solidFill>
            <a:srgbClr val="A51F4C"/>
          </a:solidFill>
          <a:ln/>
        </p:spPr>
      </p:sp>
      <p:pic>
        <p:nvPicPr>
          <p:cNvPr id="32"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33" name="Text 30"/>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34" name="Text 31"/>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35" name="Shape 32"/>
          <p:cNvSpPr/>
          <p:nvPr/>
        </p:nvSpPr>
        <p:spPr>
          <a:xfrm>
            <a:off x="0" y="6502400"/>
            <a:ext cx="12192000" cy="355600"/>
          </a:xfrm>
          <a:prstGeom prst="rect">
            <a:avLst/>
          </a:prstGeom>
          <a:solidFill>
            <a:srgbClr val="A51F4C"/>
          </a:solidFill>
          <a:ln/>
        </p:spPr>
      </p:sp>
      <p:sp>
        <p:nvSpPr>
          <p:cNvPr id="36" name="Text 33"/>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37" name="Text 34"/>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38" name="Rectangle 37"/>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image.png"/>
          <p:cNvPicPr>
            <a:picLocks noChangeAspect="1"/>
          </p:cNvPicPr>
          <p:nvPr/>
        </p:nvPicPr>
        <p:blipFill>
          <a:blip r:embed="rId4"/>
          <a:stretch>
            <a:fillRect/>
          </a:stretch>
        </p:blipFill>
        <p:spPr>
          <a:xfrm>
            <a:off x="228600" y="102412"/>
            <a:ext cx="292608" cy="292608"/>
          </a:xfrm>
          <a:prstGeom prst="rect">
            <a:avLst/>
          </a:prstGeom>
        </p:spPr>
      </p:pic>
      <p:sp>
        <p:nvSpPr>
          <p:cNvPr id="40" name="TextBox 39"/>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41" name="TextBox 40"/>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42" name="Rectangle 41"/>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44" name="TextBox 43"/>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JOURNEY: ONE EXAMPLE OF EACH</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Friction log and product feedback</a:t>
            </a:r>
            <a:endParaRPr lang="en-US" sz="3200" dirty="0"/>
          </a:p>
        </p:txBody>
      </p:sp>
      <p:sp>
        <p:nvSpPr>
          <p:cNvPr id="4" name="Shape 2"/>
          <p:cNvSpPr/>
          <p:nvPr/>
        </p:nvSpPr>
        <p:spPr>
          <a:xfrm>
            <a:off x="815975" y="1806575"/>
            <a:ext cx="5175250" cy="3168650"/>
          </a:xfrm>
          <a:prstGeom prst="roundRect">
            <a:avLst>
              <a:gd name="adj" fmla="val 3106"/>
            </a:avLst>
          </a:prstGeom>
          <a:solidFill>
            <a:srgbClr val="FFFDF8"/>
          </a:solidFill>
          <a:ln w="6350">
            <a:solidFill>
              <a:srgbClr val="E4DCCF"/>
            </a:solidFill>
            <a:prstDash val="solid"/>
          </a:ln>
        </p:spPr>
      </p:sp>
      <p:sp>
        <p:nvSpPr>
          <p:cNvPr id="5" name="Text 3"/>
          <p:cNvSpPr/>
          <p:nvPr/>
        </p:nvSpPr>
        <p:spPr>
          <a:xfrm>
            <a:off x="1071880" y="2011685"/>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64F"/>
                </a:solidFill>
                <a:latin typeface="IBM Plex Sans" pitchFamily="34" charset="0"/>
                <a:ea typeface="IBM Plex Sans" pitchFamily="34" charset="-122"/>
                <a:cs typeface="IBM Plex Sans" pitchFamily="34" charset="-120"/>
              </a:rPr>
              <a:t>FRICTION LOG ENTRY</a:t>
            </a:r>
            <a:endParaRPr lang="en-US" sz="1200" dirty="0"/>
          </a:p>
        </p:txBody>
      </p:sp>
      <p:sp>
        <p:nvSpPr>
          <p:cNvPr id="6" name="Text 4"/>
          <p:cNvSpPr/>
          <p:nvPr/>
        </p:nvSpPr>
        <p:spPr>
          <a:xfrm>
            <a:off x="1071880" y="23012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No way to test on Alexa+</a:t>
            </a:r>
            <a:endParaRPr lang="en-US" sz="2000" dirty="0"/>
          </a:p>
        </p:txBody>
      </p:sp>
      <p:sp>
        <p:nvSpPr>
          <p:cNvPr id="7" name="Text 5"/>
          <p:cNvSpPr/>
          <p:nvPr/>
        </p:nvSpPr>
        <p:spPr>
          <a:xfrm>
            <a:off x="1071880" y="2682242"/>
            <a:ext cx="1193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Task</a:t>
            </a:r>
            <a:endParaRPr lang="en-US" sz="1200" dirty="0"/>
          </a:p>
        </p:txBody>
      </p:sp>
      <p:sp>
        <p:nvSpPr>
          <p:cNvPr id="8" name="Text 6"/>
          <p:cNvSpPr/>
          <p:nvPr/>
        </p:nvSpPr>
        <p:spPr>
          <a:xfrm>
            <a:off x="2316480" y="2682242"/>
            <a:ext cx="35214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Try our MCP server on real Alexa+</a:t>
            </a:r>
            <a:endParaRPr lang="en-US" sz="1200" dirty="0"/>
          </a:p>
        </p:txBody>
      </p:sp>
      <p:sp>
        <p:nvSpPr>
          <p:cNvPr id="9" name="Text 7"/>
          <p:cNvSpPr/>
          <p:nvPr/>
        </p:nvSpPr>
        <p:spPr>
          <a:xfrm>
            <a:off x="1071880" y="2971800"/>
            <a:ext cx="1193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Expected</a:t>
            </a:r>
            <a:endParaRPr lang="en-US" sz="1200" dirty="0"/>
          </a:p>
        </p:txBody>
      </p:sp>
      <p:sp>
        <p:nvSpPr>
          <p:cNvPr id="10" name="Text 8"/>
          <p:cNvSpPr/>
          <p:nvPr/>
        </p:nvSpPr>
        <p:spPr>
          <a:xfrm>
            <a:off x="2316480" y="2971800"/>
            <a:ext cx="35214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simulator or a test device for entrants</a:t>
            </a:r>
            <a:endParaRPr lang="en-US" sz="1200" dirty="0"/>
          </a:p>
        </p:txBody>
      </p:sp>
      <p:sp>
        <p:nvSpPr>
          <p:cNvPr id="11" name="Text 9"/>
          <p:cNvSpPr/>
          <p:nvPr/>
        </p:nvSpPr>
        <p:spPr>
          <a:xfrm>
            <a:off x="1071880" y="3261358"/>
            <a:ext cx="11938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Actual</a:t>
            </a:r>
            <a:endParaRPr lang="en-US" sz="1200" dirty="0"/>
          </a:p>
        </p:txBody>
      </p:sp>
      <p:sp>
        <p:nvSpPr>
          <p:cNvPr id="12" name="Text 10"/>
          <p:cNvSpPr/>
          <p:nvPr/>
        </p:nvSpPr>
        <p:spPr>
          <a:xfrm>
            <a:off x="2316480" y="3261358"/>
            <a:ext cx="35214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The add-on toolkit and web simulator are in preview with select partners</a:t>
            </a:r>
            <a:endParaRPr lang="en-US" sz="1200" dirty="0"/>
          </a:p>
        </p:txBody>
      </p:sp>
      <p:sp>
        <p:nvSpPr>
          <p:cNvPr id="13" name="Text 11"/>
          <p:cNvSpPr/>
          <p:nvPr/>
        </p:nvSpPr>
        <p:spPr>
          <a:xfrm>
            <a:off x="1071880" y="3764285"/>
            <a:ext cx="1193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Severity</a:t>
            </a:r>
            <a:endParaRPr lang="en-US" sz="1200" dirty="0"/>
          </a:p>
        </p:txBody>
      </p:sp>
      <p:sp>
        <p:nvSpPr>
          <p:cNvPr id="14" name="Text 12"/>
          <p:cNvSpPr/>
          <p:nvPr/>
        </p:nvSpPr>
        <p:spPr>
          <a:xfrm>
            <a:off x="2316480" y="3764285"/>
            <a:ext cx="35214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Medium: the rules allow a simulated client</a:t>
            </a:r>
            <a:endParaRPr lang="en-US" sz="1200" dirty="0"/>
          </a:p>
        </p:txBody>
      </p:sp>
      <p:sp>
        <p:nvSpPr>
          <p:cNvPr id="15" name="Text 13"/>
          <p:cNvSpPr/>
          <p:nvPr/>
        </p:nvSpPr>
        <p:spPr>
          <a:xfrm>
            <a:off x="1071880" y="4053842"/>
            <a:ext cx="11938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Workaround</a:t>
            </a:r>
            <a:endParaRPr lang="en-US" sz="1200" dirty="0"/>
          </a:p>
        </p:txBody>
      </p:sp>
      <p:sp>
        <p:nvSpPr>
          <p:cNvPr id="16" name="Text 14"/>
          <p:cNvSpPr/>
          <p:nvPr/>
        </p:nvSpPr>
        <p:spPr>
          <a:xfrm>
            <a:off x="2316480" y="4053842"/>
            <a:ext cx="35214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web client labelled as simulated, plus a classic Alexa skill</a:t>
            </a:r>
            <a:endParaRPr lang="en-US" sz="1200" dirty="0"/>
          </a:p>
        </p:txBody>
      </p:sp>
      <p:sp>
        <p:nvSpPr>
          <p:cNvPr id="17" name="Text 15"/>
          <p:cNvSpPr/>
          <p:nvPr/>
        </p:nvSpPr>
        <p:spPr>
          <a:xfrm>
            <a:off x="1071880" y="4556758"/>
            <a:ext cx="1193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Suggestion</a:t>
            </a:r>
            <a:endParaRPr lang="en-US" sz="1200" dirty="0"/>
          </a:p>
        </p:txBody>
      </p:sp>
      <p:sp>
        <p:nvSpPr>
          <p:cNvPr id="18" name="Text 16"/>
          <p:cNvSpPr/>
          <p:nvPr/>
        </p:nvSpPr>
        <p:spPr>
          <a:xfrm>
            <a:off x="2316480" y="4556758"/>
            <a:ext cx="35214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Open the web simulator to hackathon entrants</a:t>
            </a:r>
            <a:endParaRPr lang="en-US" sz="1200" dirty="0"/>
          </a:p>
        </p:txBody>
      </p:sp>
      <p:sp>
        <p:nvSpPr>
          <p:cNvPr id="19" name="Shape 17"/>
          <p:cNvSpPr/>
          <p:nvPr/>
        </p:nvSpPr>
        <p:spPr>
          <a:xfrm>
            <a:off x="6200775" y="1806575"/>
            <a:ext cx="5175250" cy="3168650"/>
          </a:xfrm>
          <a:prstGeom prst="roundRect">
            <a:avLst>
              <a:gd name="adj" fmla="val 3106"/>
            </a:avLst>
          </a:prstGeom>
          <a:solidFill>
            <a:srgbClr val="FFFDF8"/>
          </a:solidFill>
          <a:ln w="6350">
            <a:solidFill>
              <a:srgbClr val="E4DCCF"/>
            </a:solidFill>
            <a:prstDash val="solid"/>
          </a:ln>
        </p:spPr>
      </p:sp>
      <p:sp>
        <p:nvSpPr>
          <p:cNvPr id="20" name="Text 18"/>
          <p:cNvSpPr/>
          <p:nvPr/>
        </p:nvSpPr>
        <p:spPr>
          <a:xfrm>
            <a:off x="6456680" y="2011685"/>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264F"/>
                </a:solidFill>
                <a:latin typeface="IBM Plex Sans" pitchFamily="34" charset="0"/>
                <a:ea typeface="IBM Plex Sans" pitchFamily="34" charset="-122"/>
                <a:cs typeface="IBM Plex Sans" pitchFamily="34" charset="-120"/>
              </a:rPr>
              <a:t>PRODUCT FEEDBACK ENTRY</a:t>
            </a:r>
            <a:endParaRPr lang="en-US" sz="1200" dirty="0"/>
          </a:p>
        </p:txBody>
      </p:sp>
      <p:sp>
        <p:nvSpPr>
          <p:cNvPr id="21" name="Text 19"/>
          <p:cNvSpPr/>
          <p:nvPr/>
        </p:nvSpPr>
        <p:spPr>
          <a:xfrm>
            <a:off x="6456680" y="2301242"/>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7222B"/>
                </a:solidFill>
                <a:latin typeface="Source Serif 4" pitchFamily="18" charset="0"/>
                <a:ea typeface="Source Serif 4" pitchFamily="18" charset="-122"/>
                <a:cs typeface="Source Serif 4" pitchFamily="18" charset="-120"/>
              </a:rPr>
              <a:t>Amazon S3 Vectors</a:t>
            </a:r>
            <a:endParaRPr lang="en-US" sz="2000" dirty="0"/>
          </a:p>
        </p:txBody>
      </p:sp>
      <p:sp>
        <p:nvSpPr>
          <p:cNvPr id="22" name="Text 20"/>
          <p:cNvSpPr/>
          <p:nvPr/>
        </p:nvSpPr>
        <p:spPr>
          <a:xfrm>
            <a:off x="6456680" y="2682242"/>
            <a:ext cx="1193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Used for</a:t>
            </a:r>
            <a:endParaRPr lang="en-US" sz="1200" dirty="0"/>
          </a:p>
        </p:txBody>
      </p:sp>
      <p:sp>
        <p:nvSpPr>
          <p:cNvPr id="23" name="Text 21"/>
          <p:cNvSpPr/>
          <p:nvPr/>
        </p:nvSpPr>
        <p:spPr>
          <a:xfrm>
            <a:off x="7701280" y="2682242"/>
            <a:ext cx="35214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Search over the patient's own letter</a:t>
            </a:r>
            <a:endParaRPr lang="en-US" sz="1200" dirty="0"/>
          </a:p>
        </p:txBody>
      </p:sp>
      <p:sp>
        <p:nvSpPr>
          <p:cNvPr id="24" name="Text 22"/>
          <p:cNvSpPr/>
          <p:nvPr/>
        </p:nvSpPr>
        <p:spPr>
          <a:xfrm>
            <a:off x="6456680" y="2971800"/>
            <a:ext cx="11938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Worked</a:t>
            </a:r>
            <a:endParaRPr lang="en-US" sz="1200" dirty="0"/>
          </a:p>
        </p:txBody>
      </p:sp>
      <p:sp>
        <p:nvSpPr>
          <p:cNvPr id="25" name="Text 23"/>
          <p:cNvSpPr/>
          <p:nvPr/>
        </p:nvSpPr>
        <p:spPr>
          <a:xfrm>
            <a:off x="7701280" y="2971800"/>
            <a:ext cx="35214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Serverless, low cost, every search filtered to one patient</a:t>
            </a:r>
            <a:endParaRPr lang="en-US" sz="1200" dirty="0"/>
          </a:p>
        </p:txBody>
      </p:sp>
      <p:sp>
        <p:nvSpPr>
          <p:cNvPr id="26" name="Text 24"/>
          <p:cNvSpPr/>
          <p:nvPr/>
        </p:nvSpPr>
        <p:spPr>
          <a:xfrm>
            <a:off x="6456680" y="3474727"/>
            <a:ext cx="11938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Needs work</a:t>
            </a:r>
            <a:endParaRPr lang="en-US" sz="1200" dirty="0"/>
          </a:p>
        </p:txBody>
      </p:sp>
      <p:sp>
        <p:nvSpPr>
          <p:cNvPr id="27" name="Text 25"/>
          <p:cNvSpPr/>
          <p:nvPr/>
        </p:nvSpPr>
        <p:spPr>
          <a:xfrm>
            <a:off x="7701280" y="3474727"/>
            <a:ext cx="35214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An index with no matching vectors returns empty results, with no warning</a:t>
            </a:r>
            <a:endParaRPr lang="en-US" sz="1200" dirty="0"/>
          </a:p>
        </p:txBody>
      </p:sp>
      <p:sp>
        <p:nvSpPr>
          <p:cNvPr id="28" name="Text 26"/>
          <p:cNvSpPr/>
          <p:nvPr/>
        </p:nvSpPr>
        <p:spPr>
          <a:xfrm>
            <a:off x="6456680" y="3977642"/>
            <a:ext cx="11938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Onboarding</a:t>
            </a:r>
            <a:endParaRPr lang="en-US" sz="1200" dirty="0"/>
          </a:p>
        </p:txBody>
      </p:sp>
      <p:sp>
        <p:nvSpPr>
          <p:cNvPr id="29" name="Text 27"/>
          <p:cNvSpPr/>
          <p:nvPr/>
        </p:nvSpPr>
        <p:spPr>
          <a:xfrm>
            <a:off x="7701280" y="3977642"/>
            <a:ext cx="352140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Simple setup; the silent empty result was the main blocker</a:t>
            </a:r>
            <a:endParaRPr lang="en-US" sz="1200" dirty="0"/>
          </a:p>
        </p:txBody>
      </p:sp>
      <p:sp>
        <p:nvSpPr>
          <p:cNvPr id="30" name="Text 28"/>
          <p:cNvSpPr/>
          <p:nvPr/>
        </p:nvSpPr>
        <p:spPr>
          <a:xfrm>
            <a:off x="6456680" y="4480558"/>
            <a:ext cx="1193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Build again</a:t>
            </a:r>
            <a:endParaRPr lang="en-US" sz="1200" dirty="0"/>
          </a:p>
        </p:txBody>
      </p:sp>
      <p:sp>
        <p:nvSpPr>
          <p:cNvPr id="31" name="Text 29"/>
          <p:cNvSpPr/>
          <p:nvPr/>
        </p:nvSpPr>
        <p:spPr>
          <a:xfrm>
            <a:off x="7701280" y="4480558"/>
            <a:ext cx="35214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Yes, for per-patient search at low cost</a:t>
            </a:r>
            <a:endParaRPr lang="en-US" sz="1200" dirty="0"/>
          </a:p>
        </p:txBody>
      </p:sp>
      <p:sp>
        <p:nvSpPr>
          <p:cNvPr id="32" name="Text 30"/>
          <p:cNvSpPr/>
          <p:nvPr/>
        </p:nvSpPr>
        <p:spPr>
          <a:xfrm>
            <a:off x="812800" y="5232400"/>
            <a:ext cx="108833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14 friction log entries, from Alexa+ access to AgentCore and S3 Vectors, each with time lost, a workaround and a suggestion. Product feedback covers 9 product areas.</a:t>
            </a:r>
            <a:endParaRPr lang="en-US" sz="1200" dirty="0"/>
          </a:p>
        </p:txBody>
      </p:sp>
      <p:sp>
        <p:nvSpPr>
          <p:cNvPr id="33" name="Shape 31"/>
          <p:cNvSpPr/>
          <p:nvPr/>
        </p:nvSpPr>
        <p:spPr>
          <a:xfrm>
            <a:off x="0" y="0"/>
            <a:ext cx="12192000" cy="508000"/>
          </a:xfrm>
          <a:prstGeom prst="rect">
            <a:avLst/>
          </a:prstGeom>
          <a:solidFill>
            <a:srgbClr val="A51F4C"/>
          </a:solidFill>
          <a:ln/>
        </p:spPr>
      </p:sp>
      <p:pic>
        <p:nvPicPr>
          <p:cNvPr id="34"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35" name="Text 32"/>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36" name="Text 33"/>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37" name="Shape 34"/>
          <p:cNvSpPr/>
          <p:nvPr/>
        </p:nvSpPr>
        <p:spPr>
          <a:xfrm>
            <a:off x="0" y="6502400"/>
            <a:ext cx="12192000" cy="355600"/>
          </a:xfrm>
          <a:prstGeom prst="rect">
            <a:avLst/>
          </a:prstGeom>
          <a:solidFill>
            <a:srgbClr val="A51F4C"/>
          </a:solidFill>
          <a:ln/>
        </p:spPr>
      </p:sp>
      <p:sp>
        <p:nvSpPr>
          <p:cNvPr id="38" name="Text 35"/>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39" name="Text 36"/>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40" name="Rectangle 39"/>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4"/>
          <a:stretch>
            <a:fillRect/>
          </a:stretch>
        </p:blipFill>
        <p:spPr>
          <a:xfrm>
            <a:off x="228600" y="102412"/>
            <a:ext cx="292608" cy="292608"/>
          </a:xfrm>
          <a:prstGeom prst="rect">
            <a:avLst/>
          </a:prstGeom>
        </p:spPr>
      </p:pic>
      <p:sp>
        <p:nvSpPr>
          <p:cNvPr id="42" name="TextBox 41"/>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43" name="TextBox 42"/>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44" name="Rectangle 43"/>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46" name="TextBox 45"/>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JOURNEY: HOW WE WORKED</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Amazon Leadership Principles in practice</a:t>
            </a:r>
            <a:endParaRPr lang="en-US" sz="3200" dirty="0"/>
          </a:p>
        </p:txBody>
      </p:sp>
      <p:sp>
        <p:nvSpPr>
          <p:cNvPr id="4" name="Shape 2"/>
          <p:cNvSpPr/>
          <p:nvPr/>
        </p:nvSpPr>
        <p:spPr>
          <a:xfrm>
            <a:off x="812800" y="1778000"/>
            <a:ext cx="10566400" cy="3642360"/>
          </a:xfrm>
          <a:prstGeom prst="rect">
            <a:avLst/>
          </a:prstGeom>
          <a:solidFill>
            <a:srgbClr val="FFFD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788160"/>
          <a:ext cx="10556240" cy="3632200"/>
        </p:xfrm>
        <a:graphic>
          <a:graphicData uri="http://schemas.openxmlformats.org/drawingml/2006/table">
            <a:tbl>
              <a:tblPr/>
              <a:tblGrid>
                <a:gridCol w="3905809"/>
                <a:gridCol w="6650431"/>
              </a:tblGrid>
              <a:tr h="330200">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Principle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What we did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Customer Obsession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Built for Margaret: voice first, because her hands are on a walking frame.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Earn Trust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Every answer shows its source sentence. Alexa+ is always labelled simulated.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Insist on the Highest Standards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1,264 Python and 138 web tests. Safety replies have exact-wording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Dive Deep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Traced a silent empty search and a dropped emergency number to the cause.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Invent and Simplify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AI where understanding is needed; fixed rules where safety matters.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Bias for Action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AgentCore would not deploy, so we moved the MCP server to ECS Fargate.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Frugality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Haiku for daily tests, Sonnet for final runs, swapped by one setting.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Hire and Develop the Best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mentor and a student developer: first AWS build, first voice 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Ownership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Open-sourced our safety checks; 14 friction log entries with suggestions.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Success and Scale Bring Broad Responsibility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Synthetic data only, one patient per request, crisis replies before any 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3264F"/>
                </a:solidFill>
                <a:latin typeface="IBM Plex Sans" pitchFamily="34" charset="0"/>
                <a:ea typeface="IBM Plex Sans" pitchFamily="34" charset="-122"/>
                <a:cs typeface="IBM Plex Sans" pitchFamily="34" charset="-120"/>
              </a:rPr>
              <a:t>Still earning Deliver Results: one agent test still fails, and the web client is not hosted yet.</a:t>
            </a:r>
            <a:endParaRPr lang="en-US" sz="1200" dirty="0"/>
          </a:p>
        </p:txBody>
      </p:sp>
      <p:sp>
        <p:nvSpPr>
          <p:cNvPr id="7" name="Shape 4"/>
          <p:cNvSpPr/>
          <p:nvPr/>
        </p:nvSpPr>
        <p:spPr>
          <a:xfrm>
            <a:off x="0" y="0"/>
            <a:ext cx="12192000" cy="508000"/>
          </a:xfrm>
          <a:prstGeom prst="rect">
            <a:avLst/>
          </a:prstGeom>
          <a:solidFill>
            <a:srgbClr val="A51F4C"/>
          </a:solidFill>
          <a:ln/>
        </p:spPr>
      </p:sp>
      <p:pic>
        <p:nvPicPr>
          <p:cNvPr id="8"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9" name="Text 5"/>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10" name="Text 6"/>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11" name="Shape 7"/>
          <p:cNvSpPr/>
          <p:nvPr/>
        </p:nvSpPr>
        <p:spPr>
          <a:xfrm>
            <a:off x="0" y="6502400"/>
            <a:ext cx="12192000" cy="355600"/>
          </a:xfrm>
          <a:prstGeom prst="rect">
            <a:avLst/>
          </a:prstGeom>
          <a:solidFill>
            <a:srgbClr val="A51F4C"/>
          </a:solidFill>
          <a:ln/>
        </p:spPr>
      </p:sp>
      <p:sp>
        <p:nvSpPr>
          <p:cNvPr id="12" name="Text 8"/>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3" name="Text 9"/>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14" name="Rectangle 13"/>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4"/>
          <a:stretch>
            <a:fillRect/>
          </a:stretch>
        </p:blipFill>
        <p:spPr>
          <a:xfrm>
            <a:off x="228600" y="102412"/>
            <a:ext cx="292608" cy="292608"/>
          </a:xfrm>
          <a:prstGeom prst="rect">
            <a:avLst/>
          </a:prstGeom>
        </p:spPr>
      </p:pic>
      <p:sp>
        <p:nvSpPr>
          <p:cNvPr id="16" name="TextBox 15"/>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17" name="TextBox 16"/>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18" name="Rectangle 17"/>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20" name="TextBox 19"/>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JOURNEY: HOW AFTERWARD MEETS EACH ONE</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Judging criteria</a:t>
            </a:r>
            <a:endParaRPr lang="en-US" sz="3200" dirty="0"/>
          </a:p>
        </p:txBody>
      </p:sp>
      <p:sp>
        <p:nvSpPr>
          <p:cNvPr id="4" name="Shape 2"/>
          <p:cNvSpPr/>
          <p:nvPr/>
        </p:nvSpPr>
        <p:spPr>
          <a:xfrm>
            <a:off x="815975" y="1806575"/>
            <a:ext cx="2482850" cy="3126740"/>
          </a:xfrm>
          <a:prstGeom prst="roundRect">
            <a:avLst>
              <a:gd name="adj" fmla="val 3964"/>
            </a:avLst>
          </a:prstGeom>
          <a:solidFill>
            <a:srgbClr val="FFFDF8"/>
          </a:solidFill>
          <a:ln w="6350">
            <a:solidFill>
              <a:srgbClr val="E4DCCF"/>
            </a:solidFill>
            <a:prstDash val="solid"/>
          </a:ln>
        </p:spPr>
      </p:sp>
      <p:sp>
        <p:nvSpPr>
          <p:cNvPr id="5" name="Text 3"/>
          <p:cNvSpPr/>
          <p:nvPr/>
        </p:nvSpPr>
        <p:spPr>
          <a:xfrm>
            <a:off x="995680" y="1986285"/>
            <a:ext cx="218714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Tech implementation</a:t>
            </a:r>
            <a:endParaRPr lang="en-US" sz="1500" dirty="0"/>
          </a:p>
        </p:txBody>
      </p:sp>
      <p:sp>
        <p:nvSpPr>
          <p:cNvPr id="6" name="Text 4"/>
          <p:cNvSpPr/>
          <p:nvPr/>
        </p:nvSpPr>
        <p:spPr>
          <a:xfrm>
            <a:off x="995680" y="2310135"/>
            <a:ext cx="2187143" cy="66548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D5863"/>
                </a:solidFill>
                <a:latin typeface="IBM Plex Sans" pitchFamily="34" charset="0"/>
                <a:ea typeface="IBM Plex Sans" pitchFamily="34" charset="-122"/>
                <a:cs typeface="IBM Plex Sans" pitchFamily="34" charset="-120"/>
              </a:rPr>
              <a:t>How well is the project built, and how effectively does it use the required tech?</a:t>
            </a:r>
            <a:endParaRPr lang="en-US" sz="1200" dirty="0"/>
          </a:p>
        </p:txBody>
      </p:sp>
      <p:sp>
        <p:nvSpPr>
          <p:cNvPr id="7" name="Shape 5"/>
          <p:cNvSpPr/>
          <p:nvPr/>
        </p:nvSpPr>
        <p:spPr>
          <a:xfrm>
            <a:off x="995680" y="3029583"/>
            <a:ext cx="2123440" cy="0"/>
          </a:xfrm>
          <a:prstGeom prst="line">
            <a:avLst/>
          </a:prstGeom>
          <a:noFill/>
          <a:ln w="6350">
            <a:solidFill>
              <a:srgbClr val="D9CFBF"/>
            </a:solidFill>
            <a:prstDash val="solid"/>
          </a:ln>
        </p:spPr>
      </p:sp>
      <p:sp>
        <p:nvSpPr>
          <p:cNvPr id="8" name="Text 6"/>
          <p:cNvSpPr/>
          <p:nvPr/>
        </p:nvSpPr>
        <p:spPr>
          <a:xfrm>
            <a:off x="995680" y="3107688"/>
            <a:ext cx="21871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Self-hosted MCP server on ECS Fargate, spec 2025-11-25</a:t>
            </a:r>
            <a:endParaRPr lang="en-US" sz="1200" dirty="0"/>
          </a:p>
        </p:txBody>
      </p:sp>
      <p:sp>
        <p:nvSpPr>
          <p:cNvPr id="9" name="Text 7"/>
          <p:cNvSpPr/>
          <p:nvPr/>
        </p:nvSpPr>
        <p:spPr>
          <a:xfrm>
            <a:off x="995680" y="3610608"/>
            <a:ext cx="218714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9 tools, 2 prompts and an MCP App, checked in MCP Inspector and MCPJam</a:t>
            </a:r>
            <a:endParaRPr lang="en-US" sz="1200" dirty="0"/>
          </a:p>
        </p:txBody>
      </p:sp>
      <p:sp>
        <p:nvSpPr>
          <p:cNvPr id="10" name="Text 8"/>
          <p:cNvSpPr/>
          <p:nvPr/>
        </p:nvSpPr>
        <p:spPr>
          <a:xfrm>
            <a:off x="995680" y="4326892"/>
            <a:ext cx="21871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1,264 Python and 138 web tests pass</a:t>
            </a:r>
            <a:endParaRPr lang="en-US" sz="1200" dirty="0"/>
          </a:p>
        </p:txBody>
      </p:sp>
      <p:sp>
        <p:nvSpPr>
          <p:cNvPr id="11" name="Shape 9"/>
          <p:cNvSpPr/>
          <p:nvPr/>
        </p:nvSpPr>
        <p:spPr>
          <a:xfrm>
            <a:off x="3508375" y="1806575"/>
            <a:ext cx="2482850" cy="3126740"/>
          </a:xfrm>
          <a:prstGeom prst="roundRect">
            <a:avLst>
              <a:gd name="adj" fmla="val 3964"/>
            </a:avLst>
          </a:prstGeom>
          <a:solidFill>
            <a:srgbClr val="FFFDF8"/>
          </a:solidFill>
          <a:ln w="6350">
            <a:solidFill>
              <a:srgbClr val="E4DCCF"/>
            </a:solidFill>
            <a:prstDash val="solid"/>
          </a:ln>
        </p:spPr>
      </p:sp>
      <p:sp>
        <p:nvSpPr>
          <p:cNvPr id="12" name="Text 10"/>
          <p:cNvSpPr/>
          <p:nvPr/>
        </p:nvSpPr>
        <p:spPr>
          <a:xfrm>
            <a:off x="3688080" y="1986285"/>
            <a:ext cx="218714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Design</a:t>
            </a:r>
            <a:endParaRPr lang="en-US" sz="1500" dirty="0"/>
          </a:p>
        </p:txBody>
      </p:sp>
      <p:sp>
        <p:nvSpPr>
          <p:cNvPr id="13" name="Text 11"/>
          <p:cNvSpPr/>
          <p:nvPr/>
        </p:nvSpPr>
        <p:spPr>
          <a:xfrm>
            <a:off x="3688080" y="2310135"/>
            <a:ext cx="2187143" cy="66548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D5863"/>
                </a:solidFill>
                <a:latin typeface="IBM Plex Sans" pitchFamily="34" charset="0"/>
                <a:ea typeface="IBM Plex Sans" pitchFamily="34" charset="-122"/>
                <a:cs typeface="IBM Plex Sans" pitchFamily="34" charset="-120"/>
              </a:rPr>
              <a:t>Does the project deliver a complete, coherent product experience?</a:t>
            </a:r>
            <a:endParaRPr lang="en-US" sz="1200" dirty="0"/>
          </a:p>
        </p:txBody>
      </p:sp>
      <p:sp>
        <p:nvSpPr>
          <p:cNvPr id="14" name="Shape 12"/>
          <p:cNvSpPr/>
          <p:nvPr/>
        </p:nvSpPr>
        <p:spPr>
          <a:xfrm>
            <a:off x="3688080" y="3029583"/>
            <a:ext cx="2123440" cy="0"/>
          </a:xfrm>
          <a:prstGeom prst="line">
            <a:avLst/>
          </a:prstGeom>
          <a:noFill/>
          <a:ln w="6350">
            <a:solidFill>
              <a:srgbClr val="D9CFBF"/>
            </a:solidFill>
            <a:prstDash val="solid"/>
          </a:ln>
        </p:spPr>
      </p:sp>
      <p:sp>
        <p:nvSpPr>
          <p:cNvPr id="15" name="Text 13"/>
          <p:cNvSpPr/>
          <p:nvPr/>
        </p:nvSpPr>
        <p:spPr>
          <a:xfrm>
            <a:off x="3688080" y="3107688"/>
            <a:ext cx="21871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Voice first, because her hands are on a walking frame</a:t>
            </a:r>
            <a:endParaRPr lang="en-US" sz="1200" dirty="0"/>
          </a:p>
        </p:txBody>
      </p:sp>
      <p:sp>
        <p:nvSpPr>
          <p:cNvPr id="16" name="Text 14"/>
          <p:cNvSpPr/>
          <p:nvPr/>
        </p:nvSpPr>
        <p:spPr>
          <a:xfrm>
            <a:off x="3688080" y="3610608"/>
            <a:ext cx="218714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screen drawn to Amazon's add-on design guide: large text, simple cards</a:t>
            </a:r>
            <a:endParaRPr lang="en-US" sz="1200" dirty="0"/>
          </a:p>
        </p:txBody>
      </p:sp>
      <p:sp>
        <p:nvSpPr>
          <p:cNvPr id="17" name="Text 15"/>
          <p:cNvSpPr/>
          <p:nvPr/>
        </p:nvSpPr>
        <p:spPr>
          <a:xfrm>
            <a:off x="3688080" y="4326892"/>
            <a:ext cx="21871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The whole flow also works by text</a:t>
            </a:r>
            <a:endParaRPr lang="en-US" sz="1200" dirty="0"/>
          </a:p>
        </p:txBody>
      </p:sp>
      <p:sp>
        <p:nvSpPr>
          <p:cNvPr id="18" name="Shape 16"/>
          <p:cNvSpPr/>
          <p:nvPr/>
        </p:nvSpPr>
        <p:spPr>
          <a:xfrm>
            <a:off x="6200775" y="1806575"/>
            <a:ext cx="2482850" cy="3126740"/>
          </a:xfrm>
          <a:prstGeom prst="roundRect">
            <a:avLst>
              <a:gd name="adj" fmla="val 3964"/>
            </a:avLst>
          </a:prstGeom>
          <a:solidFill>
            <a:srgbClr val="FFFDF8"/>
          </a:solidFill>
          <a:ln w="6350">
            <a:solidFill>
              <a:srgbClr val="E4DCCF"/>
            </a:solidFill>
            <a:prstDash val="solid"/>
          </a:ln>
        </p:spPr>
      </p:sp>
      <p:sp>
        <p:nvSpPr>
          <p:cNvPr id="19" name="Text 17"/>
          <p:cNvSpPr/>
          <p:nvPr/>
        </p:nvSpPr>
        <p:spPr>
          <a:xfrm>
            <a:off x="6380480" y="1986285"/>
            <a:ext cx="218714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Potential impact</a:t>
            </a:r>
            <a:endParaRPr lang="en-US" sz="1500" dirty="0"/>
          </a:p>
        </p:txBody>
      </p:sp>
      <p:sp>
        <p:nvSpPr>
          <p:cNvPr id="20" name="Text 18"/>
          <p:cNvSpPr/>
          <p:nvPr/>
        </p:nvSpPr>
        <p:spPr>
          <a:xfrm>
            <a:off x="6380480" y="2310135"/>
            <a:ext cx="2187143" cy="66548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D5863"/>
                </a:solidFill>
                <a:latin typeface="IBM Plex Sans" pitchFamily="34" charset="0"/>
                <a:ea typeface="IBM Plex Sans" pitchFamily="34" charset="-122"/>
                <a:cs typeface="IBM Plex Sans" pitchFamily="34" charset="-120"/>
              </a:rPr>
              <a:t>Does the project make a credible, specific case for solving customer needs?</a:t>
            </a:r>
            <a:endParaRPr lang="en-US" sz="1200" dirty="0"/>
          </a:p>
        </p:txBody>
      </p:sp>
      <p:sp>
        <p:nvSpPr>
          <p:cNvPr id="21" name="Shape 19"/>
          <p:cNvSpPr/>
          <p:nvPr/>
        </p:nvSpPr>
        <p:spPr>
          <a:xfrm>
            <a:off x="6380480" y="3029583"/>
            <a:ext cx="2123440" cy="0"/>
          </a:xfrm>
          <a:prstGeom prst="line">
            <a:avLst/>
          </a:prstGeom>
          <a:noFill/>
          <a:ln w="6350">
            <a:solidFill>
              <a:srgbClr val="D9CFBF"/>
            </a:solidFill>
            <a:prstDash val="solid"/>
          </a:ln>
        </p:spPr>
      </p:sp>
      <p:sp>
        <p:nvSpPr>
          <p:cNvPr id="22" name="Text 20"/>
          <p:cNvSpPr/>
          <p:nvPr/>
        </p:nvSpPr>
        <p:spPr>
          <a:xfrm>
            <a:off x="6380480" y="3107688"/>
            <a:ext cx="21871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One named user and one specific need</a:t>
            </a:r>
            <a:endParaRPr lang="en-US" sz="1200" dirty="0"/>
          </a:p>
        </p:txBody>
      </p:sp>
      <p:sp>
        <p:nvSpPr>
          <p:cNvPr id="23" name="Text 21"/>
          <p:cNvSpPr/>
          <p:nvPr/>
        </p:nvSpPr>
        <p:spPr>
          <a:xfrm>
            <a:off x="6380480" y="3610608"/>
            <a:ext cx="21871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Every number has a source or is our own test</a:t>
            </a:r>
            <a:endParaRPr lang="en-US" sz="1200" dirty="0"/>
          </a:p>
        </p:txBody>
      </p:sp>
      <p:sp>
        <p:nvSpPr>
          <p:cNvPr id="24" name="Text 22"/>
          <p:cNvSpPr/>
          <p:nvPr/>
        </p:nvSpPr>
        <p:spPr>
          <a:xfrm>
            <a:off x="6380480" y="4113535"/>
            <a:ext cx="21871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North Star metric, measured from day one</a:t>
            </a:r>
            <a:endParaRPr lang="en-US" sz="1200" dirty="0"/>
          </a:p>
        </p:txBody>
      </p:sp>
      <p:sp>
        <p:nvSpPr>
          <p:cNvPr id="25" name="Shape 23"/>
          <p:cNvSpPr/>
          <p:nvPr/>
        </p:nvSpPr>
        <p:spPr>
          <a:xfrm>
            <a:off x="8893175" y="1806575"/>
            <a:ext cx="2482850" cy="3126740"/>
          </a:xfrm>
          <a:prstGeom prst="roundRect">
            <a:avLst>
              <a:gd name="adj" fmla="val 3964"/>
            </a:avLst>
          </a:prstGeom>
          <a:solidFill>
            <a:srgbClr val="FFFDF8"/>
          </a:solidFill>
          <a:ln w="6350">
            <a:solidFill>
              <a:srgbClr val="E4DCCF"/>
            </a:solidFill>
            <a:prstDash val="solid"/>
          </a:ln>
        </p:spPr>
      </p:sp>
      <p:sp>
        <p:nvSpPr>
          <p:cNvPr id="26" name="Text 24"/>
          <p:cNvSpPr/>
          <p:nvPr/>
        </p:nvSpPr>
        <p:spPr>
          <a:xfrm>
            <a:off x="9072880" y="1986285"/>
            <a:ext cx="2187143"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Quality of the idea</a:t>
            </a:r>
            <a:endParaRPr lang="en-US" sz="1500" dirty="0"/>
          </a:p>
        </p:txBody>
      </p:sp>
      <p:sp>
        <p:nvSpPr>
          <p:cNvPr id="27" name="Text 25"/>
          <p:cNvSpPr/>
          <p:nvPr/>
        </p:nvSpPr>
        <p:spPr>
          <a:xfrm>
            <a:off x="9072880" y="2310135"/>
            <a:ext cx="2187143"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D5863"/>
                </a:solidFill>
                <a:latin typeface="IBM Plex Sans" pitchFamily="34" charset="0"/>
                <a:ea typeface="IBM Plex Sans" pitchFamily="34" charset="-122"/>
                <a:cs typeface="IBM Plex Sans" pitchFamily="34" charset="-120"/>
              </a:rPr>
              <a:t>Is this a creative, imaginative use of the required tools?</a:t>
            </a:r>
            <a:endParaRPr lang="en-US" sz="1200" dirty="0"/>
          </a:p>
        </p:txBody>
      </p:sp>
      <p:sp>
        <p:nvSpPr>
          <p:cNvPr id="28" name="Shape 26"/>
          <p:cNvSpPr/>
          <p:nvPr/>
        </p:nvSpPr>
        <p:spPr>
          <a:xfrm>
            <a:off x="9072880" y="2816225"/>
            <a:ext cx="2123440" cy="0"/>
          </a:xfrm>
          <a:prstGeom prst="line">
            <a:avLst/>
          </a:prstGeom>
          <a:noFill/>
          <a:ln w="6350">
            <a:solidFill>
              <a:srgbClr val="D9CFBF"/>
            </a:solidFill>
            <a:prstDash val="solid"/>
          </a:ln>
        </p:spPr>
      </p:sp>
      <p:sp>
        <p:nvSpPr>
          <p:cNvPr id="29" name="Text 27"/>
          <p:cNvSpPr/>
          <p:nvPr/>
        </p:nvSpPr>
        <p:spPr>
          <a:xfrm>
            <a:off x="9072880" y="2894330"/>
            <a:ext cx="21871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More than a reminder or document Q&amp;A</a:t>
            </a:r>
            <a:endParaRPr lang="en-US" sz="1200" dirty="0"/>
          </a:p>
        </p:txBody>
      </p:sp>
      <p:sp>
        <p:nvSpPr>
          <p:cNvPr id="30" name="Text 28"/>
          <p:cNvSpPr/>
          <p:nvPr/>
        </p:nvSpPr>
        <p:spPr>
          <a:xfrm>
            <a:off x="9072880" y="3397250"/>
            <a:ext cx="21871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plan that knows what is done and never guesses</a:t>
            </a:r>
            <a:endParaRPr lang="en-US" sz="1200" dirty="0"/>
          </a:p>
        </p:txBody>
      </p:sp>
      <p:sp>
        <p:nvSpPr>
          <p:cNvPr id="31" name="Text 29"/>
          <p:cNvSpPr/>
          <p:nvPr/>
        </p:nvSpPr>
        <p:spPr>
          <a:xfrm>
            <a:off x="9072880" y="3900177"/>
            <a:ext cx="21871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The gate is a reusable open-source package</a:t>
            </a:r>
            <a:endParaRPr lang="en-US" sz="1200" dirty="0"/>
          </a:p>
        </p:txBody>
      </p:sp>
      <p:sp>
        <p:nvSpPr>
          <p:cNvPr id="32" name="Text 30"/>
          <p:cNvSpPr/>
          <p:nvPr/>
        </p:nvSpPr>
        <p:spPr>
          <a:xfrm>
            <a:off x="812800" y="519049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Bonus, up to 10%: a friction log with 14 entries, each with a suggestion for Amazon. Required: product feedback on every tool we used.</a:t>
            </a:r>
            <a:endParaRPr lang="en-US" sz="1200" dirty="0"/>
          </a:p>
        </p:txBody>
      </p:sp>
      <p:sp>
        <p:nvSpPr>
          <p:cNvPr id="33" name="Shape 31"/>
          <p:cNvSpPr/>
          <p:nvPr/>
        </p:nvSpPr>
        <p:spPr>
          <a:xfrm>
            <a:off x="0" y="0"/>
            <a:ext cx="12192000" cy="508000"/>
          </a:xfrm>
          <a:prstGeom prst="rect">
            <a:avLst/>
          </a:prstGeom>
          <a:solidFill>
            <a:srgbClr val="A51F4C"/>
          </a:solidFill>
          <a:ln/>
        </p:spPr>
      </p:sp>
      <p:pic>
        <p:nvPicPr>
          <p:cNvPr id="34"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35" name="Text 32"/>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36" name="Text 33"/>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37" name="Shape 34"/>
          <p:cNvSpPr/>
          <p:nvPr/>
        </p:nvSpPr>
        <p:spPr>
          <a:xfrm>
            <a:off x="0" y="6502400"/>
            <a:ext cx="12192000" cy="355600"/>
          </a:xfrm>
          <a:prstGeom prst="rect">
            <a:avLst/>
          </a:prstGeom>
          <a:solidFill>
            <a:srgbClr val="A51F4C"/>
          </a:solidFill>
          <a:ln/>
        </p:spPr>
      </p:sp>
      <p:sp>
        <p:nvSpPr>
          <p:cNvPr id="38" name="Text 35"/>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39" name="Text 36"/>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40" name="Rectangle 39"/>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image.png"/>
          <p:cNvPicPr>
            <a:picLocks noChangeAspect="1"/>
          </p:cNvPicPr>
          <p:nvPr/>
        </p:nvPicPr>
        <p:blipFill>
          <a:blip r:embed="rId4"/>
          <a:stretch>
            <a:fillRect/>
          </a:stretch>
        </p:blipFill>
        <p:spPr>
          <a:xfrm>
            <a:off x="228600" y="102412"/>
            <a:ext cx="292608" cy="292608"/>
          </a:xfrm>
          <a:prstGeom prst="rect">
            <a:avLst/>
          </a:prstGeom>
        </p:spPr>
      </p:pic>
      <p:sp>
        <p:nvSpPr>
          <p:cNvPr id="42" name="TextBox 41"/>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43" name="TextBox 42"/>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44" name="Rectangle 43"/>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46" name="TextBox 45"/>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7222B"/>
        </a:solidFill>
      </p:bgPr>
    </p:bg>
    <p:spTree>
      <p:nvGrpSpPr>
        <p:cNvPr id="1" name=""/>
        <p:cNvGrpSpPr/>
        <p:nvPr/>
      </p:nvGrpSpPr>
      <p:grpSpPr>
        <a:xfrm>
          <a:off x="0" y="0"/>
          <a:ext cx="0" cy="0"/>
          <a:chOff x="0" y="0"/>
          <a:chExt cx="0" cy="0"/>
        </a:xfrm>
      </p:grpSpPr>
      <p:sp>
        <p:nvSpPr>
          <p:cNvPr id="2" name="Text 0"/>
          <p:cNvSpPr/>
          <p:nvPr/>
        </p:nvSpPr>
        <p:spPr>
          <a:xfrm>
            <a:off x="812800" y="1749586"/>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B8"/>
                </a:solidFill>
                <a:latin typeface="IBM Plex Sans" pitchFamily="34" charset="0"/>
                <a:ea typeface="IBM Plex Sans" pitchFamily="34" charset="-122"/>
                <a:cs typeface="IBM Plex Sans" pitchFamily="34" charset="-120"/>
              </a:rPr>
              <a:t>THE JOURNEY: WHY WE TOOK ON THE WIDER PROBLEM</a:t>
            </a:r>
            <a:endParaRPr lang="en-US" sz="1200" dirty="0"/>
          </a:p>
        </p:txBody>
      </p:sp>
      <p:sp>
        <p:nvSpPr>
          <p:cNvPr id="3" name="Text 1"/>
          <p:cNvSpPr/>
          <p:nvPr>
            <p:ph type="title"/>
          </p:nvPr>
        </p:nvSpPr>
        <p:spPr>
          <a:xfrm>
            <a:off x="812800" y="2216944"/>
            <a:ext cx="10883392" cy="1342073"/>
          </a:xfrm>
          <a:prstGeom prst="rect">
            <a:avLst/>
          </a:prstGeom>
          <a:noFill/>
          <a:ln/>
        </p:spPr>
        <p:txBody>
          <a:bodyPr wrap="square" lIns="0" tIns="0" rIns="0" bIns="0" rtlCol="0" anchor="t">
            <a:normAutofit/>
          </a:bodyPr>
          <a:lstStyle/>
          <a:p>
            <a:pPr algn="l" indent="0" marL="0">
              <a:lnSpc>
                <a:spcPts val="5184"/>
              </a:lnSpc>
              <a:buNone/>
            </a:pPr>
            <a:r>
              <a:rPr lang="en-US" sz="4800" b="1" i="0" spc="-50" kern="0" dirty="0">
                <a:solidFill>
                  <a:srgbClr val="FFF8F0"/>
                </a:solidFill>
                <a:latin typeface="Source Serif 4" pitchFamily="18" charset="0"/>
                <a:ea typeface="Source Serif 4" pitchFamily="18" charset="-122"/>
                <a:cs typeface="Source Serif 4" pitchFamily="18" charset="-120"/>
              </a:rPr>
              <a:t>We began with one use case. We chose a wider mission.</a:t>
            </a:r>
            <a:endParaRPr lang="en-US" sz="4800" dirty="0"/>
          </a:p>
        </p:txBody>
      </p:sp>
      <p:sp>
        <p:nvSpPr>
          <p:cNvPr id="4" name="Text 2"/>
          <p:cNvSpPr/>
          <p:nvPr/>
        </p:nvSpPr>
        <p:spPr>
          <a:xfrm>
            <a:off x="812800" y="3787614"/>
            <a:ext cx="981075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FF8F0"/>
                </a:solidFill>
                <a:latin typeface="IBM Plex Sans" pitchFamily="34" charset="0"/>
                <a:ea typeface="IBM Plex Sans" pitchFamily="34" charset="-122"/>
                <a:cs typeface="IBM Plex Sans" pitchFamily="34" charset="-120"/>
              </a:rPr>
              <a:t>Recovery at home can happen at every age, in every country. Our aim: Alexa carries the plan, so patients and the people who care for them are free to focus on getting better.</a:t>
            </a:r>
            <a:endParaRPr lang="en-US" sz="1800" dirty="0"/>
          </a:p>
        </p:txBody>
      </p:sp>
      <p:sp>
        <p:nvSpPr>
          <p:cNvPr id="5" name="Text 3"/>
          <p:cNvSpPr/>
          <p:nvPr/>
        </p:nvSpPr>
        <p:spPr>
          <a:xfrm>
            <a:off x="812800" y="4681699"/>
            <a:ext cx="98107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CB"/>
                </a:solidFill>
                <a:latin typeface="IBM Plex Sans" pitchFamily="34" charset="0"/>
                <a:ea typeface="IBM Plex Sans" pitchFamily="34" charset="-122"/>
                <a:cs typeface="IBM Plex Sans" pitchFamily="34" charset="-120"/>
              </a:rPr>
              <a:t>Built so far: synthetic letters for patients of different ages and conditions. Alexa+ is simulated. Everything beyond the hackathon build is a plan.</a:t>
            </a:r>
            <a:endParaRPr lang="en-US" sz="1200" dirty="0"/>
          </a:p>
        </p:txBody>
      </p:sp>
      <p:sp>
        <p:nvSpPr>
          <p:cNvPr id="6" name="Shape 4"/>
          <p:cNvSpPr/>
          <p:nvPr/>
        </p:nvSpPr>
        <p:spPr>
          <a:xfrm>
            <a:off x="0" y="0"/>
            <a:ext cx="12192000" cy="508000"/>
          </a:xfrm>
          <a:prstGeom prst="rect">
            <a:avLst/>
          </a:prstGeom>
          <a:solidFill>
            <a:srgbClr val="A51F4C"/>
          </a:solidFill>
          <a:ln/>
        </p:spPr>
      </p:sp>
      <p:pic>
        <p:nvPicPr>
          <p:cNvPr id="7"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8" name="Text 5"/>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9" name="Text 6"/>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10" name="Shape 7"/>
          <p:cNvSpPr/>
          <p:nvPr/>
        </p:nvSpPr>
        <p:spPr>
          <a:xfrm>
            <a:off x="0" y="6502400"/>
            <a:ext cx="12192000" cy="355600"/>
          </a:xfrm>
          <a:prstGeom prst="rect">
            <a:avLst/>
          </a:prstGeom>
          <a:solidFill>
            <a:srgbClr val="A51F4C"/>
          </a:solidFill>
          <a:ln/>
        </p:spPr>
      </p:sp>
      <p:sp>
        <p:nvSpPr>
          <p:cNvPr id="11" name="Text 8"/>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2" name="Text 9"/>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13" name="Rectangle 1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28600" y="102412"/>
            <a:ext cx="292608" cy="292608"/>
          </a:xfrm>
          <a:prstGeom prst="rect">
            <a:avLst/>
          </a:prstGeom>
        </p:spPr>
      </p:pic>
      <p:sp>
        <p:nvSpPr>
          <p:cNvPr id="15" name="TextBox 1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16" name="TextBox 1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17" name="Rectangle 1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19" name="TextBox 1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722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B8"/>
                </a:solidFill>
                <a:latin typeface="IBM Plex Sans" pitchFamily="34" charset="0"/>
                <a:ea typeface="IBM Plex Sans" pitchFamily="34" charset="-122"/>
                <a:cs typeface="IBM Plex Sans" pitchFamily="34" charset="-120"/>
              </a:rPr>
              <a:t>AFTERWARD: A LIVING RECOVERY PLAN FOR ALEXA+</a:t>
            </a:r>
            <a:endParaRPr lang="en-US" sz="1200" dirty="0"/>
          </a:p>
        </p:txBody>
      </p:sp>
      <p:sp>
        <p:nvSpPr>
          <p:cNvPr id="3" name="Text 1"/>
          <p:cNvSpPr/>
          <p:nvPr>
            <p:ph type="title"/>
          </p:nvPr>
        </p:nvSpPr>
        <p:spPr>
          <a:xfrm>
            <a:off x="812800" y="172085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spc="-100" kern="0" dirty="0">
                <a:solidFill>
                  <a:srgbClr val="F6F1E8"/>
                </a:solidFill>
                <a:latin typeface="Source Serif 4" pitchFamily="18" charset="0"/>
                <a:ea typeface="Source Serif 4" pitchFamily="18" charset="-122"/>
                <a:cs typeface="Source Serif 4" pitchFamily="18" charset="-120"/>
              </a:rPr>
              <a:t>Thank you</a:t>
            </a:r>
            <a:endParaRPr lang="en-US" sz="6000" dirty="0"/>
          </a:p>
        </p:txBody>
      </p:sp>
      <p:sp>
        <p:nvSpPr>
          <p:cNvPr id="4" name="Text 2"/>
          <p:cNvSpPr/>
          <p:nvPr/>
        </p:nvSpPr>
        <p:spPr>
          <a:xfrm>
            <a:off x="812800" y="2673350"/>
            <a:ext cx="9156700"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F6F1E8"/>
                </a:solidFill>
                <a:latin typeface="Source Serif 4" pitchFamily="18" charset="0"/>
                <a:ea typeface="Source Serif 4" pitchFamily="18" charset="-122"/>
                <a:cs typeface="Source Serif 4" pitchFamily="18" charset="-120"/>
              </a:rPr>
              <a:t>Discharge is one moment. Recovery happens every day.</a:t>
            </a:r>
            <a:endParaRPr lang="en-US" sz="2000" dirty="0"/>
          </a:p>
        </p:txBody>
      </p:sp>
      <p:sp>
        <p:nvSpPr>
          <p:cNvPr id="5" name="Text 3"/>
          <p:cNvSpPr/>
          <p:nvPr/>
        </p:nvSpPr>
        <p:spPr>
          <a:xfrm>
            <a:off x="812800" y="3460750"/>
            <a:ext cx="78486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7C2CB"/>
                </a:solidFill>
                <a:latin typeface="IBM Plex Sans" pitchFamily="34" charset="0"/>
                <a:ea typeface="IBM Plex Sans" pitchFamily="34" charset="-122"/>
                <a:cs typeface="IBM Plex Sans" pitchFamily="34" charset="-120"/>
              </a:rPr>
              <a:t>We started with Margaret. We are building for everyone recovering at home.</a:t>
            </a:r>
            <a:endParaRPr lang="en-US" sz="1500" dirty="0"/>
          </a:p>
        </p:txBody>
      </p:sp>
      <p:sp>
        <p:nvSpPr>
          <p:cNvPr id="6" name="Text 4"/>
          <p:cNvSpPr/>
          <p:nvPr/>
        </p:nvSpPr>
        <p:spPr>
          <a:xfrm>
            <a:off x="812800" y="4688842"/>
            <a:ext cx="30609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CB"/>
                </a:solidFill>
                <a:latin typeface="IBM Plex Sans" pitchFamily="34" charset="0"/>
                <a:ea typeface="IBM Plex Sans" pitchFamily="34" charset="-122"/>
                <a:cs typeface="IBM Plex Sans" pitchFamily="34" charset="-120"/>
              </a:rPr>
              <a:t>Demo video: [CHARVI: ADD PUBLIC VIDEO URL]</a:t>
            </a:r>
            <a:endParaRPr lang="en-US" sz="1200" dirty="0"/>
          </a:p>
        </p:txBody>
      </p:sp>
      <p:sp>
        <p:nvSpPr>
          <p:cNvPr id="7" name="Text 5"/>
          <p:cNvSpPr/>
          <p:nvPr/>
        </p:nvSpPr>
        <p:spPr>
          <a:xfrm>
            <a:off x="812800" y="4940300"/>
            <a:ext cx="30609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CB"/>
                </a:solidFill>
                <a:latin typeface="IBM Plex Sans" pitchFamily="34" charset="0"/>
                <a:ea typeface="IBM Plex Sans" pitchFamily="34" charset="-122"/>
                <a:cs typeface="IBM Plex Sans" pitchFamily="34" charset="-120"/>
              </a:rPr>
              <a:t>AfterWard: github.com/charvimaurya/post-discharge-mcp</a:t>
            </a:r>
            <a:endParaRPr lang="en-US" sz="1200" dirty="0"/>
          </a:p>
        </p:txBody>
      </p:sp>
      <p:sp>
        <p:nvSpPr>
          <p:cNvPr id="8" name="Text 6"/>
          <p:cNvSpPr/>
          <p:nvPr/>
        </p:nvSpPr>
        <p:spPr>
          <a:xfrm>
            <a:off x="812800" y="5405127"/>
            <a:ext cx="306095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7C2CB"/>
                </a:solidFill>
                <a:latin typeface="IBM Plex Sans" pitchFamily="34" charset="0"/>
                <a:ea typeface="IBM Plex Sans" pitchFamily="34" charset="-122"/>
                <a:cs typeface="IBM Plex Sans" pitchFamily="34" charset="-120"/>
              </a:rPr>
              <a:t>Open source: github.com/charvimaurya/discharge-letter-check</a:t>
            </a:r>
            <a:endParaRPr lang="en-US" sz="1200" dirty="0"/>
          </a:p>
        </p:txBody>
      </p:sp>
      <p:sp>
        <p:nvSpPr>
          <p:cNvPr id="9" name="Text 7"/>
          <p:cNvSpPr/>
          <p:nvPr/>
        </p:nvSpPr>
        <p:spPr>
          <a:xfrm>
            <a:off x="4184650" y="5191758"/>
            <a:ext cx="7194550" cy="87884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7C2CB"/>
                </a:solidFill>
                <a:latin typeface="IBM Plex Sans" pitchFamily="34" charset="0"/>
                <a:ea typeface="IBM Plex Sans" pitchFamily="34" charset="-122"/>
                <a:cs typeface="IBM Plex Sans" pitchFamily="34" charset="-120"/>
              </a:rPr>
              <a:t>Shilpa Agarwal (shilpajagarwal@gmail.com)</a:t>
            </a:r>
            <a:endParaRPr lang="en-US" sz="1200" dirty="0"/>
          </a:p>
          <a:p>
            <a:pPr algn="r" indent="0" marL="0">
              <a:lnSpc>
                <a:spcPts val="1680"/>
              </a:lnSpc>
              <a:buNone/>
            </a:pPr>
            <a:r>
              <a:rPr lang="en-US" sz="1200" dirty="0">
                <a:solidFill>
                  <a:srgbClr val="B7C2CB"/>
                </a:solidFill>
                <a:latin typeface="IBM Plex Sans" pitchFamily="34" charset="0"/>
                <a:ea typeface="IBM Plex Sans" pitchFamily="34" charset="-122"/>
                <a:cs typeface="IBM Plex Sans" pitchFamily="34" charset="-120"/>
              </a:rPr>
              <a:t>Charvi Maurya, final-year Computer Science student (charvim2006@gmail.com)</a:t>
            </a:r>
            <a:endParaRPr lang="en-US" sz="1200" dirty="0"/>
          </a:p>
          <a:p>
            <a:pPr algn="r" indent="0" marL="0">
              <a:lnSpc>
                <a:spcPts val="1680"/>
              </a:lnSpc>
              <a:buNone/>
            </a:pPr>
            <a:r>
              <a:rPr lang="en-US" sz="1200" dirty="0">
                <a:solidFill>
                  <a:srgbClr val="F2A3B8"/>
                </a:solidFill>
                <a:latin typeface="IBM Plex Sans" pitchFamily="34" charset="0"/>
                <a:ea typeface="IBM Plex Sans" pitchFamily="34" charset="-122"/>
                <a:cs typeface="IBM Plex Sans" pitchFamily="34" charset="-120"/>
              </a:rPr>
              <a:t>A living plan: reminds, records progress, and flags uncertainty for a person.</a:t>
            </a:r>
            <a:endParaRPr lang="en-US" sz="1200" dirty="0"/>
          </a:p>
          <a:p>
            <a:pPr algn="r" indent="0" marL="0">
              <a:lnSpc>
                <a:spcPts val="1680"/>
              </a:lnSpc>
              <a:buNone/>
            </a:pPr>
            <a:r>
              <a:rPr lang="en-US" sz="1200" dirty="0">
                <a:solidFill>
                  <a:srgbClr val="F6F1E8"/>
                </a:solidFill>
                <a:latin typeface="IBM Plex Sans" pitchFamily="34" charset="0"/>
                <a:ea typeface="IBM Plex Sans" pitchFamily="34" charset="-122"/>
                <a:cs typeface="IBM Plex Sans" pitchFamily="34" charset="-120"/>
              </a:rPr>
              <a:t>Discharge is one moment. Recovery happens every day.</a:t>
            </a:r>
            <a:endParaRPr lang="en-US" sz="1200" dirty="0"/>
          </a:p>
        </p:txBody>
      </p:sp>
      <p:sp>
        <p:nvSpPr>
          <p:cNvPr id="10" name="Shape 8"/>
          <p:cNvSpPr/>
          <p:nvPr/>
        </p:nvSpPr>
        <p:spPr>
          <a:xfrm>
            <a:off x="0" y="0"/>
            <a:ext cx="12192000" cy="508000"/>
          </a:xfrm>
          <a:prstGeom prst="rect">
            <a:avLst/>
          </a:prstGeom>
          <a:solidFill>
            <a:srgbClr val="A51F4C"/>
          </a:solidFill>
          <a:ln/>
        </p:spPr>
      </p:sp>
      <p:pic>
        <p:nvPicPr>
          <p:cNvPr id="11"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12" name="Text 9"/>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13" name="Text 10"/>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14" name="Shape 11"/>
          <p:cNvSpPr/>
          <p:nvPr/>
        </p:nvSpPr>
        <p:spPr>
          <a:xfrm>
            <a:off x="0" y="6502400"/>
            <a:ext cx="12192000" cy="355600"/>
          </a:xfrm>
          <a:prstGeom prst="rect">
            <a:avLst/>
          </a:prstGeom>
          <a:solidFill>
            <a:srgbClr val="A51F4C"/>
          </a:solidFill>
          <a:ln/>
        </p:spPr>
      </p:sp>
      <p:sp>
        <p:nvSpPr>
          <p:cNvPr id="15" name="Text 12"/>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6" name="Text 13"/>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17" name="Rectangle 16"/>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4"/>
          <a:stretch>
            <a:fillRect/>
          </a:stretch>
        </p:blipFill>
        <p:spPr>
          <a:xfrm>
            <a:off x="228600" y="102412"/>
            <a:ext cx="292608" cy="292608"/>
          </a:xfrm>
          <a:prstGeom prst="rect">
            <a:avLst/>
          </a:prstGeom>
        </p:spPr>
      </p:pic>
      <p:sp>
        <p:nvSpPr>
          <p:cNvPr id="19" name="TextBox 18"/>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20" name="TextBox 19"/>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21" name="Rectangle 20"/>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23" name="TextBox 22"/>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7222B"/>
        </a:solidFill>
      </p:bgPr>
    </p:bg>
    <p:spTree>
      <p:nvGrpSpPr>
        <p:cNvPr id="1" name=""/>
        <p:cNvGrpSpPr/>
        <p:nvPr/>
      </p:nvGrpSpPr>
      <p:grpSpPr>
        <a:xfrm>
          <a:off x="0" y="0"/>
          <a:ext cx="0" cy="0"/>
          <a:chOff x="0" y="0"/>
          <a:chExt cx="0" cy="0"/>
        </a:xfrm>
      </p:grpSpPr>
      <p:sp>
        <p:nvSpPr>
          <p:cNvPr id="2" name="Text 0"/>
          <p:cNvSpPr/>
          <p:nvPr/>
        </p:nvSpPr>
        <p:spPr>
          <a:xfrm>
            <a:off x="812800" y="2523257"/>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B8"/>
                </a:solidFill>
                <a:latin typeface="IBM Plex Sans" pitchFamily="34" charset="0"/>
                <a:ea typeface="IBM Plex Sans" pitchFamily="34" charset="-122"/>
                <a:cs typeface="IBM Plex Sans" pitchFamily="34" charset="-120"/>
              </a:rPr>
              <a:t>APPENDIX</a:t>
            </a:r>
            <a:endParaRPr lang="en-US" sz="1200" dirty="0"/>
          </a:p>
        </p:txBody>
      </p:sp>
      <p:sp>
        <p:nvSpPr>
          <p:cNvPr id="3" name="Text 1"/>
          <p:cNvSpPr/>
          <p:nvPr>
            <p:ph type="title"/>
          </p:nvPr>
        </p:nvSpPr>
        <p:spPr>
          <a:xfrm>
            <a:off x="812800" y="2939814"/>
            <a:ext cx="10883392" cy="683736"/>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6F1E8"/>
                </a:solidFill>
                <a:latin typeface="Source Serif 4" pitchFamily="18" charset="0"/>
                <a:ea typeface="Source Serif 4" pitchFamily="18" charset="-122"/>
                <a:cs typeface="Source Serif 4" pitchFamily="18" charset="-120"/>
              </a:rPr>
              <a:t>The detail behind the build</a:t>
            </a:r>
            <a:endParaRPr lang="en-US" sz="4800" dirty="0"/>
          </a:p>
        </p:txBody>
      </p:sp>
      <p:sp>
        <p:nvSpPr>
          <p:cNvPr id="4" name="Text 2"/>
          <p:cNvSpPr/>
          <p:nvPr/>
        </p:nvSpPr>
        <p:spPr>
          <a:xfrm>
            <a:off x="812800" y="3801356"/>
            <a:ext cx="915670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7C2CB"/>
                </a:solidFill>
                <a:latin typeface="IBM Plex Sans" pitchFamily="34" charset="0"/>
                <a:ea typeface="IBM Plex Sans" pitchFamily="34" charset="-122"/>
                <a:cs typeface="IBM Plex Sans" pitchFamily="34" charset="-120"/>
              </a:rPr>
              <a:t>What inspired us, the architecture, every technology choice with its trade-off, how it scales, and what we learned.</a:t>
            </a:r>
            <a:endParaRPr lang="en-US" sz="1500" dirty="0"/>
          </a:p>
        </p:txBody>
      </p:sp>
      <p:sp>
        <p:nvSpPr>
          <p:cNvPr id="5" name="Shape 3"/>
          <p:cNvSpPr/>
          <p:nvPr/>
        </p:nvSpPr>
        <p:spPr>
          <a:xfrm>
            <a:off x="0" y="0"/>
            <a:ext cx="12192000" cy="508000"/>
          </a:xfrm>
          <a:prstGeom prst="rect">
            <a:avLst/>
          </a:prstGeom>
          <a:solidFill>
            <a:srgbClr val="A51F4C"/>
          </a:solidFill>
          <a:ln/>
        </p:spPr>
      </p:sp>
      <p:pic>
        <p:nvPicPr>
          <p:cNvPr id="6"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7" name="Text 4"/>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8" name="Text 5"/>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9" name="Shape 6"/>
          <p:cNvSpPr/>
          <p:nvPr/>
        </p:nvSpPr>
        <p:spPr>
          <a:xfrm>
            <a:off x="0" y="6502400"/>
            <a:ext cx="12192000" cy="355600"/>
          </a:xfrm>
          <a:prstGeom prst="rect">
            <a:avLst/>
          </a:prstGeom>
          <a:solidFill>
            <a:srgbClr val="A51F4C"/>
          </a:solidFill>
          <a:ln/>
        </p:spPr>
      </p:sp>
      <p:sp>
        <p:nvSpPr>
          <p:cNvPr id="10" name="Text 7"/>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1" name="Text 8"/>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12" name="Rectangle 11"/>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4"/>
          <a:stretch>
            <a:fillRect/>
          </a:stretch>
        </p:blipFill>
        <p:spPr>
          <a:xfrm>
            <a:off x="228600" y="102412"/>
            <a:ext cx="292608" cy="292608"/>
          </a:xfrm>
          <a:prstGeom prst="rect">
            <a:avLst/>
          </a:prstGeom>
        </p:spPr>
      </p:pic>
      <p:sp>
        <p:nvSpPr>
          <p:cNvPr id="14" name="TextBox 13"/>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15" name="TextBox 14"/>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16" name="Rectangle 15"/>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18" name="TextBox 17"/>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NEED</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What inspired us</a:t>
            </a:r>
            <a:endParaRPr lang="en-US" sz="3200" dirty="0"/>
          </a:p>
        </p:txBody>
      </p:sp>
      <p:sp>
        <p:nvSpPr>
          <p:cNvPr id="4" name="Text 2"/>
          <p:cNvSpPr/>
          <p:nvPr/>
        </p:nvSpPr>
        <p:spPr>
          <a:xfrm>
            <a:off x="812800" y="1803400"/>
            <a:ext cx="5902147"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17222B"/>
                </a:solidFill>
                <a:latin typeface="Source Serif 4" pitchFamily="18" charset="0"/>
                <a:ea typeface="Source Serif 4" pitchFamily="18" charset="-122"/>
                <a:cs typeface="Source Serif 4" pitchFamily="18" charset="-120"/>
              </a:rPr>
              <a:t>The care team stays at the hospital. The paper goes home.</a:t>
            </a:r>
            <a:endParaRPr lang="en-US" sz="2000" dirty="0"/>
          </a:p>
        </p:txBody>
      </p:sp>
      <p:sp>
        <p:nvSpPr>
          <p:cNvPr id="5" name="Text 3"/>
          <p:cNvSpPr/>
          <p:nvPr/>
        </p:nvSpPr>
        <p:spPr>
          <a:xfrm>
            <a:off x="812800" y="2616200"/>
            <a:ext cx="590214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From that moment, the patient has to remember which medicine is due, what they are allowed to do, when the follow-up is and which warning signs matter. They do this while tired, sore or in pain.</a:t>
            </a:r>
            <a:endParaRPr lang="en-US" sz="1500" dirty="0"/>
          </a:p>
        </p:txBody>
      </p:sp>
      <p:sp>
        <p:nvSpPr>
          <p:cNvPr id="6" name="Text 4"/>
          <p:cNvSpPr/>
          <p:nvPr/>
        </p:nvSpPr>
        <p:spPr>
          <a:xfrm>
            <a:off x="812800" y="3594100"/>
            <a:ext cx="5902147"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D5863"/>
                </a:solidFill>
                <a:latin typeface="IBM Plex Sans" pitchFamily="34" charset="0"/>
                <a:ea typeface="IBM Plex Sans" pitchFamily="34" charset="-122"/>
                <a:cs typeface="IBM Plex Sans" pitchFamily="34" charset="-120"/>
              </a:rPr>
              <a:t>The information is all on the page. But paper cannot notice that you already did your morning walk. We wanted to help with the part of recovery that happens at home, the everyday moments that matter, and make that support available to people of any age, anywhere in the world.</a:t>
            </a:r>
            <a:endParaRPr lang="en-US" sz="1500" dirty="0"/>
          </a:p>
        </p:txBody>
      </p:sp>
      <p:sp>
        <p:nvSpPr>
          <p:cNvPr id="7" name="Shape 5"/>
          <p:cNvSpPr/>
          <p:nvPr/>
        </p:nvSpPr>
        <p:spPr>
          <a:xfrm>
            <a:off x="6949440" y="1803400"/>
            <a:ext cx="4429760" cy="3124200"/>
          </a:xfrm>
          <a:prstGeom prst="roundRect">
            <a:avLst>
              <a:gd name="adj" fmla="val 3252"/>
            </a:avLst>
          </a:prstGeom>
          <a:solidFill>
            <a:srgbClr val="F1EBE0"/>
          </a:solidFill>
          <a:ln/>
        </p:spPr>
      </p:sp>
      <p:sp>
        <p:nvSpPr>
          <p:cNvPr id="8" name="Text 6"/>
          <p:cNvSpPr/>
          <p:nvPr/>
        </p:nvSpPr>
        <p:spPr>
          <a:xfrm>
            <a:off x="7254240" y="2302508"/>
            <a:ext cx="3934765"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WHO WE BUILT FOR</a:t>
            </a:r>
            <a:endParaRPr lang="en-US" sz="1200" dirty="0"/>
          </a:p>
        </p:txBody>
      </p:sp>
      <p:sp>
        <p:nvSpPr>
          <p:cNvPr id="9" name="Text 7"/>
          <p:cNvSpPr/>
          <p:nvPr/>
        </p:nvSpPr>
        <p:spPr>
          <a:xfrm>
            <a:off x="7254240" y="2642877"/>
            <a:ext cx="3934765"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7222B"/>
                </a:solidFill>
                <a:latin typeface="Source Serif 4" pitchFamily="18" charset="0"/>
                <a:ea typeface="Source Serif 4" pitchFamily="18" charset="-122"/>
                <a:cs typeface="Source Serif 4" pitchFamily="18" charset="-120"/>
              </a:rPr>
              <a:t>Margaret, 68</a:t>
            </a:r>
            <a:endParaRPr lang="en-US" sz="2000" dirty="0"/>
          </a:p>
        </p:txBody>
      </p:sp>
      <p:sp>
        <p:nvSpPr>
          <p:cNvPr id="10" name="Text 8"/>
          <p:cNvSpPr/>
          <p:nvPr/>
        </p:nvSpPr>
        <p:spPr>
          <a:xfrm>
            <a:off x="7254240" y="3074677"/>
            <a:ext cx="393476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22B"/>
                </a:solidFill>
                <a:latin typeface="IBM Plex Sans" pitchFamily="34" charset="0"/>
                <a:ea typeface="IBM Plex Sans" pitchFamily="34" charset="-122"/>
                <a:cs typeface="IBM Plex Sans" pitchFamily="34" charset="-120"/>
              </a:rPr>
              <a:t>A new knee, a walking frame and a few sheets of paper. Her hands are on the frame, so talking is easier than tapping.</a:t>
            </a:r>
            <a:endParaRPr lang="en-US" sz="1500" dirty="0"/>
          </a:p>
        </p:txBody>
      </p:sp>
      <p:sp>
        <p:nvSpPr>
          <p:cNvPr id="11" name="Text 9"/>
          <p:cNvSpPr/>
          <p:nvPr/>
        </p:nvSpPr>
        <p:spPr>
          <a:xfrm>
            <a:off x="7254240" y="4001777"/>
            <a:ext cx="39347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synthetic patient. No real patient data is used anywhere.</a:t>
            </a:r>
            <a:endParaRPr lang="en-US" sz="1200" dirty="0"/>
          </a:p>
        </p:txBody>
      </p:sp>
      <p:sp>
        <p:nvSpPr>
          <p:cNvPr id="12" name="Shape 10"/>
          <p:cNvSpPr/>
          <p:nvPr/>
        </p:nvSpPr>
        <p:spPr>
          <a:xfrm>
            <a:off x="0" y="0"/>
            <a:ext cx="12192000" cy="508000"/>
          </a:xfrm>
          <a:prstGeom prst="rect">
            <a:avLst/>
          </a:prstGeom>
          <a:solidFill>
            <a:srgbClr val="A51F4C"/>
          </a:solidFill>
          <a:ln/>
        </p:spPr>
      </p:sp>
      <p:pic>
        <p:nvPicPr>
          <p:cNvPr id="13"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14" name="Text 11"/>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15" name="Text 12"/>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16" name="Shape 13"/>
          <p:cNvSpPr/>
          <p:nvPr/>
        </p:nvSpPr>
        <p:spPr>
          <a:xfrm>
            <a:off x="0" y="6502400"/>
            <a:ext cx="12192000" cy="355600"/>
          </a:xfrm>
          <a:prstGeom prst="rect">
            <a:avLst/>
          </a:prstGeom>
          <a:solidFill>
            <a:srgbClr val="A51F4C"/>
          </a:solidFill>
          <a:ln/>
        </p:spPr>
      </p:sp>
      <p:sp>
        <p:nvSpPr>
          <p:cNvPr id="17" name="Text 14"/>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8" name="Text 15"/>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19" name="Rectangle 18"/>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image.png"/>
          <p:cNvPicPr>
            <a:picLocks noChangeAspect="1"/>
          </p:cNvPicPr>
          <p:nvPr/>
        </p:nvPicPr>
        <p:blipFill>
          <a:blip r:embed="rId4"/>
          <a:stretch>
            <a:fillRect/>
          </a:stretch>
        </p:blipFill>
        <p:spPr>
          <a:xfrm>
            <a:off x="228600" y="102412"/>
            <a:ext cx="292608" cy="292608"/>
          </a:xfrm>
          <a:prstGeom prst="rect">
            <a:avLst/>
          </a:prstGeom>
        </p:spPr>
      </p:pic>
      <p:sp>
        <p:nvSpPr>
          <p:cNvPr id="21" name="TextBox 20"/>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22" name="TextBox 21"/>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23" name="Rectangle 22"/>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25" name="TextBox 24"/>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HOW IT IS BUILT: THREE PATHS THAT MEET IN THE DATA</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Architecture: hackathon build</a:t>
            </a:r>
            <a:endParaRPr lang="en-US" sz="3200" dirty="0"/>
          </a:p>
        </p:txBody>
      </p:sp>
      <p:sp>
        <p:nvSpPr>
          <p:cNvPr id="4" name="Shape 2"/>
          <p:cNvSpPr/>
          <p:nvPr/>
        </p:nvSpPr>
        <p:spPr>
          <a:xfrm>
            <a:off x="812800" y="1701800"/>
            <a:ext cx="8547100" cy="1295400"/>
          </a:xfrm>
          <a:prstGeom prst="roundRect">
            <a:avLst>
              <a:gd name="adj" fmla="val 7843"/>
            </a:avLst>
          </a:prstGeom>
          <a:solidFill>
            <a:srgbClr val="F1EBE0"/>
          </a:solidFill>
          <a:ln/>
        </p:spPr>
      </p:sp>
      <p:sp>
        <p:nvSpPr>
          <p:cNvPr id="5" name="Shape 3"/>
          <p:cNvSpPr/>
          <p:nvPr/>
        </p:nvSpPr>
        <p:spPr>
          <a:xfrm>
            <a:off x="812800" y="3124200"/>
            <a:ext cx="8547100" cy="1295400"/>
          </a:xfrm>
          <a:prstGeom prst="roundRect">
            <a:avLst>
              <a:gd name="adj" fmla="val 7843"/>
            </a:avLst>
          </a:prstGeom>
          <a:solidFill>
            <a:srgbClr val="F1EBE0"/>
          </a:solidFill>
          <a:ln/>
        </p:spPr>
      </p:sp>
      <p:sp>
        <p:nvSpPr>
          <p:cNvPr id="6" name="Shape 4"/>
          <p:cNvSpPr/>
          <p:nvPr/>
        </p:nvSpPr>
        <p:spPr>
          <a:xfrm>
            <a:off x="812800" y="4546600"/>
            <a:ext cx="8547100" cy="1295400"/>
          </a:xfrm>
          <a:prstGeom prst="roundRect">
            <a:avLst>
              <a:gd name="adj" fmla="val 7843"/>
            </a:avLst>
          </a:prstGeom>
          <a:solidFill>
            <a:srgbClr val="F1EBE0"/>
          </a:solidFill>
          <a:ln/>
        </p:spPr>
      </p:sp>
      <p:sp>
        <p:nvSpPr>
          <p:cNvPr id="7" name="Text 5"/>
          <p:cNvSpPr/>
          <p:nvPr/>
        </p:nvSpPr>
        <p:spPr>
          <a:xfrm>
            <a:off x="939800" y="1854200"/>
            <a:ext cx="1066800" cy="596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A</a:t>
            </a:r>
            <a:endParaRPr lang="en-US" sz="1200" dirty="0"/>
          </a:p>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Talking to the plan</a:t>
            </a:r>
            <a:endParaRPr lang="en-US" sz="1200" dirty="0"/>
          </a:p>
        </p:txBody>
      </p:sp>
      <p:sp>
        <p:nvSpPr>
          <p:cNvPr id="8" name="Text 6"/>
          <p:cNvSpPr/>
          <p:nvPr/>
        </p:nvSpPr>
        <p:spPr>
          <a:xfrm>
            <a:off x="939800" y="3276600"/>
            <a:ext cx="1066800" cy="787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B</a:t>
            </a:r>
            <a:endParaRPr lang="en-US" sz="1200" dirty="0"/>
          </a:p>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A letter becomes a plan</a:t>
            </a:r>
            <a:endParaRPr lang="en-US" sz="1200" dirty="0"/>
          </a:p>
        </p:txBody>
      </p:sp>
      <p:sp>
        <p:nvSpPr>
          <p:cNvPr id="9" name="Text 7"/>
          <p:cNvSpPr/>
          <p:nvPr/>
        </p:nvSpPr>
        <p:spPr>
          <a:xfrm>
            <a:off x="939800" y="4699000"/>
            <a:ext cx="1066800" cy="596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C</a:t>
            </a:r>
            <a:endParaRPr lang="en-US" sz="1200" dirty="0"/>
          </a:p>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AfterWard speaks first</a:t>
            </a:r>
            <a:endParaRPr lang="en-US" sz="1200" dirty="0"/>
          </a:p>
        </p:txBody>
      </p:sp>
      <p:sp>
        <p:nvSpPr>
          <p:cNvPr id="10" name="Shape 8"/>
          <p:cNvSpPr/>
          <p:nvPr/>
        </p:nvSpPr>
        <p:spPr>
          <a:xfrm>
            <a:off x="2060575" y="1857375"/>
            <a:ext cx="1581150" cy="984250"/>
          </a:xfrm>
          <a:prstGeom prst="roundRect">
            <a:avLst>
              <a:gd name="adj" fmla="val 7419"/>
            </a:avLst>
          </a:prstGeom>
          <a:solidFill>
            <a:srgbClr val="FFFDF8"/>
          </a:solidFill>
          <a:ln w="6350">
            <a:solidFill>
              <a:srgbClr val="CFC4B2"/>
            </a:solidFill>
            <a:prstDash val="solid"/>
          </a:ln>
        </p:spPr>
      </p:sp>
      <p:sp>
        <p:nvSpPr>
          <p:cNvPr id="11" name="Text 9"/>
          <p:cNvSpPr/>
          <p:nvPr/>
        </p:nvSpPr>
        <p:spPr>
          <a:xfrm>
            <a:off x="2164080" y="2159000"/>
            <a:ext cx="14249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Margaret</a:t>
            </a:r>
            <a:endParaRPr lang="en-US" sz="1200" dirty="0"/>
          </a:p>
        </p:txBody>
      </p:sp>
      <p:sp>
        <p:nvSpPr>
          <p:cNvPr id="12" name="Text 10"/>
          <p:cNvSpPr/>
          <p:nvPr/>
        </p:nvSpPr>
        <p:spPr>
          <a:xfrm>
            <a:off x="2164080" y="2349500"/>
            <a:ext cx="14249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talks or types</a:t>
            </a:r>
            <a:endParaRPr lang="en-US" sz="1200" dirty="0"/>
          </a:p>
        </p:txBody>
      </p:sp>
      <p:sp>
        <p:nvSpPr>
          <p:cNvPr id="13" name="Shape 11"/>
          <p:cNvSpPr/>
          <p:nvPr/>
        </p:nvSpPr>
        <p:spPr>
          <a:xfrm>
            <a:off x="3927475" y="1857375"/>
            <a:ext cx="1581150" cy="984250"/>
          </a:xfrm>
          <a:prstGeom prst="roundRect">
            <a:avLst>
              <a:gd name="adj" fmla="val 7419"/>
            </a:avLst>
          </a:prstGeom>
          <a:solidFill>
            <a:srgbClr val="FFFDF8"/>
          </a:solidFill>
          <a:ln w="6350">
            <a:solidFill>
              <a:srgbClr val="CFC4B2"/>
            </a:solidFill>
            <a:prstDash val="solid"/>
          </a:ln>
        </p:spPr>
      </p:sp>
      <p:sp>
        <p:nvSpPr>
          <p:cNvPr id="14" name="Text 12"/>
          <p:cNvSpPr/>
          <p:nvPr/>
        </p:nvSpPr>
        <p:spPr>
          <a:xfrm>
            <a:off x="4030980" y="1968500"/>
            <a:ext cx="142494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Simulated Alexa+ client</a:t>
            </a:r>
            <a:endParaRPr lang="en-US" sz="1200" dirty="0"/>
          </a:p>
        </p:txBody>
      </p:sp>
      <p:sp>
        <p:nvSpPr>
          <p:cNvPr id="15" name="Text 13"/>
          <p:cNvSpPr/>
          <p:nvPr/>
        </p:nvSpPr>
        <p:spPr>
          <a:xfrm>
            <a:off x="4030980" y="2349500"/>
            <a:ext cx="142494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Next.js, voice in and out</a:t>
            </a:r>
            <a:endParaRPr lang="en-US" sz="1200" dirty="0"/>
          </a:p>
        </p:txBody>
      </p:sp>
      <p:sp>
        <p:nvSpPr>
          <p:cNvPr id="16" name="Shape 14"/>
          <p:cNvSpPr/>
          <p:nvPr/>
        </p:nvSpPr>
        <p:spPr>
          <a:xfrm>
            <a:off x="5794375" y="1857375"/>
            <a:ext cx="1581150" cy="984250"/>
          </a:xfrm>
          <a:prstGeom prst="roundRect">
            <a:avLst>
              <a:gd name="adj" fmla="val 7419"/>
            </a:avLst>
          </a:prstGeom>
          <a:solidFill>
            <a:srgbClr val="FFFDF8"/>
          </a:solidFill>
          <a:ln w="6350">
            <a:solidFill>
              <a:srgbClr val="CFC4B2"/>
            </a:solidFill>
            <a:prstDash val="solid"/>
          </a:ln>
        </p:spPr>
      </p:sp>
      <p:sp>
        <p:nvSpPr>
          <p:cNvPr id="17" name="Text 15"/>
          <p:cNvSpPr/>
          <p:nvPr/>
        </p:nvSpPr>
        <p:spPr>
          <a:xfrm>
            <a:off x="5897880" y="2063750"/>
            <a:ext cx="14249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Agent (demo only)</a:t>
            </a:r>
            <a:endParaRPr lang="en-US" sz="1200" dirty="0"/>
          </a:p>
        </p:txBody>
      </p:sp>
      <p:sp>
        <p:nvSpPr>
          <p:cNvPr id="18" name="Text 16"/>
          <p:cNvSpPr/>
          <p:nvPr/>
        </p:nvSpPr>
        <p:spPr>
          <a:xfrm>
            <a:off x="5897880" y="2254250"/>
            <a:ext cx="142494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Claude Sonnet 4.5 on Bedrock</a:t>
            </a:r>
            <a:endParaRPr lang="en-US" sz="1200" dirty="0"/>
          </a:p>
        </p:txBody>
      </p:sp>
      <p:sp>
        <p:nvSpPr>
          <p:cNvPr id="19" name="Shape 17"/>
          <p:cNvSpPr/>
          <p:nvPr/>
        </p:nvSpPr>
        <p:spPr>
          <a:xfrm>
            <a:off x="7664450" y="1860550"/>
            <a:ext cx="1574800" cy="977900"/>
          </a:xfrm>
          <a:prstGeom prst="roundRect">
            <a:avLst>
              <a:gd name="adj" fmla="val 7143"/>
            </a:avLst>
          </a:prstGeom>
          <a:solidFill>
            <a:srgbClr val="FBE4EA"/>
          </a:solidFill>
          <a:ln w="12700">
            <a:solidFill>
              <a:srgbClr val="B3264F"/>
            </a:solidFill>
            <a:prstDash val="solid"/>
          </a:ln>
        </p:spPr>
      </p:sp>
      <p:sp>
        <p:nvSpPr>
          <p:cNvPr id="20" name="Text 18"/>
          <p:cNvSpPr/>
          <p:nvPr/>
        </p:nvSpPr>
        <p:spPr>
          <a:xfrm>
            <a:off x="7769860" y="1968500"/>
            <a:ext cx="14147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AfterWard MCP server</a:t>
            </a:r>
            <a:endParaRPr lang="en-US" sz="1200" dirty="0"/>
          </a:p>
        </p:txBody>
      </p:sp>
      <p:sp>
        <p:nvSpPr>
          <p:cNvPr id="21" name="Text 19"/>
          <p:cNvSpPr/>
          <p:nvPr/>
        </p:nvSpPr>
        <p:spPr>
          <a:xfrm>
            <a:off x="7769860" y="2349500"/>
            <a:ext cx="141478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9 tools, on ECS Fargate</a:t>
            </a:r>
            <a:endParaRPr lang="en-US" sz="1200" dirty="0"/>
          </a:p>
        </p:txBody>
      </p:sp>
      <p:sp>
        <p:nvSpPr>
          <p:cNvPr id="22" name="Shape 20"/>
          <p:cNvSpPr/>
          <p:nvPr/>
        </p:nvSpPr>
        <p:spPr>
          <a:xfrm>
            <a:off x="2060575" y="3279775"/>
            <a:ext cx="1581150" cy="984250"/>
          </a:xfrm>
          <a:prstGeom prst="roundRect">
            <a:avLst>
              <a:gd name="adj" fmla="val 7419"/>
            </a:avLst>
          </a:prstGeom>
          <a:solidFill>
            <a:srgbClr val="FFFDF8"/>
          </a:solidFill>
          <a:ln w="6350">
            <a:solidFill>
              <a:srgbClr val="CFC4B2"/>
            </a:solidFill>
            <a:prstDash val="solid"/>
          </a:ln>
        </p:spPr>
      </p:sp>
      <p:sp>
        <p:nvSpPr>
          <p:cNvPr id="23" name="Text 21"/>
          <p:cNvSpPr/>
          <p:nvPr/>
        </p:nvSpPr>
        <p:spPr>
          <a:xfrm>
            <a:off x="2164080" y="3486150"/>
            <a:ext cx="14249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Letter upload</a:t>
            </a:r>
            <a:endParaRPr lang="en-US" sz="1200" dirty="0"/>
          </a:p>
        </p:txBody>
      </p:sp>
      <p:sp>
        <p:nvSpPr>
          <p:cNvPr id="24" name="Text 22"/>
          <p:cNvSpPr/>
          <p:nvPr/>
        </p:nvSpPr>
        <p:spPr>
          <a:xfrm>
            <a:off x="2164080" y="3676650"/>
            <a:ext cx="142494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PDF through a pre-signed URL</a:t>
            </a:r>
            <a:endParaRPr lang="en-US" sz="1200" dirty="0"/>
          </a:p>
        </p:txBody>
      </p:sp>
      <p:sp>
        <p:nvSpPr>
          <p:cNvPr id="25" name="Shape 23"/>
          <p:cNvSpPr/>
          <p:nvPr/>
        </p:nvSpPr>
        <p:spPr>
          <a:xfrm>
            <a:off x="3927475" y="3279775"/>
            <a:ext cx="1581150" cy="984250"/>
          </a:xfrm>
          <a:prstGeom prst="roundRect">
            <a:avLst>
              <a:gd name="adj" fmla="val 7419"/>
            </a:avLst>
          </a:prstGeom>
          <a:solidFill>
            <a:srgbClr val="FFFDF8"/>
          </a:solidFill>
          <a:ln w="6350">
            <a:solidFill>
              <a:srgbClr val="CFC4B2"/>
            </a:solidFill>
            <a:prstDash val="solid"/>
          </a:ln>
        </p:spPr>
      </p:sp>
      <p:sp>
        <p:nvSpPr>
          <p:cNvPr id="26" name="Text 24"/>
          <p:cNvSpPr/>
          <p:nvPr/>
        </p:nvSpPr>
        <p:spPr>
          <a:xfrm>
            <a:off x="4030980" y="3581400"/>
            <a:ext cx="14249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Amazon S3</a:t>
            </a:r>
            <a:endParaRPr lang="en-US" sz="1200" dirty="0"/>
          </a:p>
        </p:txBody>
      </p:sp>
      <p:sp>
        <p:nvSpPr>
          <p:cNvPr id="27" name="Text 25"/>
          <p:cNvSpPr/>
          <p:nvPr/>
        </p:nvSpPr>
        <p:spPr>
          <a:xfrm>
            <a:off x="4030980" y="3771900"/>
            <a:ext cx="14249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private bucket</a:t>
            </a:r>
            <a:endParaRPr lang="en-US" sz="1200" dirty="0"/>
          </a:p>
        </p:txBody>
      </p:sp>
      <p:sp>
        <p:nvSpPr>
          <p:cNvPr id="28" name="Shape 26"/>
          <p:cNvSpPr/>
          <p:nvPr/>
        </p:nvSpPr>
        <p:spPr>
          <a:xfrm>
            <a:off x="5794375" y="3279775"/>
            <a:ext cx="1581150" cy="984250"/>
          </a:xfrm>
          <a:prstGeom prst="roundRect">
            <a:avLst>
              <a:gd name="adj" fmla="val 7419"/>
            </a:avLst>
          </a:prstGeom>
          <a:solidFill>
            <a:srgbClr val="FFFDF8"/>
          </a:solidFill>
          <a:ln w="6350">
            <a:solidFill>
              <a:srgbClr val="CFC4B2"/>
            </a:solidFill>
            <a:prstDash val="solid"/>
          </a:ln>
        </p:spPr>
      </p:sp>
      <p:sp>
        <p:nvSpPr>
          <p:cNvPr id="29" name="Text 27"/>
          <p:cNvSpPr/>
          <p:nvPr/>
        </p:nvSpPr>
        <p:spPr>
          <a:xfrm>
            <a:off x="5897880" y="3486150"/>
            <a:ext cx="14249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Amazon SQS</a:t>
            </a:r>
            <a:endParaRPr lang="en-US" sz="1200" dirty="0"/>
          </a:p>
        </p:txBody>
      </p:sp>
      <p:sp>
        <p:nvSpPr>
          <p:cNvPr id="30" name="Text 28"/>
          <p:cNvSpPr/>
          <p:nvPr/>
        </p:nvSpPr>
        <p:spPr>
          <a:xfrm>
            <a:off x="5897880" y="3676650"/>
            <a:ext cx="142494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queue with a dead-letter queue</a:t>
            </a:r>
            <a:endParaRPr lang="en-US" sz="1200" dirty="0"/>
          </a:p>
        </p:txBody>
      </p:sp>
      <p:sp>
        <p:nvSpPr>
          <p:cNvPr id="31" name="Shape 29"/>
          <p:cNvSpPr/>
          <p:nvPr/>
        </p:nvSpPr>
        <p:spPr>
          <a:xfrm>
            <a:off x="7661275" y="3279775"/>
            <a:ext cx="1581150" cy="984250"/>
          </a:xfrm>
          <a:prstGeom prst="roundRect">
            <a:avLst>
              <a:gd name="adj" fmla="val 7419"/>
            </a:avLst>
          </a:prstGeom>
          <a:solidFill>
            <a:srgbClr val="FFFDF8"/>
          </a:solidFill>
          <a:ln w="6350">
            <a:solidFill>
              <a:srgbClr val="CFC4B2"/>
            </a:solidFill>
            <a:prstDash val="solid"/>
          </a:ln>
        </p:spPr>
      </p:sp>
      <p:sp>
        <p:nvSpPr>
          <p:cNvPr id="32" name="Text 30"/>
          <p:cNvSpPr/>
          <p:nvPr/>
        </p:nvSpPr>
        <p:spPr>
          <a:xfrm>
            <a:off x="7764780" y="3486150"/>
            <a:ext cx="14249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Lambda worker</a:t>
            </a:r>
            <a:endParaRPr lang="en-US" sz="1200" dirty="0"/>
          </a:p>
        </p:txBody>
      </p:sp>
      <p:sp>
        <p:nvSpPr>
          <p:cNvPr id="33" name="Text 31"/>
          <p:cNvSpPr/>
          <p:nvPr/>
        </p:nvSpPr>
        <p:spPr>
          <a:xfrm>
            <a:off x="7764780" y="3676650"/>
            <a:ext cx="142494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Claude reads, the safety gate checks</a:t>
            </a:r>
            <a:endParaRPr lang="en-US" sz="1200" dirty="0"/>
          </a:p>
        </p:txBody>
      </p:sp>
      <p:sp>
        <p:nvSpPr>
          <p:cNvPr id="34" name="Text 32"/>
          <p:cNvSpPr/>
          <p:nvPr/>
        </p:nvSpPr>
        <p:spPr>
          <a:xfrm>
            <a:off x="2057400" y="4775200"/>
            <a:ext cx="355803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The client picks up the pending reminder and speaks first. The words are built by code, not by the model.</a:t>
            </a:r>
            <a:endParaRPr lang="en-US" sz="1200" dirty="0"/>
          </a:p>
        </p:txBody>
      </p:sp>
      <p:sp>
        <p:nvSpPr>
          <p:cNvPr id="35" name="Shape 33"/>
          <p:cNvSpPr/>
          <p:nvPr/>
        </p:nvSpPr>
        <p:spPr>
          <a:xfrm>
            <a:off x="5794375" y="4702175"/>
            <a:ext cx="1581150" cy="984250"/>
          </a:xfrm>
          <a:prstGeom prst="roundRect">
            <a:avLst>
              <a:gd name="adj" fmla="val 7419"/>
            </a:avLst>
          </a:prstGeom>
          <a:solidFill>
            <a:srgbClr val="FFFDF8"/>
          </a:solidFill>
          <a:ln w="6350">
            <a:solidFill>
              <a:srgbClr val="CFC4B2"/>
            </a:solidFill>
            <a:prstDash val="solid"/>
          </a:ln>
        </p:spPr>
      </p:sp>
      <p:sp>
        <p:nvSpPr>
          <p:cNvPr id="36" name="Text 34"/>
          <p:cNvSpPr/>
          <p:nvPr/>
        </p:nvSpPr>
        <p:spPr>
          <a:xfrm>
            <a:off x="5897880" y="4813300"/>
            <a:ext cx="142494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Amazon EventBridge</a:t>
            </a:r>
            <a:endParaRPr lang="en-US" sz="1200" dirty="0"/>
          </a:p>
        </p:txBody>
      </p:sp>
      <p:sp>
        <p:nvSpPr>
          <p:cNvPr id="37" name="Text 35"/>
          <p:cNvSpPr/>
          <p:nvPr/>
        </p:nvSpPr>
        <p:spPr>
          <a:xfrm>
            <a:off x="5897880" y="5194300"/>
            <a:ext cx="142494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a check every 5 minutes</a:t>
            </a:r>
            <a:endParaRPr lang="en-US" sz="1200" dirty="0"/>
          </a:p>
        </p:txBody>
      </p:sp>
      <p:sp>
        <p:nvSpPr>
          <p:cNvPr id="38" name="Shape 36"/>
          <p:cNvSpPr/>
          <p:nvPr/>
        </p:nvSpPr>
        <p:spPr>
          <a:xfrm>
            <a:off x="7661275" y="4702175"/>
            <a:ext cx="1581150" cy="984250"/>
          </a:xfrm>
          <a:prstGeom prst="roundRect">
            <a:avLst>
              <a:gd name="adj" fmla="val 7419"/>
            </a:avLst>
          </a:prstGeom>
          <a:solidFill>
            <a:srgbClr val="FFFDF8"/>
          </a:solidFill>
          <a:ln w="6350">
            <a:solidFill>
              <a:srgbClr val="CFC4B2"/>
            </a:solidFill>
            <a:prstDash val="solid"/>
          </a:ln>
        </p:spPr>
      </p:sp>
      <p:sp>
        <p:nvSpPr>
          <p:cNvPr id="39" name="Text 37"/>
          <p:cNvSpPr/>
          <p:nvPr/>
        </p:nvSpPr>
        <p:spPr>
          <a:xfrm>
            <a:off x="7764780" y="4908550"/>
            <a:ext cx="14249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Lambda reminder</a:t>
            </a:r>
            <a:endParaRPr lang="en-US" sz="1200" dirty="0"/>
          </a:p>
        </p:txBody>
      </p:sp>
      <p:sp>
        <p:nvSpPr>
          <p:cNvPr id="40" name="Text 38"/>
          <p:cNvSpPr/>
          <p:nvPr/>
        </p:nvSpPr>
        <p:spPr>
          <a:xfrm>
            <a:off x="7764780" y="5099050"/>
            <a:ext cx="142494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finds what is due in 30 minutes</a:t>
            </a:r>
            <a:endParaRPr lang="en-US" sz="1200" dirty="0"/>
          </a:p>
        </p:txBody>
      </p:sp>
      <p:sp>
        <p:nvSpPr>
          <p:cNvPr id="41" name="Shape 39"/>
          <p:cNvSpPr/>
          <p:nvPr/>
        </p:nvSpPr>
        <p:spPr>
          <a:xfrm>
            <a:off x="9569450" y="1708150"/>
            <a:ext cx="1803400" cy="4127500"/>
          </a:xfrm>
          <a:prstGeom prst="roundRect">
            <a:avLst>
              <a:gd name="adj" fmla="val 5282"/>
            </a:avLst>
          </a:prstGeom>
          <a:solidFill>
            <a:srgbClr val="E6EFF6"/>
          </a:solidFill>
          <a:ln w="12700">
            <a:solidFill>
              <a:srgbClr val="1F5E8C"/>
            </a:solidFill>
            <a:prstDash val="solid"/>
          </a:ln>
        </p:spPr>
      </p:sp>
      <p:sp>
        <p:nvSpPr>
          <p:cNvPr id="42" name="Text 40"/>
          <p:cNvSpPr/>
          <p:nvPr/>
        </p:nvSpPr>
        <p:spPr>
          <a:xfrm>
            <a:off x="9700260" y="1838958"/>
            <a:ext cx="15925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5E8C"/>
                </a:solidFill>
                <a:latin typeface="IBM Plex Sans" pitchFamily="34" charset="0"/>
                <a:ea typeface="IBM Plex Sans" pitchFamily="34" charset="-122"/>
                <a:cs typeface="IBM Plex Sans" pitchFamily="34" charset="-120"/>
              </a:rPr>
              <a:t>Data, kept per patient</a:t>
            </a:r>
            <a:endParaRPr lang="en-US" sz="1200" dirty="0"/>
          </a:p>
        </p:txBody>
      </p:sp>
      <p:sp>
        <p:nvSpPr>
          <p:cNvPr id="43" name="Shape 41"/>
          <p:cNvSpPr/>
          <p:nvPr/>
        </p:nvSpPr>
        <p:spPr>
          <a:xfrm>
            <a:off x="9700260" y="2337433"/>
            <a:ext cx="1541780" cy="0"/>
          </a:xfrm>
          <a:prstGeom prst="line">
            <a:avLst/>
          </a:prstGeom>
          <a:noFill/>
          <a:ln w="6350">
            <a:solidFill>
              <a:srgbClr val="9DB8CC"/>
            </a:solidFill>
            <a:prstDash val="solid"/>
          </a:ln>
        </p:spPr>
      </p:sp>
      <p:sp>
        <p:nvSpPr>
          <p:cNvPr id="44" name="Text 42"/>
          <p:cNvSpPr/>
          <p:nvPr/>
        </p:nvSpPr>
        <p:spPr>
          <a:xfrm>
            <a:off x="9700260" y="2440942"/>
            <a:ext cx="15925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Event History</a:t>
            </a:r>
            <a:endParaRPr lang="en-US" sz="1200" dirty="0"/>
          </a:p>
        </p:txBody>
      </p:sp>
      <p:sp>
        <p:nvSpPr>
          <p:cNvPr id="45" name="Text 43"/>
          <p:cNvSpPr/>
          <p:nvPr/>
        </p:nvSpPr>
        <p:spPr>
          <a:xfrm>
            <a:off x="9700260" y="2631442"/>
            <a:ext cx="159258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DynamoDB: what she did</a:t>
            </a:r>
            <a:endParaRPr lang="en-US" sz="1200" dirty="0"/>
          </a:p>
        </p:txBody>
      </p:sp>
      <p:sp>
        <p:nvSpPr>
          <p:cNvPr id="46" name="Text 44"/>
          <p:cNvSpPr/>
          <p:nvPr/>
        </p:nvSpPr>
        <p:spPr>
          <a:xfrm>
            <a:off x="9700260" y="3012442"/>
            <a:ext cx="159258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F5E8C"/>
                </a:solidFill>
                <a:latin typeface="IBM Plex Sans" pitchFamily="34" charset="0"/>
                <a:ea typeface="IBM Plex Sans" pitchFamily="34" charset="-122"/>
                <a:cs typeface="IBM Plex Sans" pitchFamily="34" charset="-120"/>
              </a:rPr>
              <a:t>Paths: A</a:t>
            </a:r>
            <a:endParaRPr lang="en-US" sz="1200" dirty="0"/>
          </a:p>
        </p:txBody>
      </p:sp>
      <p:sp>
        <p:nvSpPr>
          <p:cNvPr id="47" name="Shape 45"/>
          <p:cNvSpPr/>
          <p:nvPr/>
        </p:nvSpPr>
        <p:spPr>
          <a:xfrm>
            <a:off x="9700260" y="3499011"/>
            <a:ext cx="1541780" cy="0"/>
          </a:xfrm>
          <a:prstGeom prst="line">
            <a:avLst/>
          </a:prstGeom>
          <a:noFill/>
          <a:ln w="6350">
            <a:solidFill>
              <a:srgbClr val="9DB8CC"/>
            </a:solidFill>
            <a:prstDash val="solid"/>
          </a:ln>
        </p:spPr>
      </p:sp>
      <p:sp>
        <p:nvSpPr>
          <p:cNvPr id="48" name="Text 46"/>
          <p:cNvSpPr/>
          <p:nvPr/>
        </p:nvSpPr>
        <p:spPr>
          <a:xfrm>
            <a:off x="9700260" y="3602521"/>
            <a:ext cx="15925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Amazon S3 Vectors</a:t>
            </a:r>
            <a:endParaRPr lang="en-US" sz="1200" dirty="0"/>
          </a:p>
        </p:txBody>
      </p:sp>
      <p:sp>
        <p:nvSpPr>
          <p:cNvPr id="49" name="Text 47"/>
          <p:cNvSpPr/>
          <p:nvPr/>
        </p:nvSpPr>
        <p:spPr>
          <a:xfrm>
            <a:off x="9700260" y="3793021"/>
            <a:ext cx="159258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search over her own letter</a:t>
            </a:r>
            <a:endParaRPr lang="en-US" sz="1200" dirty="0"/>
          </a:p>
        </p:txBody>
      </p:sp>
      <p:sp>
        <p:nvSpPr>
          <p:cNvPr id="50" name="Text 48"/>
          <p:cNvSpPr/>
          <p:nvPr/>
        </p:nvSpPr>
        <p:spPr>
          <a:xfrm>
            <a:off x="9700260" y="4174021"/>
            <a:ext cx="159258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F5E8C"/>
                </a:solidFill>
                <a:latin typeface="IBM Plex Sans" pitchFamily="34" charset="0"/>
                <a:ea typeface="IBM Plex Sans" pitchFamily="34" charset="-122"/>
                <a:cs typeface="IBM Plex Sans" pitchFamily="34" charset="-120"/>
              </a:rPr>
              <a:t>Paths: A and B</a:t>
            </a:r>
            <a:endParaRPr lang="en-US" sz="1200" dirty="0"/>
          </a:p>
        </p:txBody>
      </p:sp>
      <p:sp>
        <p:nvSpPr>
          <p:cNvPr id="51" name="Shape 49"/>
          <p:cNvSpPr/>
          <p:nvPr/>
        </p:nvSpPr>
        <p:spPr>
          <a:xfrm>
            <a:off x="9700260" y="4660664"/>
            <a:ext cx="1541780" cy="0"/>
          </a:xfrm>
          <a:prstGeom prst="line">
            <a:avLst/>
          </a:prstGeom>
          <a:noFill/>
          <a:ln w="6350">
            <a:solidFill>
              <a:srgbClr val="9DB8CC"/>
            </a:solidFill>
            <a:prstDash val="solid"/>
          </a:ln>
        </p:spPr>
      </p:sp>
      <p:sp>
        <p:nvSpPr>
          <p:cNvPr id="52" name="Text 50"/>
          <p:cNvSpPr/>
          <p:nvPr/>
        </p:nvSpPr>
        <p:spPr>
          <a:xfrm>
            <a:off x="9700260" y="4764174"/>
            <a:ext cx="15925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Recovery State</a:t>
            </a:r>
            <a:endParaRPr lang="en-US" sz="1200" dirty="0"/>
          </a:p>
        </p:txBody>
      </p:sp>
      <p:sp>
        <p:nvSpPr>
          <p:cNvPr id="53" name="Text 51"/>
          <p:cNvSpPr/>
          <p:nvPr/>
        </p:nvSpPr>
        <p:spPr>
          <a:xfrm>
            <a:off x="9700260" y="4954674"/>
            <a:ext cx="159258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DynamoDB: the current plan</a:t>
            </a:r>
            <a:endParaRPr lang="en-US" sz="1200" dirty="0"/>
          </a:p>
        </p:txBody>
      </p:sp>
      <p:sp>
        <p:nvSpPr>
          <p:cNvPr id="54" name="Text 52"/>
          <p:cNvSpPr/>
          <p:nvPr/>
        </p:nvSpPr>
        <p:spPr>
          <a:xfrm>
            <a:off x="9700260" y="5335674"/>
            <a:ext cx="159258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F5E8C"/>
                </a:solidFill>
                <a:latin typeface="IBM Plex Sans" pitchFamily="34" charset="0"/>
                <a:ea typeface="IBM Plex Sans" pitchFamily="34" charset="-122"/>
                <a:cs typeface="IBM Plex Sans" pitchFamily="34" charset="-120"/>
              </a:rPr>
              <a:t>Paths: A, B and C</a:t>
            </a:r>
            <a:endParaRPr lang="en-US" sz="1200" dirty="0"/>
          </a:p>
        </p:txBody>
      </p:sp>
      <p:pic>
        <p:nvPicPr>
          <p:cNvPr id="55" name="Image 0" descr="connector">    </p:cNvPr>
          <p:cNvPicPr>
            <a:picLocks noChangeAspect="1"/>
          </p:cNvPicPr>
          <p:nvPr/>
        </p:nvPicPr>
        <p:blipFill>
          <a:blip r:embed="rId1"/>
          <a:srcRect l="0" r="0" t="0" b="0"/>
          <a:stretch/>
        </p:blipFill>
        <p:spPr>
          <a:xfrm>
            <a:off x="3594100" y="2298700"/>
            <a:ext cx="381000" cy="101600"/>
          </a:xfrm>
          <a:prstGeom prst="rect">
            <a:avLst/>
          </a:prstGeom>
        </p:spPr>
      </p:pic>
      <p:pic>
        <p:nvPicPr>
          <p:cNvPr id="56" name="Image 1" descr="connector">    </p:cNvPr>
          <p:cNvPicPr>
            <a:picLocks noChangeAspect="1"/>
          </p:cNvPicPr>
          <p:nvPr/>
        </p:nvPicPr>
        <p:blipFill>
          <a:blip r:embed="rId2"/>
          <a:srcRect l="0" r="0" t="0" b="0"/>
          <a:stretch/>
        </p:blipFill>
        <p:spPr>
          <a:xfrm>
            <a:off x="5461000" y="2298700"/>
            <a:ext cx="381000" cy="101600"/>
          </a:xfrm>
          <a:prstGeom prst="rect">
            <a:avLst/>
          </a:prstGeom>
        </p:spPr>
      </p:pic>
      <p:pic>
        <p:nvPicPr>
          <p:cNvPr id="57" name="Image 2" descr="connector">    </p:cNvPr>
          <p:cNvPicPr>
            <a:picLocks noChangeAspect="1"/>
          </p:cNvPicPr>
          <p:nvPr/>
        </p:nvPicPr>
        <p:blipFill>
          <a:blip r:embed="rId3"/>
          <a:srcRect l="0" r="0" t="0" b="0"/>
          <a:stretch/>
        </p:blipFill>
        <p:spPr>
          <a:xfrm>
            <a:off x="7327900" y="2298700"/>
            <a:ext cx="381000" cy="101600"/>
          </a:xfrm>
          <a:prstGeom prst="rect">
            <a:avLst/>
          </a:prstGeom>
        </p:spPr>
      </p:pic>
      <p:pic>
        <p:nvPicPr>
          <p:cNvPr id="58" name="Image 3" descr="connector">    </p:cNvPr>
          <p:cNvPicPr>
            <a:picLocks noChangeAspect="1"/>
          </p:cNvPicPr>
          <p:nvPr/>
        </p:nvPicPr>
        <p:blipFill>
          <a:blip r:embed="rId4"/>
          <a:srcRect l="0" r="0" t="0" b="0"/>
          <a:stretch/>
        </p:blipFill>
        <p:spPr>
          <a:xfrm>
            <a:off x="9194800" y="2298700"/>
            <a:ext cx="419100" cy="101600"/>
          </a:xfrm>
          <a:prstGeom prst="rect">
            <a:avLst/>
          </a:prstGeom>
        </p:spPr>
      </p:pic>
      <p:pic>
        <p:nvPicPr>
          <p:cNvPr id="59" name="Image 4" descr="connector">    </p:cNvPr>
          <p:cNvPicPr>
            <a:picLocks noChangeAspect="1"/>
          </p:cNvPicPr>
          <p:nvPr/>
        </p:nvPicPr>
        <p:blipFill>
          <a:blip r:embed="rId5"/>
          <a:srcRect l="0" r="0" t="0" b="0"/>
          <a:stretch/>
        </p:blipFill>
        <p:spPr>
          <a:xfrm>
            <a:off x="3594100" y="3721100"/>
            <a:ext cx="381000" cy="101600"/>
          </a:xfrm>
          <a:prstGeom prst="rect">
            <a:avLst/>
          </a:prstGeom>
        </p:spPr>
      </p:pic>
      <p:pic>
        <p:nvPicPr>
          <p:cNvPr id="60" name="Image 5" descr="connector">    </p:cNvPr>
          <p:cNvPicPr>
            <a:picLocks noChangeAspect="1"/>
          </p:cNvPicPr>
          <p:nvPr/>
        </p:nvPicPr>
        <p:blipFill>
          <a:blip r:embed="rId6"/>
          <a:srcRect l="0" r="0" t="0" b="0"/>
          <a:stretch/>
        </p:blipFill>
        <p:spPr>
          <a:xfrm>
            <a:off x="5461000" y="3721100"/>
            <a:ext cx="381000" cy="101600"/>
          </a:xfrm>
          <a:prstGeom prst="rect">
            <a:avLst/>
          </a:prstGeom>
        </p:spPr>
      </p:pic>
      <p:pic>
        <p:nvPicPr>
          <p:cNvPr id="61" name="Image 6" descr="connector">    </p:cNvPr>
          <p:cNvPicPr>
            <a:picLocks noChangeAspect="1"/>
          </p:cNvPicPr>
          <p:nvPr/>
        </p:nvPicPr>
        <p:blipFill>
          <a:blip r:embed="rId7"/>
          <a:srcRect l="0" r="0" t="0" b="0"/>
          <a:stretch/>
        </p:blipFill>
        <p:spPr>
          <a:xfrm>
            <a:off x="7327900" y="3721100"/>
            <a:ext cx="381000" cy="101600"/>
          </a:xfrm>
          <a:prstGeom prst="rect">
            <a:avLst/>
          </a:prstGeom>
        </p:spPr>
      </p:pic>
      <p:pic>
        <p:nvPicPr>
          <p:cNvPr id="62" name="Image 7" descr="connector">    </p:cNvPr>
          <p:cNvPicPr>
            <a:picLocks noChangeAspect="1"/>
          </p:cNvPicPr>
          <p:nvPr/>
        </p:nvPicPr>
        <p:blipFill>
          <a:blip r:embed="rId8"/>
          <a:srcRect l="0" r="0" t="0" b="0"/>
          <a:stretch/>
        </p:blipFill>
        <p:spPr>
          <a:xfrm>
            <a:off x="9194800" y="3721100"/>
            <a:ext cx="419100" cy="101600"/>
          </a:xfrm>
          <a:prstGeom prst="rect">
            <a:avLst/>
          </a:prstGeom>
        </p:spPr>
      </p:pic>
      <p:pic>
        <p:nvPicPr>
          <p:cNvPr id="63" name="Image 8" descr="connector">    </p:cNvPr>
          <p:cNvPicPr>
            <a:picLocks noChangeAspect="1"/>
          </p:cNvPicPr>
          <p:nvPr/>
        </p:nvPicPr>
        <p:blipFill>
          <a:blip r:embed="rId9"/>
          <a:srcRect l="0" r="0" t="0" b="0"/>
          <a:stretch/>
        </p:blipFill>
        <p:spPr>
          <a:xfrm>
            <a:off x="7327900" y="5143500"/>
            <a:ext cx="381000" cy="101600"/>
          </a:xfrm>
          <a:prstGeom prst="rect">
            <a:avLst/>
          </a:prstGeom>
        </p:spPr>
      </p:pic>
      <p:pic>
        <p:nvPicPr>
          <p:cNvPr id="64" name="Image 9" descr="connector">    </p:cNvPr>
          <p:cNvPicPr>
            <a:picLocks noChangeAspect="1"/>
          </p:cNvPicPr>
          <p:nvPr/>
        </p:nvPicPr>
        <p:blipFill>
          <a:blip r:embed="rId10"/>
          <a:srcRect l="0" r="0" t="0" b="0"/>
          <a:stretch/>
        </p:blipFill>
        <p:spPr>
          <a:xfrm>
            <a:off x="9194800" y="5143500"/>
            <a:ext cx="419100" cy="101600"/>
          </a:xfrm>
          <a:prstGeom prst="rect">
            <a:avLst/>
          </a:prstGeom>
        </p:spPr>
      </p:pic>
      <p:sp>
        <p:nvSpPr>
          <p:cNvPr id="65" name="Text 53"/>
          <p:cNvSpPr/>
          <p:nvPr/>
        </p:nvSpPr>
        <p:spPr>
          <a:xfrm>
            <a:off x="812800" y="6238242"/>
            <a:ext cx="11379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Pink: the MCP server the track judges, behind a load balancer and CloudFront. Blue: data. Region eu-west-2 (London). The web client and agent run locally.</a:t>
            </a:r>
            <a:endParaRPr lang="en-US" sz="1200" dirty="0"/>
          </a:p>
        </p:txBody>
      </p:sp>
      <p:sp>
        <p:nvSpPr>
          <p:cNvPr id="66" name="Shape 54"/>
          <p:cNvSpPr/>
          <p:nvPr/>
        </p:nvSpPr>
        <p:spPr>
          <a:xfrm>
            <a:off x="0" y="0"/>
            <a:ext cx="12192000" cy="508000"/>
          </a:xfrm>
          <a:prstGeom prst="rect">
            <a:avLst/>
          </a:prstGeom>
          <a:solidFill>
            <a:srgbClr val="A51F4C"/>
          </a:solidFill>
          <a:ln/>
        </p:spPr>
      </p:sp>
      <p:pic>
        <p:nvPicPr>
          <p:cNvPr id="67" name="Image 10" descr="AfterWard logo">    </p:cNvPr>
          <p:cNvPicPr>
            <a:picLocks noChangeAspect="1"/>
          </p:cNvPicPr>
          <p:nvPr/>
        </p:nvPicPr>
        <p:blipFill>
          <a:blip r:embed="rId11"/>
          <a:srcRect l="0" r="0" t="0" b="0"/>
          <a:stretch/>
        </p:blipFill>
        <p:spPr>
          <a:xfrm>
            <a:off x="254000" y="114300"/>
            <a:ext cx="279400" cy="279400"/>
          </a:xfrm>
          <a:prstGeom prst="rect">
            <a:avLst/>
          </a:prstGeom>
        </p:spPr>
      </p:pic>
      <p:sp>
        <p:nvSpPr>
          <p:cNvPr id="68" name="Text 55"/>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69" name="Text 56"/>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70" name="Shape 57"/>
          <p:cNvSpPr/>
          <p:nvPr/>
        </p:nvSpPr>
        <p:spPr>
          <a:xfrm>
            <a:off x="0" y="6502400"/>
            <a:ext cx="12192000" cy="355600"/>
          </a:xfrm>
          <a:prstGeom prst="rect">
            <a:avLst/>
          </a:prstGeom>
          <a:solidFill>
            <a:srgbClr val="A51F4C"/>
          </a:solidFill>
          <a:ln/>
        </p:spPr>
      </p:sp>
      <p:sp>
        <p:nvSpPr>
          <p:cNvPr id="71" name="Text 58"/>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72" name="Text 59"/>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73" name="Rectangle 7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cture 73" descr="image.png"/>
          <p:cNvPicPr>
            <a:picLocks noChangeAspect="1"/>
          </p:cNvPicPr>
          <p:nvPr/>
        </p:nvPicPr>
        <p:blipFill>
          <a:blip r:embed="rId14"/>
          <a:stretch>
            <a:fillRect/>
          </a:stretch>
        </p:blipFill>
        <p:spPr>
          <a:xfrm>
            <a:off x="228600" y="102412"/>
            <a:ext cx="292608" cy="292608"/>
          </a:xfrm>
          <a:prstGeom prst="rect">
            <a:avLst/>
          </a:prstGeom>
        </p:spPr>
      </p:pic>
      <p:sp>
        <p:nvSpPr>
          <p:cNvPr id="75" name="TextBox 7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76" name="TextBox 7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77" name="Rectangle 7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79" name="TextBox 7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HOW IT IS BUILT: EACH CHOICE, ITS TRADE-OFF AND ITS OPEN-SOURCE OPTION (1 OF 4)</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Technology choices: models</a:t>
            </a:r>
            <a:endParaRPr lang="en-US" sz="3200" dirty="0"/>
          </a:p>
        </p:txBody>
      </p:sp>
      <p:sp>
        <p:nvSpPr>
          <p:cNvPr id="4" name="Shape 2"/>
          <p:cNvSpPr/>
          <p:nvPr/>
        </p:nvSpPr>
        <p:spPr>
          <a:xfrm>
            <a:off x="812800" y="1803400"/>
            <a:ext cx="10566400" cy="3271520"/>
          </a:xfrm>
          <a:prstGeom prst="rect">
            <a:avLst/>
          </a:prstGeom>
          <a:solidFill>
            <a:srgbClr val="FFFD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3261360"/>
        </p:xfrm>
        <a:graphic>
          <a:graphicData uri="http://schemas.openxmlformats.org/drawingml/2006/table">
            <a:tbl>
              <a:tblPr/>
              <a:tblGrid>
                <a:gridCol w="1583436"/>
                <a:gridCol w="2111248"/>
                <a:gridCol w="2427935"/>
                <a:gridCol w="2322373"/>
                <a:gridCol w="2111248"/>
              </a:tblGrid>
              <a:tr h="330200">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Decision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We chose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Trade-off we accept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Open-source option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r>
              <a:tr h="75692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Reading the letter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Claude Sonnet 4.5 on Bedrock, forced tool output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Reads messy letters well; predictable JSON; nothing to host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Cost per letter; output can vary, so the safety gate is required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Qwen2.5-VL or Llama 3.3 70B on vLLM; needs a GPU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Agent (demo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Claude Sonnet 4.5 on Bedrock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Best at choosing tools and asking “which tablet?”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Slower and pricier than Haiku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Qwen2.5 or Llama 3.3 on vLLM or Ollama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Dev and test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Claude Haiku 4.5, EU inference profile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Cheap and fast for many test runs; stays in EU regions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Lower quality, so final tests rerun on Sonnet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small local model in Ollama: free, but weaker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Model switching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One MODEL_MODE setting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Swaps every model with no code change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Two sets of models to keep tested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LiteLLM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Embeddings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Titan Text Embeddings V2, 512 dimensions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AWS-native, cheap, fits S3 Vectors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Less precise than 1,024; the size is fixed for life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BGE or nomic-embed-text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6" name="Shape 3"/>
          <p:cNvSpPr/>
          <p:nvPr/>
        </p:nvSpPr>
        <p:spPr>
          <a:xfrm>
            <a:off x="0" y="0"/>
            <a:ext cx="12192000" cy="508000"/>
          </a:xfrm>
          <a:prstGeom prst="rect">
            <a:avLst/>
          </a:prstGeom>
          <a:solidFill>
            <a:srgbClr val="A51F4C"/>
          </a:solidFill>
          <a:ln/>
        </p:spPr>
      </p:sp>
      <p:pic>
        <p:nvPicPr>
          <p:cNvPr id="7"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8" name="Text 4"/>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9" name="Text 5"/>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10" name="Shape 6"/>
          <p:cNvSpPr/>
          <p:nvPr/>
        </p:nvSpPr>
        <p:spPr>
          <a:xfrm>
            <a:off x="0" y="6502400"/>
            <a:ext cx="12192000" cy="355600"/>
          </a:xfrm>
          <a:prstGeom prst="rect">
            <a:avLst/>
          </a:prstGeom>
          <a:solidFill>
            <a:srgbClr val="A51F4C"/>
          </a:solidFill>
          <a:ln/>
        </p:spPr>
      </p:sp>
      <p:sp>
        <p:nvSpPr>
          <p:cNvPr id="11" name="Text 7"/>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2" name="Text 8"/>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13" name="Rectangle 1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28600" y="102412"/>
            <a:ext cx="292608" cy="292608"/>
          </a:xfrm>
          <a:prstGeom prst="rect">
            <a:avLst/>
          </a:prstGeom>
        </p:spPr>
      </p:pic>
      <p:sp>
        <p:nvSpPr>
          <p:cNvPr id="15" name="TextBox 1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16" name="TextBox 1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17" name="Rectangle 1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19" name="TextBox 1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HOW IT IS BUILT: EACH CHOICE, ITS TRADE-OFF AND ITS OPEN-SOURCE OPTION (2 OF 4)</a:t>
            </a:r>
            <a:endParaRPr lang="en-US" sz="1200" dirty="0"/>
          </a:p>
        </p:txBody>
      </p:sp>
      <p:sp>
        <p:nvSpPr>
          <p:cNvPr id="3" name="Text 1"/>
          <p:cNvSpPr/>
          <p:nvPr>
            <p:ph type="title"/>
          </p:nvPr>
        </p:nvSpPr>
        <p:spPr>
          <a:xfrm>
            <a:off x="812800" y="11023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Technology choices: data and processing</a:t>
            </a:r>
            <a:endParaRPr lang="en-US" sz="3200" dirty="0"/>
          </a:p>
        </p:txBody>
      </p:sp>
      <p:sp>
        <p:nvSpPr>
          <p:cNvPr id="4" name="Shape 2"/>
          <p:cNvSpPr/>
          <p:nvPr/>
        </p:nvSpPr>
        <p:spPr>
          <a:xfrm>
            <a:off x="812800" y="1803400"/>
            <a:ext cx="10566400" cy="3484880"/>
          </a:xfrm>
          <a:prstGeom prst="rect">
            <a:avLst/>
          </a:prstGeom>
          <a:solidFill>
            <a:srgbClr val="FFFD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3474720"/>
        </p:xfrm>
        <a:graphic>
          <a:graphicData uri="http://schemas.openxmlformats.org/drawingml/2006/table">
            <a:tbl>
              <a:tblPr/>
              <a:tblGrid>
                <a:gridCol w="1583436"/>
                <a:gridCol w="2111248"/>
                <a:gridCol w="2427935"/>
                <a:gridCol w="2322373"/>
                <a:gridCol w="2111248"/>
              </a:tblGrid>
              <a:tr h="330200">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Decision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We chose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Trade-off we accept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Open-source option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r>
              <a:tr h="54356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Vector store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Amazon S3 Vectors, one index, patient filter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Serverless, low cost; search stays in one patient's letter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Fewer search features; settings fixed at creation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pgvector, Qdrant or Chroma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75692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Database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DynamoDB: Recovery State and Event History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Fast reads by patient; conditional writes; pay per request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No joins or flexible queries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PostgreSQL, which can also hold pgvector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Document storage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private Amazon S3 bucket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Durable, cheap, encrypted; an event on every upload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Key names must stay consistent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MinIO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75692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Processing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S3 event to SQS to Lambda, with a dead-letter queue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Upload returns at once; retries; failed jobs are kept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Messages can arrive twice, so each step must be safe to repeat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RabbitMQ, or Redis with Celery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Reminders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EventBridge Scheduler and a reminder Lambda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managed clock, with no always-on server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Spoken by our simulated client, not by Alexa+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Celery Beat or APScheduler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6" name="Shape 3"/>
          <p:cNvSpPr/>
          <p:nvPr/>
        </p:nvSpPr>
        <p:spPr>
          <a:xfrm>
            <a:off x="0" y="0"/>
            <a:ext cx="12192000" cy="508000"/>
          </a:xfrm>
          <a:prstGeom prst="rect">
            <a:avLst/>
          </a:prstGeom>
          <a:solidFill>
            <a:srgbClr val="A51F4C"/>
          </a:solidFill>
          <a:ln/>
        </p:spPr>
      </p:sp>
      <p:pic>
        <p:nvPicPr>
          <p:cNvPr id="7"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8" name="Text 4"/>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9" name="Text 5"/>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10" name="Shape 6"/>
          <p:cNvSpPr/>
          <p:nvPr/>
        </p:nvSpPr>
        <p:spPr>
          <a:xfrm>
            <a:off x="0" y="6502400"/>
            <a:ext cx="12192000" cy="355600"/>
          </a:xfrm>
          <a:prstGeom prst="rect">
            <a:avLst/>
          </a:prstGeom>
          <a:solidFill>
            <a:srgbClr val="A51F4C"/>
          </a:solidFill>
          <a:ln/>
        </p:spPr>
      </p:sp>
      <p:sp>
        <p:nvSpPr>
          <p:cNvPr id="11" name="Text 7"/>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2" name="Text 8"/>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13" name="Rectangle 1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28600" y="102412"/>
            <a:ext cx="292608" cy="292608"/>
          </a:xfrm>
          <a:prstGeom prst="rect">
            <a:avLst/>
          </a:prstGeom>
        </p:spPr>
      </p:pic>
      <p:sp>
        <p:nvSpPr>
          <p:cNvPr id="15" name="TextBox 1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16" name="TextBox 1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17" name="Rectangle 1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19" name="TextBox 1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HOW IT IS BUILT: EACH CHOICE, ITS TRADE-OFF AND ITS OPEN-SOURCE OPTION (3 OF 4)</a:t>
            </a:r>
            <a:endParaRPr lang="en-US" sz="1200" dirty="0"/>
          </a:p>
        </p:txBody>
      </p:sp>
      <p:sp>
        <p:nvSpPr>
          <p:cNvPr id="3" name="Text 1"/>
          <p:cNvSpPr/>
          <p:nvPr>
            <p:ph type="title"/>
          </p:nvPr>
        </p:nvSpPr>
        <p:spPr>
          <a:xfrm>
            <a:off x="812800" y="11023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Technology choices: server and platform</a:t>
            </a:r>
            <a:endParaRPr lang="en-US" sz="3200" dirty="0"/>
          </a:p>
        </p:txBody>
      </p:sp>
      <p:sp>
        <p:nvSpPr>
          <p:cNvPr id="4" name="Shape 2"/>
          <p:cNvSpPr/>
          <p:nvPr/>
        </p:nvSpPr>
        <p:spPr>
          <a:xfrm>
            <a:off x="812800" y="1803400"/>
            <a:ext cx="10566400" cy="3911600"/>
          </a:xfrm>
          <a:prstGeom prst="rect">
            <a:avLst/>
          </a:prstGeom>
          <a:solidFill>
            <a:srgbClr val="FFFD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3901440"/>
        </p:xfrm>
        <a:graphic>
          <a:graphicData uri="http://schemas.openxmlformats.org/drawingml/2006/table">
            <a:tbl>
              <a:tblPr/>
              <a:tblGrid>
                <a:gridCol w="1583436"/>
                <a:gridCol w="2111248"/>
                <a:gridCol w="2427935"/>
                <a:gridCol w="2322373"/>
                <a:gridCol w="2111248"/>
              </a:tblGrid>
              <a:tr h="330200">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Decision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We chose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Trade-off we accept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Open-source option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r>
              <a:tr h="54356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AWS region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eu-west-2 (London)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Close to UK users; patient data stays in the UK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Newer services and models reach London later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Any UK or EU server you control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75692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MCP server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Python MCP SDK, Streamable HTTP, spec 2025-11-25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Required by the track; testable with MCP Inspector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public endpoint we must secure: token and Origin check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Already open 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75692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MCP hosting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container on ECS Fargate, behind a load balancer and CloudFront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The AgentCore starter would not deploy; a container runs the same anywhere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An always-on task to pay for and keep patched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Docker behind Caddy or Nginx, with Let's Encrypt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75692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Infrastructure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Task definition, Lambda build script and an alarm template in the repo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Every integration visible in code, and listed in one AWS page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Not one-click yet; some steps run by hand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Docker Compose, Terraform or OpenTofu</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75692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Monitoring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CloudWatch: JSON logs, 5 metrics, 3 alarms with email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Built in; a failed letter or tool error reaches us at once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AWS-only; no dashboard yet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Prometheus and Grafana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6" name="Shape 3"/>
          <p:cNvSpPr/>
          <p:nvPr/>
        </p:nvSpPr>
        <p:spPr>
          <a:xfrm>
            <a:off x="0" y="0"/>
            <a:ext cx="12192000" cy="508000"/>
          </a:xfrm>
          <a:prstGeom prst="rect">
            <a:avLst/>
          </a:prstGeom>
          <a:solidFill>
            <a:srgbClr val="A51F4C"/>
          </a:solidFill>
          <a:ln/>
        </p:spPr>
      </p:sp>
      <p:pic>
        <p:nvPicPr>
          <p:cNvPr id="7"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8" name="Text 4"/>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9" name="Text 5"/>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10" name="Shape 6"/>
          <p:cNvSpPr/>
          <p:nvPr/>
        </p:nvSpPr>
        <p:spPr>
          <a:xfrm>
            <a:off x="0" y="6502400"/>
            <a:ext cx="12192000" cy="355600"/>
          </a:xfrm>
          <a:prstGeom prst="rect">
            <a:avLst/>
          </a:prstGeom>
          <a:solidFill>
            <a:srgbClr val="A51F4C"/>
          </a:solidFill>
          <a:ln/>
        </p:spPr>
      </p:sp>
      <p:sp>
        <p:nvSpPr>
          <p:cNvPr id="11" name="Text 7"/>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2" name="Text 8"/>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13" name="Rectangle 1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4"/>
          <a:stretch>
            <a:fillRect/>
          </a:stretch>
        </p:blipFill>
        <p:spPr>
          <a:xfrm>
            <a:off x="228600" y="102412"/>
            <a:ext cx="292608" cy="292608"/>
          </a:xfrm>
          <a:prstGeom prst="rect">
            <a:avLst/>
          </a:prstGeom>
        </p:spPr>
      </p:pic>
      <p:sp>
        <p:nvSpPr>
          <p:cNvPr id="15" name="TextBox 1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16" name="TextBox 1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17" name="Rectangle 1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19" name="TextBox 1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HOW IT IS BUILT: EACH CHOICE, ITS TRADE-OFF AND ITS OPEN-SOURCE OPTION (4 OF 4)</a:t>
            </a:r>
            <a:endParaRPr lang="en-US" sz="1200" dirty="0"/>
          </a:p>
        </p:txBody>
      </p:sp>
      <p:sp>
        <p:nvSpPr>
          <p:cNvPr id="3" name="Text 1"/>
          <p:cNvSpPr/>
          <p:nvPr>
            <p:ph type="title"/>
          </p:nvPr>
        </p:nvSpPr>
        <p:spPr>
          <a:xfrm>
            <a:off x="812800" y="11023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Technology choices: experience and safety</a:t>
            </a:r>
            <a:endParaRPr lang="en-US" sz="3200" dirty="0"/>
          </a:p>
        </p:txBody>
      </p:sp>
      <p:sp>
        <p:nvSpPr>
          <p:cNvPr id="4" name="Shape 2"/>
          <p:cNvSpPr/>
          <p:nvPr/>
        </p:nvSpPr>
        <p:spPr>
          <a:xfrm>
            <a:off x="812800" y="1803400"/>
            <a:ext cx="10566400" cy="3484880"/>
          </a:xfrm>
          <a:prstGeom prst="rect">
            <a:avLst/>
          </a:prstGeom>
          <a:solidFill>
            <a:srgbClr val="FFFDF8"/>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13560"/>
          <a:ext cx="10556240" cy="3474720"/>
        </p:xfrm>
        <a:graphic>
          <a:graphicData uri="http://schemas.openxmlformats.org/drawingml/2006/table">
            <a:tbl>
              <a:tblPr/>
              <a:tblGrid>
                <a:gridCol w="1583436"/>
                <a:gridCol w="2111248"/>
                <a:gridCol w="2427935"/>
                <a:gridCol w="2322373"/>
                <a:gridCol w="2111248"/>
              </a:tblGrid>
              <a:tr h="330200">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Decision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We chose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Why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Trade-off we accept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Open-source option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r>
              <a:tr h="54356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Patient interface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Next.js web app: simulated Alexa+, voice and screen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Shows the whole experience; the Alexa+ toolkit is in preview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Must always be labelled as simulated; more code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Already open source; Whisper for speech-to-text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75692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Voice in and 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The browser's speech (Web Speech API)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Her hands are busy, so she talks and replies are spoken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Sounds different on each computer; Amazon Polly is on the roadmap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Whisper and Piper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75692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Real Alexa today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classic Alexa custom skill: “open after ward”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Margaret asks on a real Alexa voice, through the same MCP 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Cannot speak first; tested in the console, not published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None needed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Sign-in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demo session for one patient (Cognito later)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Keeps focus on the core loop; patient scope still enforced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Not a production login yet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Keycloak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54356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Safety checks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discharge-letter-check, our own library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Fixed rules, 149 tests, never guesses; reusable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Only catches problems we have written rules for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Already open source (MIT)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6" name="Text 3"/>
          <p:cNvSpPr/>
          <p:nvPr/>
        </p:nvSpPr>
        <p:spPr>
          <a:xfrm>
            <a:off x="812800" y="554228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AWS calls live only in service modules, so any one choice can be swapped for its open-source option by replacing one module.</a:t>
            </a:r>
            <a:endParaRPr lang="en-US" sz="1200" dirty="0"/>
          </a:p>
        </p:txBody>
      </p:sp>
      <p:sp>
        <p:nvSpPr>
          <p:cNvPr id="7" name="Shape 4"/>
          <p:cNvSpPr/>
          <p:nvPr/>
        </p:nvSpPr>
        <p:spPr>
          <a:xfrm>
            <a:off x="0" y="0"/>
            <a:ext cx="12192000" cy="508000"/>
          </a:xfrm>
          <a:prstGeom prst="rect">
            <a:avLst/>
          </a:prstGeom>
          <a:solidFill>
            <a:srgbClr val="A51F4C"/>
          </a:solidFill>
          <a:ln/>
        </p:spPr>
      </p:sp>
      <p:pic>
        <p:nvPicPr>
          <p:cNvPr id="8"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9" name="Text 5"/>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10" name="Text 6"/>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11" name="Shape 7"/>
          <p:cNvSpPr/>
          <p:nvPr/>
        </p:nvSpPr>
        <p:spPr>
          <a:xfrm>
            <a:off x="0" y="6502400"/>
            <a:ext cx="12192000" cy="355600"/>
          </a:xfrm>
          <a:prstGeom prst="rect">
            <a:avLst/>
          </a:prstGeom>
          <a:solidFill>
            <a:srgbClr val="A51F4C"/>
          </a:solidFill>
          <a:ln/>
        </p:spPr>
      </p:sp>
      <p:sp>
        <p:nvSpPr>
          <p:cNvPr id="12" name="Text 8"/>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13" name="Text 9"/>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14" name="Rectangle 13"/>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4"/>
          <a:stretch>
            <a:fillRect/>
          </a:stretch>
        </p:blipFill>
        <p:spPr>
          <a:xfrm>
            <a:off x="228600" y="102412"/>
            <a:ext cx="292608" cy="292608"/>
          </a:xfrm>
          <a:prstGeom prst="rect">
            <a:avLst/>
          </a:prstGeom>
        </p:spPr>
      </p:pic>
      <p:sp>
        <p:nvSpPr>
          <p:cNvPr id="16" name="TextBox 15"/>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17" name="TextBox 16"/>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18" name="Rectangle 17"/>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20" name="TextBox 19"/>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HOW IT IS BUILT: A DESIGN SKETCH, NOT BUILT</a:t>
            </a:r>
            <a:endParaRPr lang="en-US" sz="1200" dirty="0"/>
          </a:p>
        </p:txBody>
      </p:sp>
      <p:sp>
        <p:nvSpPr>
          <p:cNvPr id="3" name="Text 1"/>
          <p:cNvSpPr/>
          <p:nvPr>
            <p:ph type="title"/>
          </p:nvPr>
        </p:nvSpPr>
        <p:spPr>
          <a:xfrm>
            <a:off x="812800" y="11023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Architecture at scale</a:t>
            </a:r>
            <a:endParaRPr lang="en-US" sz="3200" dirty="0"/>
          </a:p>
        </p:txBody>
      </p:sp>
      <p:sp>
        <p:nvSpPr>
          <p:cNvPr id="4" name="Shape 2"/>
          <p:cNvSpPr/>
          <p:nvPr/>
        </p:nvSpPr>
        <p:spPr>
          <a:xfrm>
            <a:off x="812800" y="1701800"/>
            <a:ext cx="8547100" cy="1295400"/>
          </a:xfrm>
          <a:prstGeom prst="roundRect">
            <a:avLst>
              <a:gd name="adj" fmla="val 7843"/>
            </a:avLst>
          </a:prstGeom>
          <a:solidFill>
            <a:srgbClr val="F1EBE0"/>
          </a:solidFill>
          <a:ln/>
        </p:spPr>
      </p:sp>
      <p:sp>
        <p:nvSpPr>
          <p:cNvPr id="5" name="Shape 3"/>
          <p:cNvSpPr/>
          <p:nvPr/>
        </p:nvSpPr>
        <p:spPr>
          <a:xfrm>
            <a:off x="812800" y="3124200"/>
            <a:ext cx="8547100" cy="1295400"/>
          </a:xfrm>
          <a:prstGeom prst="roundRect">
            <a:avLst>
              <a:gd name="adj" fmla="val 7843"/>
            </a:avLst>
          </a:prstGeom>
          <a:solidFill>
            <a:srgbClr val="F1EBE0"/>
          </a:solidFill>
          <a:ln/>
        </p:spPr>
      </p:sp>
      <p:sp>
        <p:nvSpPr>
          <p:cNvPr id="6" name="Shape 4"/>
          <p:cNvSpPr/>
          <p:nvPr/>
        </p:nvSpPr>
        <p:spPr>
          <a:xfrm>
            <a:off x="812800" y="4546600"/>
            <a:ext cx="8547100" cy="1295400"/>
          </a:xfrm>
          <a:prstGeom prst="roundRect">
            <a:avLst>
              <a:gd name="adj" fmla="val 7843"/>
            </a:avLst>
          </a:prstGeom>
          <a:solidFill>
            <a:srgbClr val="F1EBE0"/>
          </a:solidFill>
          <a:ln/>
        </p:spPr>
      </p:sp>
      <p:sp>
        <p:nvSpPr>
          <p:cNvPr id="7" name="Text 5"/>
          <p:cNvSpPr/>
          <p:nvPr/>
        </p:nvSpPr>
        <p:spPr>
          <a:xfrm>
            <a:off x="939800" y="1854200"/>
            <a:ext cx="1066800" cy="596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A</a:t>
            </a:r>
            <a:endParaRPr lang="en-US" sz="1200" dirty="0"/>
          </a:p>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Talking to the plan</a:t>
            </a:r>
            <a:endParaRPr lang="en-US" sz="1200" dirty="0"/>
          </a:p>
        </p:txBody>
      </p:sp>
      <p:sp>
        <p:nvSpPr>
          <p:cNvPr id="8" name="Text 6"/>
          <p:cNvSpPr/>
          <p:nvPr/>
        </p:nvSpPr>
        <p:spPr>
          <a:xfrm>
            <a:off x="939800" y="3276600"/>
            <a:ext cx="1066800" cy="787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B</a:t>
            </a:r>
            <a:endParaRPr lang="en-US" sz="1200" dirty="0"/>
          </a:p>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A letter becomes a plan</a:t>
            </a:r>
            <a:endParaRPr lang="en-US" sz="1200" dirty="0"/>
          </a:p>
        </p:txBody>
      </p:sp>
      <p:sp>
        <p:nvSpPr>
          <p:cNvPr id="9" name="Text 7"/>
          <p:cNvSpPr/>
          <p:nvPr/>
        </p:nvSpPr>
        <p:spPr>
          <a:xfrm>
            <a:off x="939800" y="4699000"/>
            <a:ext cx="1066800" cy="596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C</a:t>
            </a:r>
            <a:endParaRPr lang="en-US" sz="1200" dirty="0"/>
          </a:p>
          <a:p>
            <a:pPr algn="l" indent="0" marL="0">
              <a:lnSpc>
                <a:spcPts val="1500"/>
              </a:lnSpc>
              <a:buNone/>
            </a:pPr>
            <a:r>
              <a:rPr lang="en-US" sz="1200" b="1" dirty="0">
                <a:solidFill>
                  <a:srgbClr val="B3264F"/>
                </a:solidFill>
                <a:latin typeface="IBM Plex Sans" pitchFamily="34" charset="0"/>
                <a:ea typeface="IBM Plex Sans" pitchFamily="34" charset="-122"/>
                <a:cs typeface="IBM Plex Sans" pitchFamily="34" charset="-120"/>
              </a:rPr>
              <a:t>AfterWard speaks first</a:t>
            </a:r>
            <a:endParaRPr lang="en-US" sz="1200" dirty="0"/>
          </a:p>
        </p:txBody>
      </p:sp>
      <p:sp>
        <p:nvSpPr>
          <p:cNvPr id="10" name="Shape 8"/>
          <p:cNvSpPr/>
          <p:nvPr/>
        </p:nvSpPr>
        <p:spPr>
          <a:xfrm>
            <a:off x="2060575" y="1857375"/>
            <a:ext cx="1581150" cy="984250"/>
          </a:xfrm>
          <a:prstGeom prst="roundRect">
            <a:avLst>
              <a:gd name="adj" fmla="val 7419"/>
            </a:avLst>
          </a:prstGeom>
          <a:solidFill>
            <a:srgbClr val="FFFDF8"/>
          </a:solidFill>
          <a:ln w="6350">
            <a:solidFill>
              <a:srgbClr val="CFC4B2"/>
            </a:solidFill>
            <a:prstDash val="solid"/>
          </a:ln>
        </p:spPr>
      </p:sp>
      <p:sp>
        <p:nvSpPr>
          <p:cNvPr id="11" name="Text 9"/>
          <p:cNvSpPr/>
          <p:nvPr/>
        </p:nvSpPr>
        <p:spPr>
          <a:xfrm>
            <a:off x="2164080" y="2159000"/>
            <a:ext cx="14249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Patients</a:t>
            </a:r>
            <a:endParaRPr lang="en-US" sz="1200" dirty="0"/>
          </a:p>
        </p:txBody>
      </p:sp>
      <p:sp>
        <p:nvSpPr>
          <p:cNvPr id="12" name="Text 10"/>
          <p:cNvSpPr/>
          <p:nvPr/>
        </p:nvSpPr>
        <p:spPr>
          <a:xfrm>
            <a:off x="2164080" y="2349500"/>
            <a:ext cx="14249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many at once</a:t>
            </a:r>
            <a:endParaRPr lang="en-US" sz="1200" dirty="0"/>
          </a:p>
        </p:txBody>
      </p:sp>
      <p:sp>
        <p:nvSpPr>
          <p:cNvPr id="13" name="Shape 11"/>
          <p:cNvSpPr/>
          <p:nvPr/>
        </p:nvSpPr>
        <p:spPr>
          <a:xfrm>
            <a:off x="3927475" y="1857375"/>
            <a:ext cx="1581150" cy="984250"/>
          </a:xfrm>
          <a:prstGeom prst="roundRect">
            <a:avLst>
              <a:gd name="adj" fmla="val 7419"/>
            </a:avLst>
          </a:prstGeom>
          <a:solidFill>
            <a:srgbClr val="FFFDF8"/>
          </a:solidFill>
          <a:ln w="6350">
            <a:solidFill>
              <a:srgbClr val="CFC4B2"/>
            </a:solidFill>
            <a:prstDash val="solid"/>
          </a:ln>
        </p:spPr>
      </p:sp>
      <p:sp>
        <p:nvSpPr>
          <p:cNvPr id="14" name="Text 12"/>
          <p:cNvSpPr/>
          <p:nvPr/>
        </p:nvSpPr>
        <p:spPr>
          <a:xfrm>
            <a:off x="4030980" y="2063750"/>
            <a:ext cx="142494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Alexa+ or any MCP client</a:t>
            </a:r>
            <a:endParaRPr lang="en-US" sz="1200" dirty="0"/>
          </a:p>
        </p:txBody>
      </p:sp>
      <p:sp>
        <p:nvSpPr>
          <p:cNvPr id="15" name="Text 13"/>
          <p:cNvSpPr/>
          <p:nvPr/>
        </p:nvSpPr>
        <p:spPr>
          <a:xfrm>
            <a:off x="4030980" y="2444750"/>
            <a:ext cx="14249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the agent</a:t>
            </a:r>
            <a:endParaRPr lang="en-US" sz="1200" dirty="0"/>
          </a:p>
        </p:txBody>
      </p:sp>
      <p:sp>
        <p:nvSpPr>
          <p:cNvPr id="16" name="Shape 14"/>
          <p:cNvSpPr/>
          <p:nvPr/>
        </p:nvSpPr>
        <p:spPr>
          <a:xfrm>
            <a:off x="5797550" y="1860550"/>
            <a:ext cx="1574800" cy="977900"/>
          </a:xfrm>
          <a:prstGeom prst="roundRect">
            <a:avLst>
              <a:gd name="adj" fmla="val 7143"/>
            </a:avLst>
          </a:prstGeom>
          <a:solidFill>
            <a:srgbClr val="FBE4EA"/>
          </a:solidFill>
          <a:ln w="12700">
            <a:solidFill>
              <a:srgbClr val="B3264F"/>
            </a:solidFill>
            <a:prstDash val="solid"/>
          </a:ln>
        </p:spPr>
      </p:sp>
      <p:sp>
        <p:nvSpPr>
          <p:cNvPr id="17" name="Text 15"/>
          <p:cNvSpPr/>
          <p:nvPr/>
        </p:nvSpPr>
        <p:spPr>
          <a:xfrm>
            <a:off x="5902960" y="2159000"/>
            <a:ext cx="14147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Load balancer</a:t>
            </a:r>
            <a:endParaRPr lang="en-US" sz="1200" dirty="0"/>
          </a:p>
        </p:txBody>
      </p:sp>
      <p:sp>
        <p:nvSpPr>
          <p:cNvPr id="18" name="Text 16"/>
          <p:cNvSpPr/>
          <p:nvPr/>
        </p:nvSpPr>
        <p:spPr>
          <a:xfrm>
            <a:off x="5902960" y="2349500"/>
            <a:ext cx="141478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spreads the calls</a:t>
            </a:r>
            <a:endParaRPr lang="en-US" sz="1200" dirty="0"/>
          </a:p>
        </p:txBody>
      </p:sp>
      <p:sp>
        <p:nvSpPr>
          <p:cNvPr id="19" name="Shape 17"/>
          <p:cNvSpPr/>
          <p:nvPr/>
        </p:nvSpPr>
        <p:spPr>
          <a:xfrm>
            <a:off x="7664450" y="1860550"/>
            <a:ext cx="1574800" cy="977900"/>
          </a:xfrm>
          <a:prstGeom prst="roundRect">
            <a:avLst>
              <a:gd name="adj" fmla="val 7143"/>
            </a:avLst>
          </a:prstGeom>
          <a:solidFill>
            <a:srgbClr val="FBE4EA"/>
          </a:solidFill>
          <a:ln w="12700">
            <a:solidFill>
              <a:srgbClr val="B3264F"/>
            </a:solidFill>
            <a:prstDash val="solid"/>
          </a:ln>
        </p:spPr>
      </p:sp>
      <p:sp>
        <p:nvSpPr>
          <p:cNvPr id="20" name="Text 18"/>
          <p:cNvSpPr/>
          <p:nvPr/>
        </p:nvSpPr>
        <p:spPr>
          <a:xfrm>
            <a:off x="7769860" y="2063750"/>
            <a:ext cx="14147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MCP server copies</a:t>
            </a:r>
            <a:endParaRPr lang="en-US" sz="1200" dirty="0"/>
          </a:p>
        </p:txBody>
      </p:sp>
      <p:sp>
        <p:nvSpPr>
          <p:cNvPr id="21" name="Text 19"/>
          <p:cNvSpPr/>
          <p:nvPr/>
        </p:nvSpPr>
        <p:spPr>
          <a:xfrm>
            <a:off x="7769860" y="2254250"/>
            <a:ext cx="141478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identical, no shared state</a:t>
            </a:r>
            <a:endParaRPr lang="en-US" sz="1200" dirty="0"/>
          </a:p>
        </p:txBody>
      </p:sp>
      <p:sp>
        <p:nvSpPr>
          <p:cNvPr id="22" name="Shape 20"/>
          <p:cNvSpPr/>
          <p:nvPr/>
        </p:nvSpPr>
        <p:spPr>
          <a:xfrm>
            <a:off x="2060575" y="3279775"/>
            <a:ext cx="1581150" cy="984250"/>
          </a:xfrm>
          <a:prstGeom prst="roundRect">
            <a:avLst>
              <a:gd name="adj" fmla="val 7419"/>
            </a:avLst>
          </a:prstGeom>
          <a:solidFill>
            <a:srgbClr val="FFFDF8"/>
          </a:solidFill>
          <a:ln w="6350">
            <a:solidFill>
              <a:srgbClr val="CFC4B2"/>
            </a:solidFill>
            <a:prstDash val="solid"/>
          </a:ln>
        </p:spPr>
      </p:sp>
      <p:sp>
        <p:nvSpPr>
          <p:cNvPr id="23" name="Text 21"/>
          <p:cNvSpPr/>
          <p:nvPr/>
        </p:nvSpPr>
        <p:spPr>
          <a:xfrm>
            <a:off x="2164080" y="3486150"/>
            <a:ext cx="14249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Letter uploads</a:t>
            </a:r>
            <a:endParaRPr lang="en-US" sz="1200" dirty="0"/>
          </a:p>
        </p:txBody>
      </p:sp>
      <p:sp>
        <p:nvSpPr>
          <p:cNvPr id="24" name="Text 22"/>
          <p:cNvSpPr/>
          <p:nvPr/>
        </p:nvSpPr>
        <p:spPr>
          <a:xfrm>
            <a:off x="2164080" y="3676650"/>
            <a:ext cx="142494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about 10 a second at peak</a:t>
            </a:r>
            <a:endParaRPr lang="en-US" sz="1200" dirty="0"/>
          </a:p>
        </p:txBody>
      </p:sp>
      <p:sp>
        <p:nvSpPr>
          <p:cNvPr id="25" name="Shape 23"/>
          <p:cNvSpPr/>
          <p:nvPr/>
        </p:nvSpPr>
        <p:spPr>
          <a:xfrm>
            <a:off x="3927475" y="3279775"/>
            <a:ext cx="1581150" cy="984250"/>
          </a:xfrm>
          <a:prstGeom prst="roundRect">
            <a:avLst>
              <a:gd name="adj" fmla="val 7419"/>
            </a:avLst>
          </a:prstGeom>
          <a:solidFill>
            <a:srgbClr val="FFFDF8"/>
          </a:solidFill>
          <a:ln w="6350">
            <a:solidFill>
              <a:srgbClr val="CFC4B2"/>
            </a:solidFill>
            <a:prstDash val="solid"/>
          </a:ln>
        </p:spPr>
      </p:sp>
      <p:sp>
        <p:nvSpPr>
          <p:cNvPr id="26" name="Text 24"/>
          <p:cNvSpPr/>
          <p:nvPr/>
        </p:nvSpPr>
        <p:spPr>
          <a:xfrm>
            <a:off x="4030980" y="3581400"/>
            <a:ext cx="14249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Amazon S3</a:t>
            </a:r>
            <a:endParaRPr lang="en-US" sz="1200" dirty="0"/>
          </a:p>
        </p:txBody>
      </p:sp>
      <p:sp>
        <p:nvSpPr>
          <p:cNvPr id="27" name="Text 25"/>
          <p:cNvSpPr/>
          <p:nvPr/>
        </p:nvSpPr>
        <p:spPr>
          <a:xfrm>
            <a:off x="4030980" y="3771900"/>
            <a:ext cx="14249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private bucket</a:t>
            </a:r>
            <a:endParaRPr lang="en-US" sz="1200" dirty="0"/>
          </a:p>
        </p:txBody>
      </p:sp>
      <p:sp>
        <p:nvSpPr>
          <p:cNvPr id="28" name="Shape 26"/>
          <p:cNvSpPr/>
          <p:nvPr/>
        </p:nvSpPr>
        <p:spPr>
          <a:xfrm>
            <a:off x="5794375" y="3279775"/>
            <a:ext cx="1581150" cy="984250"/>
          </a:xfrm>
          <a:prstGeom prst="roundRect">
            <a:avLst>
              <a:gd name="adj" fmla="val 7419"/>
            </a:avLst>
          </a:prstGeom>
          <a:solidFill>
            <a:srgbClr val="FFFDF8"/>
          </a:solidFill>
          <a:ln w="6350">
            <a:solidFill>
              <a:srgbClr val="CFC4B2"/>
            </a:solidFill>
            <a:prstDash val="solid"/>
          </a:ln>
        </p:spPr>
      </p:sp>
      <p:sp>
        <p:nvSpPr>
          <p:cNvPr id="29" name="Text 27"/>
          <p:cNvSpPr/>
          <p:nvPr/>
        </p:nvSpPr>
        <p:spPr>
          <a:xfrm>
            <a:off x="5897880" y="3581400"/>
            <a:ext cx="142494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Amazon SQS</a:t>
            </a:r>
            <a:endParaRPr lang="en-US" sz="1200" dirty="0"/>
          </a:p>
        </p:txBody>
      </p:sp>
      <p:sp>
        <p:nvSpPr>
          <p:cNvPr id="30" name="Text 28"/>
          <p:cNvSpPr/>
          <p:nvPr/>
        </p:nvSpPr>
        <p:spPr>
          <a:xfrm>
            <a:off x="5897880" y="3771900"/>
            <a:ext cx="142494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absorbs the bursts</a:t>
            </a:r>
            <a:endParaRPr lang="en-US" sz="1200" dirty="0"/>
          </a:p>
        </p:txBody>
      </p:sp>
      <p:sp>
        <p:nvSpPr>
          <p:cNvPr id="31" name="Shape 29"/>
          <p:cNvSpPr/>
          <p:nvPr/>
        </p:nvSpPr>
        <p:spPr>
          <a:xfrm>
            <a:off x="7664450" y="3282950"/>
            <a:ext cx="1574800" cy="977900"/>
          </a:xfrm>
          <a:prstGeom prst="roundRect">
            <a:avLst>
              <a:gd name="adj" fmla="val 7143"/>
            </a:avLst>
          </a:prstGeom>
          <a:solidFill>
            <a:srgbClr val="FBE4EA"/>
          </a:solidFill>
          <a:ln w="12700">
            <a:solidFill>
              <a:srgbClr val="B3264F"/>
            </a:solidFill>
            <a:prstDash val="solid"/>
          </a:ln>
        </p:spPr>
      </p:sp>
      <p:sp>
        <p:nvSpPr>
          <p:cNvPr id="32" name="Text 30"/>
          <p:cNvSpPr/>
          <p:nvPr/>
        </p:nvSpPr>
        <p:spPr>
          <a:xfrm>
            <a:off x="7769860" y="3581400"/>
            <a:ext cx="14147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Lambda workers</a:t>
            </a:r>
            <a:endParaRPr lang="en-US" sz="1200" dirty="0"/>
          </a:p>
        </p:txBody>
      </p:sp>
      <p:sp>
        <p:nvSpPr>
          <p:cNvPr id="33" name="Text 31"/>
          <p:cNvSpPr/>
          <p:nvPr/>
        </p:nvSpPr>
        <p:spPr>
          <a:xfrm>
            <a:off x="7769860" y="3771900"/>
            <a:ext cx="141478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about 200 at once</a:t>
            </a:r>
            <a:endParaRPr lang="en-US" sz="1200" dirty="0"/>
          </a:p>
        </p:txBody>
      </p:sp>
      <p:sp>
        <p:nvSpPr>
          <p:cNvPr id="34" name="Text 32"/>
          <p:cNvSpPr/>
          <p:nvPr/>
        </p:nvSpPr>
        <p:spPr>
          <a:xfrm>
            <a:off x="2057400" y="4775200"/>
            <a:ext cx="16383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The same reminder logic, spread over many workers.</a:t>
            </a:r>
            <a:endParaRPr lang="en-US" sz="1200" dirty="0"/>
          </a:p>
        </p:txBody>
      </p:sp>
      <p:sp>
        <p:nvSpPr>
          <p:cNvPr id="35" name="Shape 33"/>
          <p:cNvSpPr/>
          <p:nvPr/>
        </p:nvSpPr>
        <p:spPr>
          <a:xfrm>
            <a:off x="3930650" y="4705350"/>
            <a:ext cx="1574800" cy="977900"/>
          </a:xfrm>
          <a:prstGeom prst="roundRect">
            <a:avLst>
              <a:gd name="adj" fmla="val 7143"/>
            </a:avLst>
          </a:prstGeom>
          <a:solidFill>
            <a:srgbClr val="FBE4EA"/>
          </a:solidFill>
          <a:ln w="12700">
            <a:solidFill>
              <a:srgbClr val="B3264F"/>
            </a:solidFill>
            <a:prstDash val="solid"/>
          </a:ln>
        </p:spPr>
      </p:sp>
      <p:sp>
        <p:nvSpPr>
          <p:cNvPr id="36" name="Text 34"/>
          <p:cNvSpPr/>
          <p:nvPr/>
        </p:nvSpPr>
        <p:spPr>
          <a:xfrm>
            <a:off x="4036060" y="4813300"/>
            <a:ext cx="14147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Amazon EventBridge</a:t>
            </a:r>
            <a:endParaRPr lang="en-US" sz="1200" dirty="0"/>
          </a:p>
        </p:txBody>
      </p:sp>
      <p:sp>
        <p:nvSpPr>
          <p:cNvPr id="37" name="Text 35"/>
          <p:cNvSpPr/>
          <p:nvPr/>
        </p:nvSpPr>
        <p:spPr>
          <a:xfrm>
            <a:off x="4036060" y="5194300"/>
            <a:ext cx="141478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a schedule per time zone</a:t>
            </a:r>
            <a:endParaRPr lang="en-US" sz="1200" dirty="0"/>
          </a:p>
        </p:txBody>
      </p:sp>
      <p:sp>
        <p:nvSpPr>
          <p:cNvPr id="38" name="Shape 36"/>
          <p:cNvSpPr/>
          <p:nvPr/>
        </p:nvSpPr>
        <p:spPr>
          <a:xfrm>
            <a:off x="5797550" y="4705350"/>
            <a:ext cx="1574800" cy="977900"/>
          </a:xfrm>
          <a:prstGeom prst="roundRect">
            <a:avLst>
              <a:gd name="adj" fmla="val 7143"/>
            </a:avLst>
          </a:prstGeom>
          <a:solidFill>
            <a:srgbClr val="FBE4EA"/>
          </a:solidFill>
          <a:ln w="12700">
            <a:solidFill>
              <a:srgbClr val="B3264F"/>
            </a:solidFill>
            <a:prstDash val="solid"/>
          </a:ln>
        </p:spPr>
      </p:sp>
      <p:sp>
        <p:nvSpPr>
          <p:cNvPr id="39" name="Text 37"/>
          <p:cNvSpPr/>
          <p:nvPr/>
        </p:nvSpPr>
        <p:spPr>
          <a:xfrm>
            <a:off x="5902960" y="5003800"/>
            <a:ext cx="14147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Queue</a:t>
            </a:r>
            <a:endParaRPr lang="en-US" sz="1200" dirty="0"/>
          </a:p>
        </p:txBody>
      </p:sp>
      <p:sp>
        <p:nvSpPr>
          <p:cNvPr id="40" name="Text 38"/>
          <p:cNvSpPr/>
          <p:nvPr/>
        </p:nvSpPr>
        <p:spPr>
          <a:xfrm>
            <a:off x="5902960" y="5194300"/>
            <a:ext cx="141478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batches of patients</a:t>
            </a:r>
            <a:endParaRPr lang="en-US" sz="1200" dirty="0"/>
          </a:p>
        </p:txBody>
      </p:sp>
      <p:sp>
        <p:nvSpPr>
          <p:cNvPr id="41" name="Shape 39"/>
          <p:cNvSpPr/>
          <p:nvPr/>
        </p:nvSpPr>
        <p:spPr>
          <a:xfrm>
            <a:off x="7664450" y="4705350"/>
            <a:ext cx="1574800" cy="977900"/>
          </a:xfrm>
          <a:prstGeom prst="roundRect">
            <a:avLst>
              <a:gd name="adj" fmla="val 7143"/>
            </a:avLst>
          </a:prstGeom>
          <a:solidFill>
            <a:srgbClr val="FBE4EA"/>
          </a:solidFill>
          <a:ln w="12700">
            <a:solidFill>
              <a:srgbClr val="B3264F"/>
            </a:solidFill>
            <a:prstDash val="solid"/>
          </a:ln>
        </p:spPr>
      </p:sp>
      <p:sp>
        <p:nvSpPr>
          <p:cNvPr id="42" name="Text 40"/>
          <p:cNvSpPr/>
          <p:nvPr/>
        </p:nvSpPr>
        <p:spPr>
          <a:xfrm>
            <a:off x="7769860" y="5003800"/>
            <a:ext cx="14147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Reminder workers</a:t>
            </a:r>
            <a:endParaRPr lang="en-US" sz="1200" dirty="0"/>
          </a:p>
        </p:txBody>
      </p:sp>
      <p:sp>
        <p:nvSpPr>
          <p:cNvPr id="43" name="Text 41"/>
          <p:cNvSpPr/>
          <p:nvPr/>
        </p:nvSpPr>
        <p:spPr>
          <a:xfrm>
            <a:off x="7769860" y="5194300"/>
            <a:ext cx="141478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many at once</a:t>
            </a:r>
            <a:endParaRPr lang="en-US" sz="1200" dirty="0"/>
          </a:p>
        </p:txBody>
      </p:sp>
      <p:sp>
        <p:nvSpPr>
          <p:cNvPr id="44" name="Shape 42"/>
          <p:cNvSpPr/>
          <p:nvPr/>
        </p:nvSpPr>
        <p:spPr>
          <a:xfrm>
            <a:off x="9569450" y="1708150"/>
            <a:ext cx="1803400" cy="4127500"/>
          </a:xfrm>
          <a:prstGeom prst="roundRect">
            <a:avLst>
              <a:gd name="adj" fmla="val 5282"/>
            </a:avLst>
          </a:prstGeom>
          <a:solidFill>
            <a:srgbClr val="E6EFF6"/>
          </a:solidFill>
          <a:ln w="12700">
            <a:solidFill>
              <a:srgbClr val="1F5E8C"/>
            </a:solidFill>
            <a:prstDash val="solid"/>
          </a:ln>
        </p:spPr>
      </p:sp>
      <p:sp>
        <p:nvSpPr>
          <p:cNvPr id="45" name="Text 43"/>
          <p:cNvSpPr/>
          <p:nvPr/>
        </p:nvSpPr>
        <p:spPr>
          <a:xfrm>
            <a:off x="9700260" y="1838970"/>
            <a:ext cx="1592580" cy="4064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F5E8C"/>
                </a:solidFill>
                <a:latin typeface="IBM Plex Sans" pitchFamily="34" charset="0"/>
                <a:ea typeface="IBM Plex Sans" pitchFamily="34" charset="-122"/>
                <a:cs typeface="IBM Plex Sans" pitchFamily="34" charset="-120"/>
              </a:rPr>
              <a:t>Data, kept per patient</a:t>
            </a:r>
            <a:endParaRPr lang="en-US" sz="1200" dirty="0"/>
          </a:p>
        </p:txBody>
      </p:sp>
      <p:sp>
        <p:nvSpPr>
          <p:cNvPr id="46" name="Shape 44"/>
          <p:cNvSpPr/>
          <p:nvPr/>
        </p:nvSpPr>
        <p:spPr>
          <a:xfrm>
            <a:off x="9700260" y="2337445"/>
            <a:ext cx="1541780" cy="0"/>
          </a:xfrm>
          <a:prstGeom prst="line">
            <a:avLst/>
          </a:prstGeom>
          <a:noFill/>
          <a:ln w="6350">
            <a:solidFill>
              <a:srgbClr val="9DB8CC"/>
            </a:solidFill>
            <a:prstDash val="solid"/>
          </a:ln>
        </p:spPr>
      </p:sp>
      <p:sp>
        <p:nvSpPr>
          <p:cNvPr id="47" name="Text 45"/>
          <p:cNvSpPr/>
          <p:nvPr/>
        </p:nvSpPr>
        <p:spPr>
          <a:xfrm>
            <a:off x="9700260" y="2440955"/>
            <a:ext cx="15925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Recovery State</a:t>
            </a:r>
            <a:endParaRPr lang="en-US" sz="1200" dirty="0"/>
          </a:p>
        </p:txBody>
      </p:sp>
      <p:sp>
        <p:nvSpPr>
          <p:cNvPr id="48" name="Text 46"/>
          <p:cNvSpPr/>
          <p:nvPr/>
        </p:nvSpPr>
        <p:spPr>
          <a:xfrm>
            <a:off x="9700260" y="2631455"/>
            <a:ext cx="1592580" cy="787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DynamoDB: one small item per medicine, task and daily occurrence</a:t>
            </a:r>
            <a:endParaRPr lang="en-US" sz="1200" dirty="0"/>
          </a:p>
        </p:txBody>
      </p:sp>
      <p:sp>
        <p:nvSpPr>
          <p:cNvPr id="49" name="Shape 47"/>
          <p:cNvSpPr/>
          <p:nvPr/>
        </p:nvSpPr>
        <p:spPr>
          <a:xfrm>
            <a:off x="9700260" y="3510930"/>
            <a:ext cx="1541780" cy="0"/>
          </a:xfrm>
          <a:prstGeom prst="line">
            <a:avLst/>
          </a:prstGeom>
          <a:noFill/>
          <a:ln w="6350">
            <a:solidFill>
              <a:srgbClr val="9DB8CC"/>
            </a:solidFill>
            <a:prstDash val="solid"/>
          </a:ln>
        </p:spPr>
      </p:sp>
      <p:sp>
        <p:nvSpPr>
          <p:cNvPr id="50" name="Text 48"/>
          <p:cNvSpPr/>
          <p:nvPr/>
        </p:nvSpPr>
        <p:spPr>
          <a:xfrm>
            <a:off x="9700260" y="3614415"/>
            <a:ext cx="15925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Event History</a:t>
            </a:r>
            <a:endParaRPr lang="en-US" sz="1200" dirty="0"/>
          </a:p>
        </p:txBody>
      </p:sp>
      <p:sp>
        <p:nvSpPr>
          <p:cNvPr id="51" name="Text 49"/>
          <p:cNvSpPr/>
          <p:nvPr/>
        </p:nvSpPr>
        <p:spPr>
          <a:xfrm>
            <a:off x="9700260" y="3804915"/>
            <a:ext cx="159258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DynamoDB: what each patient did</a:t>
            </a:r>
            <a:endParaRPr lang="en-US" sz="1200" dirty="0"/>
          </a:p>
        </p:txBody>
      </p:sp>
      <p:sp>
        <p:nvSpPr>
          <p:cNvPr id="52" name="Shape 50"/>
          <p:cNvSpPr/>
          <p:nvPr/>
        </p:nvSpPr>
        <p:spPr>
          <a:xfrm>
            <a:off x="9700260" y="4303390"/>
            <a:ext cx="1541780" cy="0"/>
          </a:xfrm>
          <a:prstGeom prst="line">
            <a:avLst/>
          </a:prstGeom>
          <a:noFill/>
          <a:ln w="6350">
            <a:solidFill>
              <a:srgbClr val="9DB8CC"/>
            </a:solidFill>
            <a:prstDash val="solid"/>
          </a:ln>
        </p:spPr>
      </p:sp>
      <p:sp>
        <p:nvSpPr>
          <p:cNvPr id="53" name="Text 51"/>
          <p:cNvSpPr/>
          <p:nvPr/>
        </p:nvSpPr>
        <p:spPr>
          <a:xfrm>
            <a:off x="9700260" y="4406900"/>
            <a:ext cx="15925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17222B"/>
                </a:solidFill>
                <a:latin typeface="IBM Plex Sans" pitchFamily="34" charset="0"/>
                <a:ea typeface="IBM Plex Sans" pitchFamily="34" charset="-122"/>
                <a:cs typeface="IBM Plex Sans" pitchFamily="34" charset="-120"/>
              </a:rPr>
              <a:t>Amazon S3 Vectors</a:t>
            </a:r>
            <a:endParaRPr lang="en-US" sz="1200" dirty="0"/>
          </a:p>
        </p:txBody>
      </p:sp>
      <p:sp>
        <p:nvSpPr>
          <p:cNvPr id="54" name="Text 52"/>
          <p:cNvSpPr/>
          <p:nvPr/>
        </p:nvSpPr>
        <p:spPr>
          <a:xfrm>
            <a:off x="9700260" y="4597400"/>
            <a:ext cx="159258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D5863"/>
                </a:solidFill>
                <a:latin typeface="IBM Plex Sans" pitchFamily="34" charset="0"/>
                <a:ea typeface="IBM Plex Sans" pitchFamily="34" charset="-122"/>
                <a:cs typeface="IBM Plex Sans" pitchFamily="34" charset="-120"/>
              </a:rPr>
              <a:t>search, filtered to one patient</a:t>
            </a:r>
            <a:endParaRPr lang="en-US" sz="1200" dirty="0"/>
          </a:p>
        </p:txBody>
      </p:sp>
      <p:pic>
        <p:nvPicPr>
          <p:cNvPr id="55" name="Image 0" descr="connector">    </p:cNvPr>
          <p:cNvPicPr>
            <a:picLocks noChangeAspect="1"/>
          </p:cNvPicPr>
          <p:nvPr/>
        </p:nvPicPr>
        <p:blipFill>
          <a:blip r:embed="rId1"/>
          <a:srcRect l="0" r="0" t="0" b="0"/>
          <a:stretch/>
        </p:blipFill>
        <p:spPr>
          <a:xfrm>
            <a:off x="3594100" y="2298700"/>
            <a:ext cx="381000" cy="101600"/>
          </a:xfrm>
          <a:prstGeom prst="rect">
            <a:avLst/>
          </a:prstGeom>
        </p:spPr>
      </p:pic>
      <p:pic>
        <p:nvPicPr>
          <p:cNvPr id="56" name="Image 1" descr="connector">    </p:cNvPr>
          <p:cNvPicPr>
            <a:picLocks noChangeAspect="1"/>
          </p:cNvPicPr>
          <p:nvPr/>
        </p:nvPicPr>
        <p:blipFill>
          <a:blip r:embed="rId2"/>
          <a:srcRect l="0" r="0" t="0" b="0"/>
          <a:stretch/>
        </p:blipFill>
        <p:spPr>
          <a:xfrm>
            <a:off x="5461000" y="2298700"/>
            <a:ext cx="381000" cy="101600"/>
          </a:xfrm>
          <a:prstGeom prst="rect">
            <a:avLst/>
          </a:prstGeom>
        </p:spPr>
      </p:pic>
      <p:pic>
        <p:nvPicPr>
          <p:cNvPr id="57" name="Image 2" descr="connector">    </p:cNvPr>
          <p:cNvPicPr>
            <a:picLocks noChangeAspect="1"/>
          </p:cNvPicPr>
          <p:nvPr/>
        </p:nvPicPr>
        <p:blipFill>
          <a:blip r:embed="rId3"/>
          <a:srcRect l="0" r="0" t="0" b="0"/>
          <a:stretch/>
        </p:blipFill>
        <p:spPr>
          <a:xfrm>
            <a:off x="7327900" y="2298700"/>
            <a:ext cx="381000" cy="101600"/>
          </a:xfrm>
          <a:prstGeom prst="rect">
            <a:avLst/>
          </a:prstGeom>
        </p:spPr>
      </p:pic>
      <p:pic>
        <p:nvPicPr>
          <p:cNvPr id="58" name="Image 3" descr="connector">    </p:cNvPr>
          <p:cNvPicPr>
            <a:picLocks noChangeAspect="1"/>
          </p:cNvPicPr>
          <p:nvPr/>
        </p:nvPicPr>
        <p:blipFill>
          <a:blip r:embed="rId4"/>
          <a:srcRect l="0" r="0" t="0" b="0"/>
          <a:stretch/>
        </p:blipFill>
        <p:spPr>
          <a:xfrm>
            <a:off x="9194800" y="2298700"/>
            <a:ext cx="419100" cy="101600"/>
          </a:xfrm>
          <a:prstGeom prst="rect">
            <a:avLst/>
          </a:prstGeom>
        </p:spPr>
      </p:pic>
      <p:pic>
        <p:nvPicPr>
          <p:cNvPr id="59" name="Image 4" descr="connector">    </p:cNvPr>
          <p:cNvPicPr>
            <a:picLocks noChangeAspect="1"/>
          </p:cNvPicPr>
          <p:nvPr/>
        </p:nvPicPr>
        <p:blipFill>
          <a:blip r:embed="rId5"/>
          <a:srcRect l="0" r="0" t="0" b="0"/>
          <a:stretch/>
        </p:blipFill>
        <p:spPr>
          <a:xfrm>
            <a:off x="3594100" y="3721100"/>
            <a:ext cx="381000" cy="101600"/>
          </a:xfrm>
          <a:prstGeom prst="rect">
            <a:avLst/>
          </a:prstGeom>
        </p:spPr>
      </p:pic>
      <p:pic>
        <p:nvPicPr>
          <p:cNvPr id="60" name="Image 5" descr="connector">    </p:cNvPr>
          <p:cNvPicPr>
            <a:picLocks noChangeAspect="1"/>
          </p:cNvPicPr>
          <p:nvPr/>
        </p:nvPicPr>
        <p:blipFill>
          <a:blip r:embed="rId6"/>
          <a:srcRect l="0" r="0" t="0" b="0"/>
          <a:stretch/>
        </p:blipFill>
        <p:spPr>
          <a:xfrm>
            <a:off x="5461000" y="3721100"/>
            <a:ext cx="381000" cy="101600"/>
          </a:xfrm>
          <a:prstGeom prst="rect">
            <a:avLst/>
          </a:prstGeom>
        </p:spPr>
      </p:pic>
      <p:pic>
        <p:nvPicPr>
          <p:cNvPr id="61" name="Image 6" descr="connector">    </p:cNvPr>
          <p:cNvPicPr>
            <a:picLocks noChangeAspect="1"/>
          </p:cNvPicPr>
          <p:nvPr/>
        </p:nvPicPr>
        <p:blipFill>
          <a:blip r:embed="rId7"/>
          <a:srcRect l="0" r="0" t="0" b="0"/>
          <a:stretch/>
        </p:blipFill>
        <p:spPr>
          <a:xfrm>
            <a:off x="7327900" y="3721100"/>
            <a:ext cx="381000" cy="101600"/>
          </a:xfrm>
          <a:prstGeom prst="rect">
            <a:avLst/>
          </a:prstGeom>
        </p:spPr>
      </p:pic>
      <p:pic>
        <p:nvPicPr>
          <p:cNvPr id="62" name="Image 7" descr="connector">    </p:cNvPr>
          <p:cNvPicPr>
            <a:picLocks noChangeAspect="1"/>
          </p:cNvPicPr>
          <p:nvPr/>
        </p:nvPicPr>
        <p:blipFill>
          <a:blip r:embed="rId8"/>
          <a:srcRect l="0" r="0" t="0" b="0"/>
          <a:stretch/>
        </p:blipFill>
        <p:spPr>
          <a:xfrm>
            <a:off x="9194800" y="3721100"/>
            <a:ext cx="419100" cy="101600"/>
          </a:xfrm>
          <a:prstGeom prst="rect">
            <a:avLst/>
          </a:prstGeom>
        </p:spPr>
      </p:pic>
      <p:pic>
        <p:nvPicPr>
          <p:cNvPr id="63" name="Image 8" descr="connector">    </p:cNvPr>
          <p:cNvPicPr>
            <a:picLocks noChangeAspect="1"/>
          </p:cNvPicPr>
          <p:nvPr/>
        </p:nvPicPr>
        <p:blipFill>
          <a:blip r:embed="rId9"/>
          <a:srcRect l="0" r="0" t="0" b="0"/>
          <a:stretch/>
        </p:blipFill>
        <p:spPr>
          <a:xfrm>
            <a:off x="5461000" y="5143500"/>
            <a:ext cx="381000" cy="101600"/>
          </a:xfrm>
          <a:prstGeom prst="rect">
            <a:avLst/>
          </a:prstGeom>
        </p:spPr>
      </p:pic>
      <p:pic>
        <p:nvPicPr>
          <p:cNvPr id="64" name="Image 9" descr="connector">    </p:cNvPr>
          <p:cNvPicPr>
            <a:picLocks noChangeAspect="1"/>
          </p:cNvPicPr>
          <p:nvPr/>
        </p:nvPicPr>
        <p:blipFill>
          <a:blip r:embed="rId10"/>
          <a:srcRect l="0" r="0" t="0" b="0"/>
          <a:stretch/>
        </p:blipFill>
        <p:spPr>
          <a:xfrm>
            <a:off x="7327900" y="5143500"/>
            <a:ext cx="381000" cy="101600"/>
          </a:xfrm>
          <a:prstGeom prst="rect">
            <a:avLst/>
          </a:prstGeom>
        </p:spPr>
      </p:pic>
      <p:pic>
        <p:nvPicPr>
          <p:cNvPr id="65" name="Image 10" descr="connector">    </p:cNvPr>
          <p:cNvPicPr>
            <a:picLocks noChangeAspect="1"/>
          </p:cNvPicPr>
          <p:nvPr/>
        </p:nvPicPr>
        <p:blipFill>
          <a:blip r:embed="rId11"/>
          <a:srcRect l="0" r="0" t="0" b="0"/>
          <a:stretch/>
        </p:blipFill>
        <p:spPr>
          <a:xfrm>
            <a:off x="9194800" y="5143500"/>
            <a:ext cx="419100" cy="101600"/>
          </a:xfrm>
          <a:prstGeom prst="rect">
            <a:avLst/>
          </a:prstGeom>
        </p:spPr>
      </p:pic>
      <p:sp>
        <p:nvSpPr>
          <p:cNvPr id="66" name="Text 53"/>
          <p:cNvSpPr/>
          <p:nvPr/>
        </p:nvSpPr>
        <p:spPr>
          <a:xfrm>
            <a:off x="812800" y="62382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Pink boxes are what changes at scale. The shape of the system stays the same. None of this slide is built.</a:t>
            </a:r>
            <a:endParaRPr lang="en-US" sz="1200" dirty="0"/>
          </a:p>
        </p:txBody>
      </p:sp>
      <p:sp>
        <p:nvSpPr>
          <p:cNvPr id="67" name="Shape 54"/>
          <p:cNvSpPr/>
          <p:nvPr/>
        </p:nvSpPr>
        <p:spPr>
          <a:xfrm>
            <a:off x="0" y="0"/>
            <a:ext cx="12192000" cy="508000"/>
          </a:xfrm>
          <a:prstGeom prst="rect">
            <a:avLst/>
          </a:prstGeom>
          <a:solidFill>
            <a:srgbClr val="A51F4C"/>
          </a:solidFill>
          <a:ln/>
        </p:spPr>
      </p:sp>
      <p:pic>
        <p:nvPicPr>
          <p:cNvPr id="68" name="Image 11" descr="AfterWard logo">    </p:cNvPr>
          <p:cNvPicPr>
            <a:picLocks noChangeAspect="1"/>
          </p:cNvPicPr>
          <p:nvPr/>
        </p:nvPicPr>
        <p:blipFill>
          <a:blip r:embed="rId12"/>
          <a:srcRect l="0" r="0" t="0" b="0"/>
          <a:stretch/>
        </p:blipFill>
        <p:spPr>
          <a:xfrm>
            <a:off x="254000" y="114300"/>
            <a:ext cx="279400" cy="279400"/>
          </a:xfrm>
          <a:prstGeom prst="rect">
            <a:avLst/>
          </a:prstGeom>
        </p:spPr>
      </p:pic>
      <p:sp>
        <p:nvSpPr>
          <p:cNvPr id="69" name="Text 55"/>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70" name="Text 56"/>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71" name="Shape 57"/>
          <p:cNvSpPr/>
          <p:nvPr/>
        </p:nvSpPr>
        <p:spPr>
          <a:xfrm>
            <a:off x="0" y="6502400"/>
            <a:ext cx="12192000" cy="355600"/>
          </a:xfrm>
          <a:prstGeom prst="rect">
            <a:avLst/>
          </a:prstGeom>
          <a:solidFill>
            <a:srgbClr val="A51F4C"/>
          </a:solidFill>
          <a:ln/>
        </p:spPr>
      </p:sp>
      <p:sp>
        <p:nvSpPr>
          <p:cNvPr id="72" name="Text 58"/>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73" name="Text 59"/>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74" name="Rectangle 73"/>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5" name="Picture 74" descr="image.png"/>
          <p:cNvPicPr>
            <a:picLocks noChangeAspect="1"/>
          </p:cNvPicPr>
          <p:nvPr/>
        </p:nvPicPr>
        <p:blipFill>
          <a:blip r:embed="rId15"/>
          <a:stretch>
            <a:fillRect/>
          </a:stretch>
        </p:blipFill>
        <p:spPr>
          <a:xfrm>
            <a:off x="228600" y="102412"/>
            <a:ext cx="292608" cy="292608"/>
          </a:xfrm>
          <a:prstGeom prst="rect">
            <a:avLst/>
          </a:prstGeom>
        </p:spPr>
      </p:pic>
      <p:sp>
        <p:nvSpPr>
          <p:cNvPr id="76" name="TextBox 75"/>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77" name="TextBox 76"/>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78" name="Rectangle 77"/>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80" name="TextBox 79"/>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HOW IT IS BUILT: IF EVERY US HOSPITAL ADMISSION USED AFTERWARD</a:t>
            </a:r>
            <a:endParaRPr lang="en-US" sz="1200" dirty="0"/>
          </a:p>
        </p:txBody>
      </p:sp>
      <p:sp>
        <p:nvSpPr>
          <p:cNvPr id="3" name="Text 1"/>
          <p:cNvSpPr/>
          <p:nvPr>
            <p:ph type="title"/>
          </p:nvPr>
        </p:nvSpPr>
        <p:spPr>
          <a:xfrm>
            <a:off x="812800" y="11023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How it scales</a:t>
            </a:r>
            <a:endParaRPr lang="en-US" sz="3200" dirty="0"/>
          </a:p>
        </p:txBody>
      </p:sp>
      <p:sp>
        <p:nvSpPr>
          <p:cNvPr id="4" name="Shape 2"/>
          <p:cNvSpPr/>
          <p:nvPr/>
        </p:nvSpPr>
        <p:spPr>
          <a:xfrm>
            <a:off x="815975" y="1806575"/>
            <a:ext cx="3383677" cy="1464310"/>
          </a:xfrm>
          <a:prstGeom prst="roundRect">
            <a:avLst>
              <a:gd name="adj" fmla="val 6722"/>
            </a:avLst>
          </a:prstGeom>
          <a:solidFill>
            <a:srgbClr val="FFFDF8"/>
          </a:solidFill>
          <a:ln w="6350">
            <a:solidFill>
              <a:srgbClr val="E4DCCF"/>
            </a:solidFill>
            <a:prstDash val="solid"/>
          </a:ln>
        </p:spPr>
      </p:sp>
      <p:sp>
        <p:nvSpPr>
          <p:cNvPr id="5" name="Text 3"/>
          <p:cNvSpPr/>
          <p:nvPr/>
        </p:nvSpPr>
        <p:spPr>
          <a:xfrm>
            <a:off x="1021080" y="1960885"/>
            <a:ext cx="3062671"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B3264F"/>
                </a:solidFill>
                <a:latin typeface="Source Serif 4" pitchFamily="18" charset="0"/>
                <a:ea typeface="Source Serif 4" pitchFamily="18" charset="-122"/>
                <a:cs typeface="Source Serif 4" pitchFamily="18" charset="-120"/>
              </a:rPr>
              <a:t>10</a:t>
            </a:r>
            <a:endParaRPr lang="en-US" sz="6000" dirty="0"/>
          </a:p>
        </p:txBody>
      </p:sp>
      <p:sp>
        <p:nvSpPr>
          <p:cNvPr id="6" name="Text 4"/>
          <p:cNvSpPr/>
          <p:nvPr/>
        </p:nvSpPr>
        <p:spPr>
          <a:xfrm>
            <a:off x="1021080" y="2849885"/>
            <a:ext cx="30626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22B"/>
                </a:solidFill>
                <a:latin typeface="IBM Plex Sans" pitchFamily="34" charset="0"/>
                <a:ea typeface="IBM Plex Sans" pitchFamily="34" charset="-122"/>
                <a:cs typeface="IBM Plex Sans" pitchFamily="34" charset="-120"/>
              </a:rPr>
              <a:t>uploads a second at peak</a:t>
            </a:r>
            <a:endParaRPr lang="en-US" sz="1500" dirty="0"/>
          </a:p>
        </p:txBody>
      </p:sp>
      <p:sp>
        <p:nvSpPr>
          <p:cNvPr id="7" name="Shape 5"/>
          <p:cNvSpPr/>
          <p:nvPr/>
        </p:nvSpPr>
        <p:spPr>
          <a:xfrm>
            <a:off x="4409202" y="1806575"/>
            <a:ext cx="3383756" cy="1464310"/>
          </a:xfrm>
          <a:prstGeom prst="roundRect">
            <a:avLst>
              <a:gd name="adj" fmla="val 6722"/>
            </a:avLst>
          </a:prstGeom>
          <a:solidFill>
            <a:srgbClr val="FFFDF8"/>
          </a:solidFill>
          <a:ln w="6350">
            <a:solidFill>
              <a:srgbClr val="E4DCCF"/>
            </a:solidFill>
            <a:prstDash val="solid"/>
          </a:ln>
        </p:spPr>
      </p:sp>
      <p:sp>
        <p:nvSpPr>
          <p:cNvPr id="8" name="Text 6"/>
          <p:cNvSpPr/>
          <p:nvPr/>
        </p:nvSpPr>
        <p:spPr>
          <a:xfrm>
            <a:off x="4614307" y="1960885"/>
            <a:ext cx="3062753" cy="863600"/>
          </a:xfrm>
          <a:prstGeom prst="rect">
            <a:avLst/>
          </a:prstGeom>
          <a:noFill/>
          <a:ln/>
        </p:spPr>
        <p:txBody>
          <a:bodyPr wrap="square" lIns="0" tIns="0" rIns="0" bIns="0" rtlCol="0" anchor="t">
            <a:normAutofit/>
          </a:bodyPr>
          <a:lstStyle/>
          <a:p>
            <a:pPr algn="l" indent="0" marL="0">
              <a:lnSpc>
                <a:spcPts val="6600"/>
              </a:lnSpc>
              <a:buNone/>
            </a:pPr>
            <a:r>
              <a:rPr lang="en-US" sz="6000" b="1" dirty="0">
                <a:solidFill>
                  <a:srgbClr val="B3264F"/>
                </a:solidFill>
                <a:latin typeface="Source Serif 4" pitchFamily="18" charset="0"/>
                <a:ea typeface="Source Serif 4" pitchFamily="18" charset="-122"/>
                <a:cs typeface="Source Serif 4" pitchFamily="18" charset="-120"/>
              </a:rPr>
              <a:t>5,000</a:t>
            </a:r>
            <a:endParaRPr lang="en-US" sz="6000" dirty="0"/>
          </a:p>
        </p:txBody>
      </p:sp>
      <p:sp>
        <p:nvSpPr>
          <p:cNvPr id="9" name="Text 7"/>
          <p:cNvSpPr/>
          <p:nvPr/>
        </p:nvSpPr>
        <p:spPr>
          <a:xfrm>
            <a:off x="4614307" y="2849885"/>
            <a:ext cx="306275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7222B"/>
                </a:solidFill>
                <a:latin typeface="IBM Plex Sans" pitchFamily="34" charset="0"/>
                <a:ea typeface="IBM Plex Sans" pitchFamily="34" charset="-122"/>
                <a:cs typeface="IBM Plex Sans" pitchFamily="34" charset="-120"/>
              </a:rPr>
              <a:t>tool calls a second at peak</a:t>
            </a:r>
            <a:endParaRPr lang="en-US" sz="1500" dirty="0"/>
          </a:p>
        </p:txBody>
      </p:sp>
      <p:sp>
        <p:nvSpPr>
          <p:cNvPr id="10" name="Shape 8"/>
          <p:cNvSpPr/>
          <p:nvPr/>
        </p:nvSpPr>
        <p:spPr>
          <a:xfrm>
            <a:off x="7999333" y="1803400"/>
            <a:ext cx="3379867" cy="1470660"/>
          </a:xfrm>
          <a:prstGeom prst="roundRect">
            <a:avLst>
              <a:gd name="adj" fmla="val 6908"/>
            </a:avLst>
          </a:prstGeom>
          <a:solidFill>
            <a:srgbClr val="F1EBE0"/>
          </a:solidFill>
          <a:ln/>
        </p:spPr>
      </p:sp>
      <p:sp>
        <p:nvSpPr>
          <p:cNvPr id="11" name="Text 9"/>
          <p:cNvSpPr/>
          <p:nvPr/>
        </p:nvSpPr>
        <p:spPr>
          <a:xfrm>
            <a:off x="8202533" y="2086620"/>
            <a:ext cx="306267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Assumptions, not measured</a:t>
            </a:r>
            <a:endParaRPr lang="en-US" sz="1200" dirty="0"/>
          </a:p>
        </p:txBody>
      </p:sp>
      <p:sp>
        <p:nvSpPr>
          <p:cNvPr id="12" name="Text 10"/>
          <p:cNvSpPr/>
          <p:nvPr/>
        </p:nvSpPr>
        <p:spPr>
          <a:xfrm>
            <a:off x="8202533" y="2350765"/>
            <a:ext cx="306267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35.7 million admissions a year. 30 days of use. 15 tool calls a day. Peak is 10 times the average. 20 seconds to read a letter.</a:t>
            </a:r>
            <a:endParaRPr lang="en-US" sz="1200" dirty="0"/>
          </a:p>
        </p:txBody>
      </p:sp>
      <p:sp>
        <p:nvSpPr>
          <p:cNvPr id="13" name="Shape 11"/>
          <p:cNvSpPr/>
          <p:nvPr/>
        </p:nvSpPr>
        <p:spPr>
          <a:xfrm>
            <a:off x="812800" y="3528070"/>
            <a:ext cx="10566400" cy="1991360"/>
          </a:xfrm>
          <a:prstGeom prst="rect">
            <a:avLst/>
          </a:prstGeom>
          <a:solidFill>
            <a:srgbClr val="FFFDF8"/>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2960" y="3538230"/>
          <a:ext cx="10556240" cy="1981200"/>
        </p:xfrm>
        <a:graphic>
          <a:graphicData uri="http://schemas.openxmlformats.org/drawingml/2006/table">
            <a:tbl>
              <a:tblPr/>
              <a:tblGrid>
                <a:gridCol w="2322373"/>
                <a:gridCol w="2955747"/>
                <a:gridCol w="5278120"/>
              </a:tblGrid>
              <a:tr h="330200">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Part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Hackathon build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c>
                  <a:txBody>
                    <a:bodyPr/>
                    <a:lstStyle/>
                    <a:p>
                      <a:pPr indent="0" marL="0">
                        <a:lnSpc>
                          <a:spcPts val="1680"/>
                        </a:lnSpc>
                        <a:buNone/>
                      </a:pPr>
                      <a:r>
                        <a:rPr lang="en-US" sz="1200" b="1" dirty="0">
                          <a:solidFill>
                            <a:srgbClr val="17222B"/>
                          </a:solidFill>
                          <a:latin typeface="IBM Plex Sans" pitchFamily="34" charset="0"/>
                          <a:ea typeface="IBM Plex Sans" pitchFamily="34" charset="-122"/>
                          <a:cs typeface="IBM Plex Sans" pitchFamily="34" charset="-120"/>
                        </a:rPr>
                        <a:t>At the 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0BCB3"/>
                      </a:solidFill>
                      <a:prstDash val="solid"/>
                      <a:round/>
                      <a:headEnd type="none" w="med" len="med"/>
                      <a:tailEnd type="none" w="med" len="med"/>
                    </a:lnL>
                    <a:lnR w="12700" cap="flat" cmpd="sng" algn="ctr">
                      <a:solidFill>
                        <a:srgbClr val="C0BCB3"/>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0BCB3"/>
                      </a:solidFill>
                      <a:prstDash val="solid"/>
                      <a:round/>
                      <a:headEnd type="none" w="med" len="med"/>
                      <a:tailEnd type="none" w="med" len="med"/>
                    </a:lnB>
                    <a:solidFill>
                      <a:srgbClr val="F1EBE0"/>
                    </a:solidFill>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Letter workers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2 at once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About 200 at once, capped to the Bedrock limit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0BCB3"/>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Amazon Bedrock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Default request cap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Cap raised to about 600 letters a minute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MCP server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One deployment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Several identical copies behind a load balancer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Plan storage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One item per patient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One small item per medicine, task and daily occurrence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r h="330200">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Reminders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One schedule, one Lambda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c>
                  <a:txBody>
                    <a:bodyPr/>
                    <a:lstStyle/>
                    <a:p>
                      <a:pPr indent="0" marL="0">
                        <a:lnSpc>
                          <a:spcPts val="1680"/>
                        </a:lnSpc>
                        <a:buNone/>
                      </a:pPr>
                      <a:r>
                        <a:rPr lang="en-US" sz="1200" dirty="0">
                          <a:solidFill>
                            <a:srgbClr val="17222B"/>
                          </a:solidFill>
                          <a:latin typeface="IBM Plex Sans" pitchFamily="34" charset="0"/>
                          <a:ea typeface="IBM Plex Sans" pitchFamily="34" charset="-122"/>
                          <a:cs typeface="IBM Plex Sans" pitchFamily="34" charset="-120"/>
                        </a:rPr>
                        <a:t>A schedule per time zone and a queue of patient batches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AC6"/>
                      </a:solidFill>
                      <a:prstDash val="solid"/>
                      <a:round/>
                      <a:headEnd type="none" w="med" len="med"/>
                      <a:tailEnd type="none" w="med" len="med"/>
                    </a:lnL>
                    <a:lnR w="12700" cap="flat" cmpd="sng" algn="ctr">
                      <a:solidFill>
                        <a:srgbClr val="CBCAC6"/>
                      </a:solidFill>
                      <a:prstDash val="solid"/>
                      <a:round/>
                      <a:headEnd type="none" w="med" len="med"/>
                      <a:tailEnd type="none" w="med" len="med"/>
                    </a:lnR>
                    <a:lnT w="12700" cap="flat" cmpd="sng" algn="ctr">
                      <a:solidFill>
                        <a:srgbClr val="CBCAC6"/>
                      </a:solidFill>
                      <a:prstDash val="solid"/>
                      <a:round/>
                      <a:headEnd type="none" w="med" len="med"/>
                      <a:tailEnd type="none" w="med" len="med"/>
                    </a:lnT>
                    <a:lnB w="12700" cap="flat" cmpd="sng" algn="ctr">
                      <a:solidFill>
                        <a:srgbClr val="CBCAC6"/>
                      </a:solidFill>
                      <a:prstDash val="solid"/>
                      <a:round/>
                      <a:headEnd type="none" w="med" len="med"/>
                      <a:tailEnd type="none" w="med" len="med"/>
                    </a:lnB>
                  </a:tcPr>
                </a:tc>
              </a:tr>
            </a:tbl>
          </a:graphicData>
        </a:graphic>
      </p:graphicFrame>
      <p:sp>
        <p:nvSpPr>
          <p:cNvPr id="15" name="Text 12"/>
          <p:cNvSpPr/>
          <p:nvPr/>
        </p:nvSpPr>
        <p:spPr>
          <a:xfrm>
            <a:off x="812800" y="62382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design sketch, not built. Admissions: AHA Fast Facts on U.S. Hospitals 2026 (2024 survey).</a:t>
            </a:r>
            <a:endParaRPr lang="en-US" sz="1200" dirty="0"/>
          </a:p>
        </p:txBody>
      </p:sp>
      <p:sp>
        <p:nvSpPr>
          <p:cNvPr id="16" name="Shape 13"/>
          <p:cNvSpPr/>
          <p:nvPr/>
        </p:nvSpPr>
        <p:spPr>
          <a:xfrm>
            <a:off x="0" y="0"/>
            <a:ext cx="12192000" cy="508000"/>
          </a:xfrm>
          <a:prstGeom prst="rect">
            <a:avLst/>
          </a:prstGeom>
          <a:solidFill>
            <a:srgbClr val="A51F4C"/>
          </a:solidFill>
          <a:ln/>
        </p:spPr>
      </p:sp>
      <p:pic>
        <p:nvPicPr>
          <p:cNvPr id="17"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18" name="Text 14"/>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19" name="Text 15"/>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20" name="Shape 16"/>
          <p:cNvSpPr/>
          <p:nvPr/>
        </p:nvSpPr>
        <p:spPr>
          <a:xfrm>
            <a:off x="0" y="6502400"/>
            <a:ext cx="12192000" cy="355600"/>
          </a:xfrm>
          <a:prstGeom prst="rect">
            <a:avLst/>
          </a:prstGeom>
          <a:solidFill>
            <a:srgbClr val="A51F4C"/>
          </a:solidFill>
          <a:ln/>
        </p:spPr>
      </p:sp>
      <p:sp>
        <p:nvSpPr>
          <p:cNvPr id="21" name="Text 17"/>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22" name="Text 18"/>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23" name="Rectangle 22"/>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mage.png"/>
          <p:cNvPicPr>
            <a:picLocks noChangeAspect="1"/>
          </p:cNvPicPr>
          <p:nvPr/>
        </p:nvPicPr>
        <p:blipFill>
          <a:blip r:embed="rId4"/>
          <a:stretch>
            <a:fillRect/>
          </a:stretch>
        </p:blipFill>
        <p:spPr>
          <a:xfrm>
            <a:off x="228600" y="102412"/>
            <a:ext cx="292608" cy="292608"/>
          </a:xfrm>
          <a:prstGeom prst="rect">
            <a:avLst/>
          </a:prstGeom>
        </p:spPr>
      </p:pic>
      <p:sp>
        <p:nvSpPr>
          <p:cNvPr id="25" name="TextBox 24"/>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26" name="TextBox 25"/>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27" name="Rectangle 26"/>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29" name="TextBox 28"/>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JOURNEY: A FIRST-TIME TEAM ON AN AGGRESSIVE SCHEDULE</a:t>
            </a:r>
            <a:endParaRPr lang="en-US" sz="1200" dirty="0"/>
          </a:p>
        </p:txBody>
      </p:sp>
      <p:sp>
        <p:nvSpPr>
          <p:cNvPr id="3" name="Text 1"/>
          <p:cNvSpPr/>
          <p:nvPr>
            <p:ph type="title"/>
          </p:nvPr>
        </p:nvSpPr>
        <p:spPr>
          <a:xfrm>
            <a:off x="812800" y="11023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Challenges we faced</a:t>
            </a:r>
            <a:endParaRPr lang="en-US" sz="3200" dirty="0"/>
          </a:p>
        </p:txBody>
      </p:sp>
      <p:sp>
        <p:nvSpPr>
          <p:cNvPr id="4" name="Shape 2"/>
          <p:cNvSpPr/>
          <p:nvPr/>
        </p:nvSpPr>
        <p:spPr>
          <a:xfrm>
            <a:off x="815975" y="1806575"/>
            <a:ext cx="2520950" cy="1724660"/>
          </a:xfrm>
          <a:prstGeom prst="roundRect">
            <a:avLst>
              <a:gd name="adj" fmla="val 5707"/>
            </a:avLst>
          </a:prstGeom>
          <a:solidFill>
            <a:srgbClr val="FFFDF8"/>
          </a:solidFill>
          <a:ln w="6350">
            <a:solidFill>
              <a:srgbClr val="E4DCCF"/>
            </a:solidFill>
            <a:prstDash val="solid"/>
          </a:ln>
        </p:spPr>
      </p:sp>
      <p:sp>
        <p:nvSpPr>
          <p:cNvPr id="5" name="Text 3"/>
          <p:cNvSpPr/>
          <p:nvPr/>
        </p:nvSpPr>
        <p:spPr>
          <a:xfrm>
            <a:off x="995680" y="1986285"/>
            <a:ext cx="222638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First time on AWS</a:t>
            </a:r>
            <a:endParaRPr lang="en-US" sz="1500" dirty="0"/>
          </a:p>
        </p:txBody>
      </p:sp>
      <p:sp>
        <p:nvSpPr>
          <p:cNvPr id="6" name="Text 4"/>
          <p:cNvSpPr/>
          <p:nvPr/>
        </p:nvSpPr>
        <p:spPr>
          <a:xfrm>
            <a:off x="995680" y="2284735"/>
            <a:ext cx="2226386"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Our first build on the AWS stack. We learned each service, from Bedrock to Lambda and DynamoDB, while building with it.</a:t>
            </a:r>
            <a:endParaRPr lang="en-US" sz="1200" dirty="0"/>
          </a:p>
        </p:txBody>
      </p:sp>
      <p:sp>
        <p:nvSpPr>
          <p:cNvPr id="7" name="Shape 5"/>
          <p:cNvSpPr/>
          <p:nvPr/>
        </p:nvSpPr>
        <p:spPr>
          <a:xfrm>
            <a:off x="3495675" y="1806575"/>
            <a:ext cx="2520950" cy="1724660"/>
          </a:xfrm>
          <a:prstGeom prst="roundRect">
            <a:avLst>
              <a:gd name="adj" fmla="val 5707"/>
            </a:avLst>
          </a:prstGeom>
          <a:solidFill>
            <a:srgbClr val="FFFDF8"/>
          </a:solidFill>
          <a:ln w="6350">
            <a:solidFill>
              <a:srgbClr val="E4DCCF"/>
            </a:solidFill>
            <a:prstDash val="solid"/>
          </a:ln>
        </p:spPr>
      </p:sp>
      <p:sp>
        <p:nvSpPr>
          <p:cNvPr id="8" name="Text 6"/>
          <p:cNvSpPr/>
          <p:nvPr/>
        </p:nvSpPr>
        <p:spPr>
          <a:xfrm>
            <a:off x="3675380" y="1986285"/>
            <a:ext cx="222638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A student developer</a:t>
            </a:r>
            <a:endParaRPr lang="en-US" sz="1500" dirty="0"/>
          </a:p>
        </p:txBody>
      </p:sp>
      <p:sp>
        <p:nvSpPr>
          <p:cNvPr id="9" name="Text 7"/>
          <p:cNvSpPr/>
          <p:nvPr/>
        </p:nvSpPr>
        <p:spPr>
          <a:xfrm>
            <a:off x="3675380" y="2284735"/>
            <a:ext cx="2226386"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Only developer is a final-year Computer Science student. AWS and voice agents were both new ground, learned while building.</a:t>
            </a:r>
            <a:endParaRPr lang="en-US" sz="1200" dirty="0"/>
          </a:p>
        </p:txBody>
      </p:sp>
      <p:sp>
        <p:nvSpPr>
          <p:cNvPr id="10" name="Shape 8"/>
          <p:cNvSpPr/>
          <p:nvPr/>
        </p:nvSpPr>
        <p:spPr>
          <a:xfrm>
            <a:off x="6175375" y="1806575"/>
            <a:ext cx="2520950" cy="1724660"/>
          </a:xfrm>
          <a:prstGeom prst="roundRect">
            <a:avLst>
              <a:gd name="adj" fmla="val 5707"/>
            </a:avLst>
          </a:prstGeom>
          <a:solidFill>
            <a:srgbClr val="FFFDF8"/>
          </a:solidFill>
          <a:ln w="6350">
            <a:solidFill>
              <a:srgbClr val="E4DCCF"/>
            </a:solidFill>
            <a:prstDash val="solid"/>
          </a:ln>
        </p:spPr>
      </p:sp>
      <p:sp>
        <p:nvSpPr>
          <p:cNvPr id="11" name="Text 9"/>
          <p:cNvSpPr/>
          <p:nvPr/>
        </p:nvSpPr>
        <p:spPr>
          <a:xfrm>
            <a:off x="6355080" y="1986285"/>
            <a:ext cx="222638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Mentoring at full speed</a:t>
            </a:r>
            <a:endParaRPr lang="en-US" sz="1500" dirty="0"/>
          </a:p>
        </p:txBody>
      </p:sp>
      <p:sp>
        <p:nvSpPr>
          <p:cNvPr id="12" name="Text 10"/>
          <p:cNvSpPr/>
          <p:nvPr/>
        </p:nvSpPr>
        <p:spPr>
          <a:xfrm>
            <a:off x="6355080" y="2284735"/>
            <a:ext cx="2226386"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Guiding a student through a first cloud build means teaching and delivering at the same time.</a:t>
            </a:r>
            <a:endParaRPr lang="en-US" sz="1200" dirty="0"/>
          </a:p>
        </p:txBody>
      </p:sp>
      <p:sp>
        <p:nvSpPr>
          <p:cNvPr id="13" name="Shape 11"/>
          <p:cNvSpPr/>
          <p:nvPr/>
        </p:nvSpPr>
        <p:spPr>
          <a:xfrm>
            <a:off x="8855075" y="1806575"/>
            <a:ext cx="2520950" cy="1724660"/>
          </a:xfrm>
          <a:prstGeom prst="roundRect">
            <a:avLst>
              <a:gd name="adj" fmla="val 5707"/>
            </a:avLst>
          </a:prstGeom>
          <a:solidFill>
            <a:srgbClr val="FFFDF8"/>
          </a:solidFill>
          <a:ln w="6350">
            <a:solidFill>
              <a:srgbClr val="E4DCCF"/>
            </a:solidFill>
            <a:prstDash val="solid"/>
          </a:ln>
        </p:spPr>
      </p:sp>
      <p:sp>
        <p:nvSpPr>
          <p:cNvPr id="14" name="Text 12"/>
          <p:cNvSpPr/>
          <p:nvPr/>
        </p:nvSpPr>
        <p:spPr>
          <a:xfrm>
            <a:off x="9034780" y="1986285"/>
            <a:ext cx="222638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An aggressive schedule</a:t>
            </a:r>
            <a:endParaRPr lang="en-US" sz="1500" dirty="0"/>
          </a:p>
        </p:txBody>
      </p:sp>
      <p:sp>
        <p:nvSpPr>
          <p:cNvPr id="15" name="Text 13"/>
          <p:cNvSpPr/>
          <p:nvPr/>
        </p:nvSpPr>
        <p:spPr>
          <a:xfrm>
            <a:off x="9034780" y="2284735"/>
            <a:ext cx="2226386"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We learned the stack and shipped on it in the same weeks. A fixed cut order means safety is never what gives way.</a:t>
            </a:r>
            <a:endParaRPr lang="en-US" sz="1200" dirty="0"/>
          </a:p>
        </p:txBody>
      </p:sp>
      <p:sp>
        <p:nvSpPr>
          <p:cNvPr id="16" name="Shape 14"/>
          <p:cNvSpPr/>
          <p:nvPr/>
        </p:nvSpPr>
        <p:spPr>
          <a:xfrm>
            <a:off x="815975" y="3689995"/>
            <a:ext cx="2520950" cy="1511300"/>
          </a:xfrm>
          <a:prstGeom prst="roundRect">
            <a:avLst>
              <a:gd name="adj" fmla="val 6513"/>
            </a:avLst>
          </a:prstGeom>
          <a:solidFill>
            <a:srgbClr val="FFFDF8"/>
          </a:solidFill>
          <a:ln w="6350">
            <a:solidFill>
              <a:srgbClr val="E4DCCF"/>
            </a:solidFill>
            <a:prstDash val="solid"/>
          </a:ln>
        </p:spPr>
      </p:sp>
      <p:sp>
        <p:nvSpPr>
          <p:cNvPr id="17" name="Text 15"/>
          <p:cNvSpPr/>
          <p:nvPr/>
        </p:nvSpPr>
        <p:spPr>
          <a:xfrm>
            <a:off x="995680" y="3869705"/>
            <a:ext cx="222638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A safety rule too blunt</a:t>
            </a:r>
            <a:endParaRPr lang="en-US" sz="1500" dirty="0"/>
          </a:p>
        </p:txBody>
      </p:sp>
      <p:sp>
        <p:nvSpPr>
          <p:cNvPr id="18" name="Text 16"/>
          <p:cNvSpPr/>
          <p:nvPr/>
        </p:nvSpPr>
        <p:spPr>
          <a:xfrm>
            <a:off x="995680" y="4168155"/>
            <a:ext cx="2226386"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It would have hidden a blood thinner over an unclear end date. We now flag the field, not the whole item.</a:t>
            </a:r>
            <a:endParaRPr lang="en-US" sz="1200" dirty="0"/>
          </a:p>
        </p:txBody>
      </p:sp>
      <p:sp>
        <p:nvSpPr>
          <p:cNvPr id="19" name="Shape 17"/>
          <p:cNvSpPr/>
          <p:nvPr/>
        </p:nvSpPr>
        <p:spPr>
          <a:xfrm>
            <a:off x="3495675" y="3689995"/>
            <a:ext cx="2520950" cy="1511300"/>
          </a:xfrm>
          <a:prstGeom prst="roundRect">
            <a:avLst>
              <a:gd name="adj" fmla="val 6513"/>
            </a:avLst>
          </a:prstGeom>
          <a:solidFill>
            <a:srgbClr val="FFFDF8"/>
          </a:solidFill>
          <a:ln w="6350">
            <a:solidFill>
              <a:srgbClr val="E4DCCF"/>
            </a:solidFill>
            <a:prstDash val="solid"/>
          </a:ln>
        </p:spPr>
      </p:sp>
      <p:sp>
        <p:nvSpPr>
          <p:cNvPr id="20" name="Text 18"/>
          <p:cNvSpPr/>
          <p:nvPr/>
        </p:nvSpPr>
        <p:spPr>
          <a:xfrm>
            <a:off x="3675380" y="3869705"/>
            <a:ext cx="222638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Messy letters</a:t>
            </a:r>
            <a:endParaRPr lang="en-US" sz="1500" dirty="0"/>
          </a:p>
        </p:txBody>
      </p:sp>
      <p:sp>
        <p:nvSpPr>
          <p:cNvPr id="21" name="Text 19"/>
          <p:cNvSpPr/>
          <p:nvPr/>
        </p:nvSpPr>
        <p:spPr>
          <a:xfrm>
            <a:off x="3675380" y="4168155"/>
            <a:ext cx="2226386"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photo once read 111 as 171 with no warning. Medicines read from photos are now held back.</a:t>
            </a:r>
            <a:endParaRPr lang="en-US" sz="1200" dirty="0"/>
          </a:p>
        </p:txBody>
      </p:sp>
      <p:sp>
        <p:nvSpPr>
          <p:cNvPr id="22" name="Shape 20"/>
          <p:cNvSpPr/>
          <p:nvPr/>
        </p:nvSpPr>
        <p:spPr>
          <a:xfrm>
            <a:off x="6175375" y="3689995"/>
            <a:ext cx="2520950" cy="1511300"/>
          </a:xfrm>
          <a:prstGeom prst="roundRect">
            <a:avLst>
              <a:gd name="adj" fmla="val 6513"/>
            </a:avLst>
          </a:prstGeom>
          <a:solidFill>
            <a:srgbClr val="FFFDF8"/>
          </a:solidFill>
          <a:ln w="6350">
            <a:solidFill>
              <a:srgbClr val="E4DCCF"/>
            </a:solidFill>
            <a:prstDash val="solid"/>
          </a:ln>
        </p:spPr>
      </p:sp>
      <p:sp>
        <p:nvSpPr>
          <p:cNvPr id="23" name="Text 21"/>
          <p:cNvSpPr/>
          <p:nvPr/>
        </p:nvSpPr>
        <p:spPr>
          <a:xfrm>
            <a:off x="6355080" y="3869705"/>
            <a:ext cx="222638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Queues deliver twice</a:t>
            </a:r>
            <a:endParaRPr lang="en-US" sz="1500" dirty="0"/>
          </a:p>
        </p:txBody>
      </p:sp>
      <p:sp>
        <p:nvSpPr>
          <p:cNvPr id="24" name="Text 22"/>
          <p:cNvSpPr/>
          <p:nvPr/>
        </p:nvSpPr>
        <p:spPr>
          <a:xfrm>
            <a:off x="6355080" y="4168155"/>
            <a:ext cx="2226386"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repeated message must change nothing. Every write carries a key, so a repeat is saved once.</a:t>
            </a:r>
            <a:endParaRPr lang="en-US" sz="1200" dirty="0"/>
          </a:p>
        </p:txBody>
      </p:sp>
      <p:sp>
        <p:nvSpPr>
          <p:cNvPr id="25" name="Shape 23"/>
          <p:cNvSpPr/>
          <p:nvPr/>
        </p:nvSpPr>
        <p:spPr>
          <a:xfrm>
            <a:off x="8855075" y="3689995"/>
            <a:ext cx="2520950" cy="1511300"/>
          </a:xfrm>
          <a:prstGeom prst="roundRect">
            <a:avLst>
              <a:gd name="adj" fmla="val 6513"/>
            </a:avLst>
          </a:prstGeom>
          <a:solidFill>
            <a:srgbClr val="FFFDF8"/>
          </a:solidFill>
          <a:ln w="6350">
            <a:solidFill>
              <a:srgbClr val="E4DCCF"/>
            </a:solidFill>
            <a:prstDash val="solid"/>
          </a:ln>
        </p:spPr>
      </p:sp>
      <p:sp>
        <p:nvSpPr>
          <p:cNvPr id="26" name="Text 24"/>
          <p:cNvSpPr/>
          <p:nvPr/>
        </p:nvSpPr>
        <p:spPr>
          <a:xfrm>
            <a:off x="9034780" y="3869705"/>
            <a:ext cx="2226386" cy="273050"/>
          </a:xfrm>
          <a:prstGeom prst="rect">
            <a:avLst/>
          </a:prstGeom>
          <a:noFill/>
          <a:ln/>
        </p:spPr>
        <p:txBody>
          <a:bodyPr wrap="square" lIns="0" tIns="0" rIns="0" bIns="0" rtlCol="0" anchor="t">
            <a:normAutofit/>
          </a:bodyPr>
          <a:lstStyle/>
          <a:p>
            <a:pPr algn="l" indent="0" marL="0">
              <a:lnSpc>
                <a:spcPts val="1950"/>
              </a:lnSpc>
              <a:buNone/>
            </a:pPr>
            <a:r>
              <a:rPr lang="en-US" sz="1500" b="1" dirty="0">
                <a:solidFill>
                  <a:srgbClr val="17222B"/>
                </a:solidFill>
                <a:latin typeface="IBM Plex Sans" pitchFamily="34" charset="0"/>
                <a:ea typeface="IBM Plex Sans" pitchFamily="34" charset="-122"/>
                <a:cs typeface="IBM Plex Sans" pitchFamily="34" charset="-120"/>
              </a:rPr>
              <a:t>No Alexa+ to test on</a:t>
            </a:r>
            <a:endParaRPr lang="en-US" sz="1500" dirty="0"/>
          </a:p>
        </p:txBody>
      </p:sp>
      <p:sp>
        <p:nvSpPr>
          <p:cNvPr id="27" name="Text 25"/>
          <p:cNvSpPr/>
          <p:nvPr/>
        </p:nvSpPr>
        <p:spPr>
          <a:xfrm>
            <a:off x="9034780" y="4168155"/>
            <a:ext cx="2226386"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The Alexa+ toolkit is in preview with select partners. We built a web client, always labelled as simulated.</a:t>
            </a:r>
            <a:endParaRPr lang="en-US" sz="1200" dirty="0"/>
          </a:p>
        </p:txBody>
      </p:sp>
      <p:sp>
        <p:nvSpPr>
          <p:cNvPr id="28" name="Shape 26"/>
          <p:cNvSpPr/>
          <p:nvPr/>
        </p:nvSpPr>
        <p:spPr>
          <a:xfrm>
            <a:off x="0" y="0"/>
            <a:ext cx="12192000" cy="508000"/>
          </a:xfrm>
          <a:prstGeom prst="rect">
            <a:avLst/>
          </a:prstGeom>
          <a:solidFill>
            <a:srgbClr val="A51F4C"/>
          </a:solidFill>
          <a:ln/>
        </p:spPr>
      </p:sp>
      <p:pic>
        <p:nvPicPr>
          <p:cNvPr id="29"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30" name="Text 27"/>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31" name="Text 28"/>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32" name="Shape 29"/>
          <p:cNvSpPr/>
          <p:nvPr/>
        </p:nvSpPr>
        <p:spPr>
          <a:xfrm>
            <a:off x="0" y="6502400"/>
            <a:ext cx="12192000" cy="355600"/>
          </a:xfrm>
          <a:prstGeom prst="rect">
            <a:avLst/>
          </a:prstGeom>
          <a:solidFill>
            <a:srgbClr val="A51F4C"/>
          </a:solidFill>
          <a:ln/>
        </p:spPr>
      </p:sp>
      <p:sp>
        <p:nvSpPr>
          <p:cNvPr id="33" name="Text 30"/>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34" name="Text 31"/>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35" name="Rectangle 34"/>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4"/>
          <a:stretch>
            <a:fillRect/>
          </a:stretch>
        </p:blipFill>
        <p:spPr>
          <a:xfrm>
            <a:off x="228600" y="102412"/>
            <a:ext cx="292608" cy="292608"/>
          </a:xfrm>
          <a:prstGeom prst="rect">
            <a:avLst/>
          </a:prstGeom>
        </p:spPr>
      </p:pic>
      <p:sp>
        <p:nvSpPr>
          <p:cNvPr id="37" name="TextBox 36"/>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38" name="TextBox 37"/>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39" name="Rectangle 38"/>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41" name="TextBox 40"/>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3264F"/>
                </a:solidFill>
                <a:latin typeface="IBM Plex Sans" pitchFamily="34" charset="0"/>
                <a:ea typeface="IBM Plex Sans" pitchFamily="34" charset="-122"/>
                <a:cs typeface="IBM Plex Sans" pitchFamily="34" charset="-120"/>
              </a:rPr>
              <a:t>THE JOURNEY: OUR FIRST BUILD ON AWS, AND OUR FIRST VOICE AGENT</a:t>
            </a:r>
            <a:endParaRPr lang="en-US" sz="1200" dirty="0"/>
          </a:p>
        </p:txBody>
      </p:sp>
      <p:sp>
        <p:nvSpPr>
          <p:cNvPr id="3" name="Text 1"/>
          <p:cNvSpPr/>
          <p:nvPr>
            <p:ph type="title"/>
          </p:nvPr>
        </p:nvSpPr>
        <p:spPr>
          <a:xfrm>
            <a:off x="812800" y="11023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7222B"/>
                </a:solidFill>
                <a:latin typeface="Source Serif 4" pitchFamily="18" charset="0"/>
                <a:ea typeface="Source Serif 4" pitchFamily="18" charset="-122"/>
                <a:cs typeface="Source Serif 4" pitchFamily="18" charset="-120"/>
              </a:rPr>
              <a:t>What we learned</a:t>
            </a:r>
            <a:endParaRPr lang="en-US" sz="3200" dirty="0"/>
          </a:p>
        </p:txBody>
      </p:sp>
      <p:sp>
        <p:nvSpPr>
          <p:cNvPr id="4" name="Text 2"/>
          <p:cNvSpPr/>
          <p:nvPr/>
        </p:nvSpPr>
        <p:spPr>
          <a:xfrm>
            <a:off x="812800" y="1803400"/>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3264F"/>
                </a:solidFill>
                <a:latin typeface="Source Serif 4" pitchFamily="18" charset="0"/>
                <a:ea typeface="Source Serif 4" pitchFamily="18" charset="-122"/>
                <a:cs typeface="Source Serif 4" pitchFamily="18" charset="-120"/>
              </a:rPr>
              <a:t>On AWS</a:t>
            </a:r>
            <a:endParaRPr lang="en-US" sz="2000" dirty="0"/>
          </a:p>
        </p:txBody>
      </p:sp>
      <p:sp>
        <p:nvSpPr>
          <p:cNvPr id="5" name="Text 3"/>
          <p:cNvSpPr/>
          <p:nvPr/>
        </p:nvSpPr>
        <p:spPr>
          <a:xfrm>
            <a:off x="812800" y="22352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2B"/>
                </a:solidFill>
                <a:latin typeface="IBM Plex Sans" pitchFamily="34" charset="0"/>
                <a:ea typeface="IBM Plex Sans" pitchFamily="34" charset="-122"/>
                <a:cs typeface="IBM Plex Sans" pitchFamily="34" charset="-120"/>
              </a:rPr>
              <a:t>Check the region on day one</a:t>
            </a:r>
            <a:endParaRPr lang="en-US" sz="1500" dirty="0"/>
          </a:p>
        </p:txBody>
      </p:sp>
      <p:sp>
        <p:nvSpPr>
          <p:cNvPr id="6" name="Text 4"/>
          <p:cNvSpPr/>
          <p:nvPr/>
        </p:nvSpPr>
        <p:spPr>
          <a:xfrm>
            <a:off x="812800" y="2527300"/>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Newer services and models reach London later. One read-only call per service proves the setup.</a:t>
            </a:r>
            <a:endParaRPr lang="en-US" sz="1200" dirty="0"/>
          </a:p>
        </p:txBody>
      </p:sp>
      <p:sp>
        <p:nvSpPr>
          <p:cNvPr id="7" name="Text 5"/>
          <p:cNvSpPr/>
          <p:nvPr/>
        </p:nvSpPr>
        <p:spPr>
          <a:xfrm>
            <a:off x="812800" y="3081015"/>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2B"/>
                </a:solidFill>
                <a:latin typeface="IBM Plex Sans" pitchFamily="34" charset="0"/>
                <a:ea typeface="IBM Plex Sans" pitchFamily="34" charset="-122"/>
                <a:cs typeface="IBM Plex Sans" pitchFamily="34" charset="-120"/>
              </a:rPr>
              <a:t>Some choices cannot be undone</a:t>
            </a:r>
            <a:endParaRPr lang="en-US" sz="1500" dirty="0"/>
          </a:p>
        </p:txBody>
      </p:sp>
      <p:sp>
        <p:nvSpPr>
          <p:cNvPr id="8" name="Text 6"/>
          <p:cNvSpPr/>
          <p:nvPr/>
        </p:nvSpPr>
        <p:spPr>
          <a:xfrm>
            <a:off x="812800" y="3373115"/>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vector index keeps its size for life, so we fixed 512 dimensions before indexing anything.</a:t>
            </a:r>
            <a:endParaRPr lang="en-US" sz="1200" dirty="0"/>
          </a:p>
        </p:txBody>
      </p:sp>
      <p:sp>
        <p:nvSpPr>
          <p:cNvPr id="9" name="Text 7"/>
          <p:cNvSpPr/>
          <p:nvPr/>
        </p:nvSpPr>
        <p:spPr>
          <a:xfrm>
            <a:off x="812800" y="3926855"/>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2B"/>
                </a:solidFill>
                <a:latin typeface="IBM Plex Sans" pitchFamily="34" charset="0"/>
                <a:ea typeface="IBM Plex Sans" pitchFamily="34" charset="-122"/>
                <a:cs typeface="IBM Plex Sans" pitchFamily="34" charset="-120"/>
              </a:rPr>
              <a:t>Assume every message arrives twice</a:t>
            </a:r>
            <a:endParaRPr lang="en-US" sz="1500" dirty="0"/>
          </a:p>
        </p:txBody>
      </p:sp>
      <p:sp>
        <p:nvSpPr>
          <p:cNvPr id="10" name="Text 8"/>
          <p:cNvSpPr/>
          <p:nvPr/>
        </p:nvSpPr>
        <p:spPr>
          <a:xfrm>
            <a:off x="812800" y="4218955"/>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queue can redeliver, so each write has to be safe to repeat.</a:t>
            </a:r>
            <a:endParaRPr lang="en-US" sz="1200" dirty="0"/>
          </a:p>
        </p:txBody>
      </p:sp>
      <p:sp>
        <p:nvSpPr>
          <p:cNvPr id="11" name="Text 9"/>
          <p:cNvSpPr/>
          <p:nvPr/>
        </p:nvSpPr>
        <p:spPr>
          <a:xfrm>
            <a:off x="812800" y="45593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2B"/>
                </a:solidFill>
                <a:latin typeface="IBM Plex Sans" pitchFamily="34" charset="0"/>
                <a:ea typeface="IBM Plex Sans" pitchFamily="34" charset="-122"/>
                <a:cs typeface="IBM Plex Sans" pitchFamily="34" charset="-120"/>
              </a:rPr>
              <a:t>Test cheap, finish strong</a:t>
            </a:r>
            <a:endParaRPr lang="en-US" sz="1500" dirty="0"/>
          </a:p>
        </p:txBody>
      </p:sp>
      <p:sp>
        <p:nvSpPr>
          <p:cNvPr id="12" name="Text 10"/>
          <p:cNvSpPr/>
          <p:nvPr/>
        </p:nvSpPr>
        <p:spPr>
          <a:xfrm>
            <a:off x="812800" y="4851400"/>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small model for daily tests and the final models for the last run, swapped by one setting.</a:t>
            </a:r>
            <a:endParaRPr lang="en-US" sz="1200" dirty="0"/>
          </a:p>
        </p:txBody>
      </p:sp>
      <p:sp>
        <p:nvSpPr>
          <p:cNvPr id="13" name="Text 11"/>
          <p:cNvSpPr/>
          <p:nvPr/>
        </p:nvSpPr>
        <p:spPr>
          <a:xfrm>
            <a:off x="6299200" y="1803400"/>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3264F"/>
                </a:solidFill>
                <a:latin typeface="Source Serif 4" pitchFamily="18" charset="0"/>
                <a:ea typeface="Source Serif 4" pitchFamily="18" charset="-122"/>
                <a:cs typeface="Source Serif 4" pitchFamily="18" charset="-120"/>
              </a:rPr>
              <a:t>On voice</a:t>
            </a:r>
            <a:endParaRPr lang="en-US" sz="2000" dirty="0"/>
          </a:p>
        </p:txBody>
      </p:sp>
      <p:sp>
        <p:nvSpPr>
          <p:cNvPr id="14" name="Text 12"/>
          <p:cNvSpPr/>
          <p:nvPr/>
        </p:nvSpPr>
        <p:spPr>
          <a:xfrm>
            <a:off x="6299200" y="2235200"/>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2B"/>
                </a:solidFill>
                <a:latin typeface="IBM Plex Sans" pitchFamily="34" charset="0"/>
                <a:ea typeface="IBM Plex Sans" pitchFamily="34" charset="-122"/>
                <a:cs typeface="IBM Plex Sans" pitchFamily="34" charset="-120"/>
              </a:rPr>
              <a:t>Ears are not eyes</a:t>
            </a:r>
            <a:endParaRPr lang="en-US" sz="1500" dirty="0"/>
          </a:p>
        </p:txBody>
      </p:sp>
      <p:sp>
        <p:nvSpPr>
          <p:cNvPr id="15" name="Text 13"/>
          <p:cNvSpPr/>
          <p:nvPr/>
        </p:nvSpPr>
        <p:spPr>
          <a:xfrm>
            <a:off x="6299200" y="2527300"/>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A long spoken list is hard to follow. AfterWard names the next two items and shows the rest on screen.</a:t>
            </a:r>
            <a:endParaRPr lang="en-US" sz="1200" dirty="0"/>
          </a:p>
        </p:txBody>
      </p:sp>
      <p:sp>
        <p:nvSpPr>
          <p:cNvPr id="16" name="Text 14"/>
          <p:cNvSpPr/>
          <p:nvPr/>
        </p:nvSpPr>
        <p:spPr>
          <a:xfrm>
            <a:off x="6299200" y="3081015"/>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2B"/>
                </a:solidFill>
                <a:latin typeface="IBM Plex Sans" pitchFamily="34" charset="0"/>
                <a:ea typeface="IBM Plex Sans" pitchFamily="34" charset="-122"/>
                <a:cs typeface="IBM Plex Sans" pitchFamily="34" charset="-120"/>
              </a:rPr>
              <a:t>Ask before you write</a:t>
            </a:r>
            <a:endParaRPr lang="en-US" sz="1500" dirty="0"/>
          </a:p>
        </p:txBody>
      </p:sp>
      <p:sp>
        <p:nvSpPr>
          <p:cNvPr id="17" name="Text 15"/>
          <p:cNvSpPr/>
          <p:nvPr/>
        </p:nvSpPr>
        <p:spPr>
          <a:xfrm>
            <a:off x="6299200" y="3373115"/>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“I took my tablets” could mean any of them. AfterWard asks which one and saves nothing until it knows.</a:t>
            </a:r>
            <a:endParaRPr lang="en-US" sz="1200" dirty="0"/>
          </a:p>
        </p:txBody>
      </p:sp>
      <p:sp>
        <p:nvSpPr>
          <p:cNvPr id="18" name="Text 16"/>
          <p:cNvSpPr/>
          <p:nvPr/>
        </p:nvSpPr>
        <p:spPr>
          <a:xfrm>
            <a:off x="6299200" y="3926855"/>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2B"/>
                </a:solidFill>
                <a:latin typeface="IBM Plex Sans" pitchFamily="34" charset="0"/>
                <a:ea typeface="IBM Plex Sans" pitchFamily="34" charset="-122"/>
                <a:cs typeface="IBM Plex Sans" pitchFamily="34" charset="-120"/>
              </a:rPr>
              <a:t>A reminder is not a question</a:t>
            </a:r>
            <a:endParaRPr lang="en-US" sz="1500" dirty="0"/>
          </a:p>
        </p:txBody>
      </p:sp>
      <p:sp>
        <p:nvSpPr>
          <p:cNvPr id="19" name="Text 17"/>
          <p:cNvSpPr/>
          <p:nvPr/>
        </p:nvSpPr>
        <p:spPr>
          <a:xfrm>
            <a:off x="6299200" y="4218955"/>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“I hope you slept well” is a statement on purpose. AfterWard must not judge symptoms.</a:t>
            </a:r>
            <a:endParaRPr lang="en-US" sz="1200" dirty="0"/>
          </a:p>
        </p:txBody>
      </p:sp>
      <p:sp>
        <p:nvSpPr>
          <p:cNvPr id="20" name="Text 18"/>
          <p:cNvSpPr/>
          <p:nvPr/>
        </p:nvSpPr>
        <p:spPr>
          <a:xfrm>
            <a:off x="6299200" y="4772670"/>
            <a:ext cx="52324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7222B"/>
                </a:solidFill>
                <a:latin typeface="IBM Plex Sans" pitchFamily="34" charset="0"/>
                <a:ea typeface="IBM Plex Sans" pitchFamily="34" charset="-122"/>
                <a:cs typeface="IBM Plex Sans" pitchFamily="34" charset="-120"/>
              </a:rPr>
              <a:t>The rules live in the tools</a:t>
            </a:r>
            <a:endParaRPr lang="en-US" sz="1500" dirty="0"/>
          </a:p>
        </p:txBody>
      </p:sp>
      <p:sp>
        <p:nvSpPr>
          <p:cNvPr id="21" name="Text 19"/>
          <p:cNvSpPr/>
          <p:nvPr/>
        </p:nvSpPr>
        <p:spPr>
          <a:xfrm>
            <a:off x="6299200" y="5064770"/>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D5863"/>
                </a:solidFill>
                <a:latin typeface="IBM Plex Sans" pitchFamily="34" charset="0"/>
                <a:ea typeface="IBM Plex Sans" pitchFamily="34" charset="-122"/>
                <a:cs typeface="IBM Plex Sans" pitchFamily="34" charset="-120"/>
              </a:rPr>
              <a:t>With real Alexa+, Alexa+ is the agent. So every rule sits in the MCP tools, not in our demo agent.</a:t>
            </a:r>
            <a:endParaRPr lang="en-US" sz="1200" dirty="0"/>
          </a:p>
        </p:txBody>
      </p:sp>
      <p:sp>
        <p:nvSpPr>
          <p:cNvPr id="22" name="Shape 20"/>
          <p:cNvSpPr/>
          <p:nvPr/>
        </p:nvSpPr>
        <p:spPr>
          <a:xfrm>
            <a:off x="0" y="0"/>
            <a:ext cx="12192000" cy="508000"/>
          </a:xfrm>
          <a:prstGeom prst="rect">
            <a:avLst/>
          </a:prstGeom>
          <a:solidFill>
            <a:srgbClr val="A51F4C"/>
          </a:solidFill>
          <a:ln/>
        </p:spPr>
      </p:sp>
      <p:pic>
        <p:nvPicPr>
          <p:cNvPr id="23" name="Image 0" descr="AfterWard logo">    </p:cNvPr>
          <p:cNvPicPr>
            <a:picLocks noChangeAspect="1"/>
          </p:cNvPicPr>
          <p:nvPr/>
        </p:nvPicPr>
        <p:blipFill>
          <a:blip r:embed="rId1"/>
          <a:srcRect l="0" r="0" t="0" b="0"/>
          <a:stretch/>
        </p:blipFill>
        <p:spPr>
          <a:xfrm>
            <a:off x="254000" y="114300"/>
            <a:ext cx="279400" cy="279400"/>
          </a:xfrm>
          <a:prstGeom prst="rect">
            <a:avLst/>
          </a:prstGeom>
        </p:spPr>
      </p:pic>
      <p:sp>
        <p:nvSpPr>
          <p:cNvPr id="24" name="Text 21"/>
          <p:cNvSpPr/>
          <p:nvPr/>
        </p:nvSpPr>
        <p:spPr>
          <a:xfrm>
            <a:off x="635000" y="101600"/>
            <a:ext cx="2616200" cy="306070"/>
          </a:xfrm>
          <a:prstGeom prst="rect">
            <a:avLst/>
          </a:prstGeom>
          <a:noFill/>
          <a:ln/>
        </p:spPr>
        <p:txBody>
          <a:bodyPr wrap="square" lIns="0" tIns="0" rIns="0" bIns="0" rtlCol="0" anchor="t">
            <a:normAutofit/>
          </a:bodyPr>
          <a:lstStyle/>
          <a:p>
            <a:pPr algn="l" indent="0" marL="0">
              <a:lnSpc>
                <a:spcPts val="2210"/>
              </a:lnSpc>
              <a:buNone/>
            </a:pPr>
            <a:r>
              <a:rPr lang="en-US" sz="1700" b="1" dirty="0">
                <a:solidFill>
                  <a:srgbClr val="FFF6EC"/>
                </a:solidFill>
                <a:latin typeface="Source Serif 4" pitchFamily="18" charset="0"/>
                <a:ea typeface="Source Serif 4" pitchFamily="18" charset="-122"/>
                <a:cs typeface="Source Serif 4" pitchFamily="18" charset="-120"/>
              </a:rPr>
              <a:t>AfterWard</a:t>
            </a:r>
            <a:endParaRPr lang="en-US" sz="1700" dirty="0"/>
          </a:p>
        </p:txBody>
      </p:sp>
      <p:sp>
        <p:nvSpPr>
          <p:cNvPr id="25" name="Text 22"/>
          <p:cNvSpPr/>
          <p:nvPr/>
        </p:nvSpPr>
        <p:spPr>
          <a:xfrm>
            <a:off x="9785350" y="120650"/>
            <a:ext cx="2146300" cy="256540"/>
          </a:xfrm>
          <a:custGeom>
            <a:avLst/>
            <a:gdLst/>
            <a:ahLst/>
            <a:cxnLst/>
            <a:rect l="l" t="t" r="r" b="b"/>
            <a:pathLst>
              <a:path w="2146300" h="256540">
                <a:moveTo>
                  <a:pt x="128270" y="0"/>
                </a:moveTo>
                <a:lnTo>
                  <a:pt x="2018030" y="0"/>
                </a:lnTo>
                <a:arcTo hR="128270" wR="128270" stAng="16200000" swAng="5400000"/>
                <a:lnTo>
                  <a:pt x="2146300" y="128270"/>
                </a:lnTo>
                <a:arcTo hR="128270" wR="128270" stAng="0" swAng="5400000"/>
                <a:lnTo>
                  <a:pt x="128270" y="256540"/>
                </a:lnTo>
                <a:arcTo hR="128270" wR="128270" stAng="5400000" swAng="5400000"/>
                <a:lnTo>
                  <a:pt x="0" y="128270"/>
                </a:lnTo>
                <a:arcTo hR="128270" wR="128270" stAng="10800000" swAng="5400000"/>
                <a:close/>
              </a:path>
            </a:pathLst>
          </a:custGeom>
          <a:noFill/>
          <a:ln w="12700">
            <a:solidFill>
              <a:srgbClr val="FFF6EC"/>
            </a:solidFill>
            <a:prstDash val="solid"/>
          </a:ln>
        </p:spPr>
        <p:txBody>
          <a:bodyPr wrap="square" lIns="0" tIns="29210" rIns="0" bIns="3810" rtlCol="0" anchor="t">
            <a:normAutofit/>
          </a:bodyPr>
          <a:lstStyle/>
          <a:p>
            <a:pPr algn="ctr" indent="0" marL="0">
              <a:lnSpc>
                <a:spcPts val="1560"/>
              </a:lnSpc>
              <a:buNone/>
            </a:pPr>
            <a:r>
              <a:rPr lang="en-US" sz="1200" b="1" spc="50" kern="0" dirty="0">
                <a:solidFill>
                  <a:srgbClr val="FFF6EC"/>
                </a:solidFill>
                <a:latin typeface="IBM Plex Sans" pitchFamily="34" charset="0"/>
                <a:ea typeface="IBM Plex Sans" pitchFamily="34" charset="-122"/>
                <a:cs typeface="IBM Plex Sans" pitchFamily="34" charset="-120"/>
              </a:rPr>
              <a:t>● SIMULATED ALEXA+</a:t>
            </a:r>
            <a:endParaRPr lang="en-US" sz="1200" dirty="0"/>
          </a:p>
        </p:txBody>
      </p:sp>
      <p:sp>
        <p:nvSpPr>
          <p:cNvPr id="26" name="Shape 23"/>
          <p:cNvSpPr/>
          <p:nvPr/>
        </p:nvSpPr>
        <p:spPr>
          <a:xfrm>
            <a:off x="0" y="6502400"/>
            <a:ext cx="12192000" cy="355600"/>
          </a:xfrm>
          <a:prstGeom prst="rect">
            <a:avLst/>
          </a:prstGeom>
          <a:solidFill>
            <a:srgbClr val="A51F4C"/>
          </a:solidFill>
          <a:ln/>
        </p:spPr>
      </p:sp>
      <p:sp>
        <p:nvSpPr>
          <p:cNvPr id="27" name="Text 24"/>
          <p:cNvSpPr/>
          <p:nvPr/>
        </p:nvSpPr>
        <p:spPr>
          <a:xfrm>
            <a:off x="254000" y="6583685"/>
            <a:ext cx="588645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FF6EC"/>
                </a:solidFill>
                <a:latin typeface="IBM Plex Sans" pitchFamily="34" charset="0"/>
                <a:ea typeface="IBM Plex Sans" pitchFamily="34" charset="-122"/>
                <a:cs typeface="IBM Plex Sans" pitchFamily="34" charset="-120"/>
              </a:rPr>
              <a:t>AfterWard · A living recovery plan for Alexa+</a:t>
            </a:r>
            <a:endParaRPr lang="en-US" sz="1200" dirty="0"/>
          </a:p>
        </p:txBody>
      </p:sp>
      <p:sp>
        <p:nvSpPr>
          <p:cNvPr id="28" name="Text 25"/>
          <p:cNvSpPr/>
          <p:nvPr/>
        </p:nvSpPr>
        <p:spPr>
          <a:xfrm>
            <a:off x="7359650" y="6583685"/>
            <a:ext cx="4578350" cy="223520"/>
          </a:xfrm>
          <a:prstGeom prst="rect">
            <a:avLst/>
          </a:prstGeom>
          <a:noFill/>
          <a:ln/>
        </p:spPr>
        <p:txBody>
          <a:bodyPr wrap="square" lIns="0" tIns="0" rIns="0" bIns="0" rtlCol="0" anchor="t">
            <a:normAutofit/>
          </a:bodyPr>
          <a:lstStyle/>
          <a:p>
            <a:pPr algn="r" indent="0" marL="0">
              <a:lnSpc>
                <a:spcPts val="1560"/>
              </a:lnSpc>
              <a:buNone/>
            </a:pPr>
            <a:r>
              <a:rPr lang="en-US" sz="1200" b="1" dirty="0">
                <a:solidFill>
                  <a:srgbClr val="F7C873"/>
                </a:solidFill>
                <a:latin typeface="IBM Plex Sans" pitchFamily="34" charset="0"/>
                <a:ea typeface="IBM Plex Sans" pitchFamily="34" charset="-122"/>
                <a:cs typeface="IBM Plex Sans" pitchFamily="34" charset="-120"/>
              </a:rPr>
              <a:t>Synthetic patient data · Simulated Alexa+</a:t>
            </a:r>
            <a:endParaRPr lang="en-US" sz="1200" dirty="0"/>
          </a:p>
        </p:txBody>
      </p:sp>
      <p:sp>
        <p:nvSpPr>
          <p:cNvPr id="29" name="Rectangle 28"/>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4"/>
          <a:stretch>
            <a:fillRect/>
          </a:stretch>
        </p:blipFill>
        <p:spPr>
          <a:xfrm>
            <a:off x="228600" y="102412"/>
            <a:ext cx="292608" cy="292608"/>
          </a:xfrm>
          <a:prstGeom prst="rect">
            <a:avLst/>
          </a:prstGeom>
        </p:spPr>
      </p:pic>
      <p:sp>
        <p:nvSpPr>
          <p:cNvPr id="31" name="TextBox 30"/>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32" name="TextBox 31"/>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33" name="Rectangle 32"/>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35" name="TextBox 34"/>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841248"/>
            <a:ext cx="10789920" cy="310896"/>
          </a:xfrm>
          <a:prstGeom prst="rect">
            <a:avLst/>
          </a:prstGeom>
          <a:noFill/>
        </p:spPr>
        <p:txBody>
          <a:bodyPr wrap="none">
            <a:spAutoFit/>
          </a:bodyPr>
          <a:lstStyle/>
          <a:p>
            <a:pPr>
              <a:defRPr sz="1300" b="1">
                <a:solidFill>
                  <a:srgbClr val="9D1A44"/>
                </a:solidFill>
              </a:defRPr>
            </a:pPr>
            <a:r>
              <a:t>CHALLENGE → DECISION → REUSABLE SAFETY RULE</a:t>
            </a:r>
          </a:p>
        </p:txBody>
      </p:sp>
      <p:sp>
        <p:nvSpPr>
          <p:cNvPr id="3" name="TextBox 2"/>
          <p:cNvSpPr txBox="1"/>
          <p:nvPr/>
        </p:nvSpPr>
        <p:spPr>
          <a:xfrm>
            <a:off x="731520" y="1243584"/>
            <a:ext cx="10789920" cy="603504"/>
          </a:xfrm>
          <a:prstGeom prst="rect">
            <a:avLst/>
          </a:prstGeom>
          <a:noFill/>
        </p:spPr>
        <p:txBody>
          <a:bodyPr wrap="none">
            <a:spAutoFit/>
          </a:bodyPr>
          <a:lstStyle/>
          <a:p>
            <a:pPr>
              <a:defRPr sz="2800" b="1">
                <a:solidFill>
                  <a:srgbClr val="202B3F"/>
                </a:solidFill>
              </a:defRPr>
            </a:pPr>
            <a:r>
              <a:t>When being too cautious becomes unsafe</a:t>
            </a:r>
          </a:p>
        </p:txBody>
      </p:sp>
      <p:sp>
        <p:nvSpPr>
          <p:cNvPr id="4" name="Rounded Rectangle 3"/>
          <p:cNvSpPr/>
          <p:nvPr/>
        </p:nvSpPr>
        <p:spPr>
          <a:xfrm>
            <a:off x="676656" y="2231136"/>
            <a:ext cx="3639312" cy="2596896"/>
          </a:xfrm>
          <a:prstGeom prst="roundRect">
            <a:avLst/>
          </a:prstGeom>
          <a:solidFill>
            <a:srgbClr val="FAF6F1"/>
          </a:solidFill>
          <a:ln>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2468880"/>
            <a:ext cx="3200400" cy="329184"/>
          </a:xfrm>
          <a:prstGeom prst="rect">
            <a:avLst/>
          </a:prstGeom>
          <a:noFill/>
        </p:spPr>
        <p:txBody>
          <a:bodyPr wrap="none">
            <a:spAutoFit/>
          </a:bodyPr>
          <a:lstStyle/>
          <a:p>
            <a:pPr>
              <a:defRPr b="1" sz="1500">
                <a:solidFill>
                  <a:srgbClr val="9D1A44"/>
                </a:solidFill>
              </a:defRPr>
            </a:pPr>
            <a:r>
              <a:t>THE PROBLEM</a:t>
            </a:r>
          </a:p>
        </p:txBody>
      </p:sp>
      <p:sp>
        <p:nvSpPr>
          <p:cNvPr id="6" name="TextBox 5"/>
          <p:cNvSpPr txBox="1"/>
          <p:nvPr/>
        </p:nvSpPr>
        <p:spPr>
          <a:xfrm>
            <a:off x="877824" y="2971800"/>
            <a:ext cx="3209544" cy="1554480"/>
          </a:xfrm>
          <a:prstGeom prst="rect">
            <a:avLst/>
          </a:prstGeom>
          <a:noFill/>
        </p:spPr>
        <p:txBody>
          <a:bodyPr wrap="square">
            <a:spAutoFit/>
          </a:bodyPr>
          <a:lstStyle/>
          <a:p>
            <a:pPr>
              <a:defRPr sz="1800">
                <a:solidFill>
                  <a:srgbClr val="202B3F"/>
                </a:solidFill>
              </a:defRPr>
            </a:pPr>
            <a:r>
              <a:t>An unclear blood-thinner end date initially caused the whole medicine to disappear from the plan.</a:t>
            </a:r>
          </a:p>
        </p:txBody>
      </p:sp>
      <p:sp>
        <p:nvSpPr>
          <p:cNvPr id="7" name="Rounded Rectangle 6"/>
          <p:cNvSpPr/>
          <p:nvPr/>
        </p:nvSpPr>
        <p:spPr>
          <a:xfrm>
            <a:off x="4498848" y="2231136"/>
            <a:ext cx="3639312" cy="2596896"/>
          </a:xfrm>
          <a:prstGeom prst="roundRect">
            <a:avLst/>
          </a:prstGeom>
          <a:solidFill>
            <a:srgbClr val="FAF6F1"/>
          </a:solidFill>
          <a:ln>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00016" y="2468880"/>
            <a:ext cx="3200400" cy="329184"/>
          </a:xfrm>
          <a:prstGeom prst="rect">
            <a:avLst/>
          </a:prstGeom>
          <a:noFill/>
        </p:spPr>
        <p:txBody>
          <a:bodyPr wrap="none">
            <a:spAutoFit/>
          </a:bodyPr>
          <a:lstStyle/>
          <a:p>
            <a:pPr>
              <a:defRPr b="1" sz="1500">
                <a:solidFill>
                  <a:srgbClr val="9D1A44"/>
                </a:solidFill>
              </a:defRPr>
            </a:pPr>
            <a:r>
              <a:t>WHY IT MATTERED</a:t>
            </a:r>
          </a:p>
        </p:txBody>
      </p:sp>
      <p:sp>
        <p:nvSpPr>
          <p:cNvPr id="9" name="TextBox 8"/>
          <p:cNvSpPr txBox="1"/>
          <p:nvPr/>
        </p:nvSpPr>
        <p:spPr>
          <a:xfrm>
            <a:off x="4700016" y="2971800"/>
            <a:ext cx="3209544" cy="1554480"/>
          </a:xfrm>
          <a:prstGeom prst="rect">
            <a:avLst/>
          </a:prstGeom>
          <a:noFill/>
        </p:spPr>
        <p:txBody>
          <a:bodyPr wrap="square">
            <a:spAutoFit/>
          </a:bodyPr>
          <a:lstStyle/>
          <a:p>
            <a:pPr>
              <a:defRPr sz="1800">
                <a:solidFill>
                  <a:srgbClr val="202B3F"/>
                </a:solidFill>
              </a:defRPr>
            </a:pPr>
            <a:r>
              <a:t>Missing an end date is not the same as missing a valid daily instruction. Hiding everything can be risky.</a:t>
            </a:r>
          </a:p>
        </p:txBody>
      </p:sp>
      <p:sp>
        <p:nvSpPr>
          <p:cNvPr id="10" name="Rounded Rectangle 9"/>
          <p:cNvSpPr/>
          <p:nvPr/>
        </p:nvSpPr>
        <p:spPr>
          <a:xfrm>
            <a:off x="8321040" y="2231136"/>
            <a:ext cx="3639312" cy="2596896"/>
          </a:xfrm>
          <a:prstGeom prst="roundRect">
            <a:avLst/>
          </a:prstGeom>
          <a:solidFill>
            <a:srgbClr val="FAF6F1"/>
          </a:solidFill>
          <a:ln>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22208" y="2468880"/>
            <a:ext cx="3200400" cy="329184"/>
          </a:xfrm>
          <a:prstGeom prst="rect">
            <a:avLst/>
          </a:prstGeom>
          <a:noFill/>
        </p:spPr>
        <p:txBody>
          <a:bodyPr wrap="none">
            <a:spAutoFit/>
          </a:bodyPr>
          <a:lstStyle/>
          <a:p>
            <a:pPr>
              <a:defRPr b="1" sz="1500">
                <a:solidFill>
                  <a:srgbClr val="9D1A44"/>
                </a:solidFill>
              </a:defRPr>
            </a:pPr>
            <a:r>
              <a:t>WHAT WE CHANGED</a:t>
            </a:r>
          </a:p>
        </p:txBody>
      </p:sp>
      <p:sp>
        <p:nvSpPr>
          <p:cNvPr id="12" name="TextBox 11"/>
          <p:cNvSpPr txBox="1"/>
          <p:nvPr/>
        </p:nvSpPr>
        <p:spPr>
          <a:xfrm>
            <a:off x="8522208" y="2971800"/>
            <a:ext cx="3209544" cy="1554480"/>
          </a:xfrm>
          <a:prstGeom prst="rect">
            <a:avLst/>
          </a:prstGeom>
          <a:noFill/>
        </p:spPr>
        <p:txBody>
          <a:bodyPr wrap="square">
            <a:spAutoFit/>
          </a:bodyPr>
          <a:lstStyle/>
          <a:p>
            <a:pPr>
              <a:defRPr sz="1800">
                <a:solidFill>
                  <a:srgbClr val="202B3F"/>
                </a:solidFill>
              </a:defRPr>
            </a:pPr>
            <a:r>
              <a:t>Field-level validation: keep supported instructions; flag the unknown end date for human confirmation.</a:t>
            </a:r>
          </a:p>
        </p:txBody>
      </p:sp>
      <p:sp>
        <p:nvSpPr>
          <p:cNvPr id="13" name="Rounded Rectangle 12"/>
          <p:cNvSpPr/>
          <p:nvPr/>
        </p:nvSpPr>
        <p:spPr>
          <a:xfrm>
            <a:off x="868680" y="5157216"/>
            <a:ext cx="10424160" cy="621792"/>
          </a:xfrm>
          <a:prstGeom prst="roundRect">
            <a:avLst/>
          </a:prstGeom>
          <a:solidFill>
            <a:srgbClr val="FFE7ED"/>
          </a:solidFill>
          <a:ln w="15240">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wrap="square" rIns="82296" tIns="27432"/>
          <a:lstStyle/>
          <a:p>
            <a:pPr algn="ctr">
              <a:defRPr sz="1500" b="1">
                <a:solidFill>
                  <a:srgbClr val="202B3F"/>
                </a:solidFill>
                <a:latin typeface="Aptos"/>
              </a:defRPr>
            </a:pPr>
            <a:r>
              <a:t>THE LESSON · Safe AI must distinguish what is known, unknown and awaiting a person’s confirmation.</a:t>
            </a:r>
          </a:p>
        </p:txBody>
      </p:sp>
      <p:sp>
        <p:nvSpPr>
          <p:cNvPr id="14" name="Rectangle 13"/>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2"/>
          <a:stretch>
            <a:fillRect/>
          </a:stretch>
        </p:blipFill>
        <p:spPr>
          <a:xfrm>
            <a:off x="228600" y="102412"/>
            <a:ext cx="292608" cy="292608"/>
          </a:xfrm>
          <a:prstGeom prst="rect">
            <a:avLst/>
          </a:prstGeom>
        </p:spPr>
      </p:pic>
      <p:sp>
        <p:nvSpPr>
          <p:cNvPr id="16" name="TextBox 15"/>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17" name="TextBox 16"/>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18" name="Rectangle 17"/>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20" name="TextBox 19"/>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841248"/>
            <a:ext cx="10789920" cy="310896"/>
          </a:xfrm>
          <a:prstGeom prst="rect">
            <a:avLst/>
          </a:prstGeom>
          <a:noFill/>
        </p:spPr>
        <p:txBody>
          <a:bodyPr wrap="none">
            <a:spAutoFit/>
          </a:bodyPr>
          <a:lstStyle/>
          <a:p>
            <a:pPr>
              <a:defRPr sz="1300" b="1">
                <a:solidFill>
                  <a:srgbClr val="9D1A44"/>
                </a:solidFill>
              </a:defRPr>
            </a:pPr>
            <a:r>
              <a:t>SUBMISSION CHECKLIST · CHARVI</a:t>
            </a:r>
          </a:p>
        </p:txBody>
      </p:sp>
      <p:sp>
        <p:nvSpPr>
          <p:cNvPr id="3" name="TextBox 2"/>
          <p:cNvSpPr txBox="1"/>
          <p:nvPr/>
        </p:nvSpPr>
        <p:spPr>
          <a:xfrm>
            <a:off x="731520" y="1243584"/>
            <a:ext cx="10789920" cy="603504"/>
          </a:xfrm>
          <a:prstGeom prst="rect">
            <a:avLst/>
          </a:prstGeom>
          <a:noFill/>
        </p:spPr>
        <p:txBody>
          <a:bodyPr wrap="none">
            <a:spAutoFit/>
          </a:bodyPr>
          <a:lstStyle/>
          <a:p>
            <a:pPr>
              <a:defRPr sz="2800" b="1">
                <a:solidFill>
                  <a:srgbClr val="202B3F"/>
                </a:solidFill>
              </a:defRPr>
            </a:pPr>
            <a:r>
              <a:t>Evidence screenshots to insert</a:t>
            </a:r>
          </a:p>
        </p:txBody>
      </p:sp>
      <p:sp>
        <p:nvSpPr>
          <p:cNvPr id="4" name="Rectangle 3"/>
          <p:cNvSpPr/>
          <p:nvPr/>
        </p:nvSpPr>
        <p:spPr>
          <a:xfrm>
            <a:off x="658368" y="2240280"/>
            <a:ext cx="3657600" cy="2816352"/>
          </a:xfrm>
          <a:prstGeom prst="rect">
            <a:avLst/>
          </a:prstGeom>
          <a:solidFill>
            <a:srgbClr val="FAF6F1"/>
          </a:solidFill>
          <a:ln w="25400">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2651760"/>
            <a:ext cx="3291840" cy="731520"/>
          </a:xfrm>
          <a:prstGeom prst="rect">
            <a:avLst/>
          </a:prstGeom>
          <a:noFill/>
        </p:spPr>
        <p:txBody>
          <a:bodyPr wrap="none">
            <a:spAutoFit/>
          </a:bodyPr>
          <a:lstStyle/>
          <a:p>
            <a:pPr algn="ctr">
              <a:defRPr sz="1700" b="1">
                <a:solidFill>
                  <a:srgbClr val="9D1A44"/>
                </a:solidFill>
              </a:defRPr>
            </a:pPr>
            <a:r>
              <a:t>INSERT SCREENSHOT HERE</a:t>
            </a:r>
          </a:p>
        </p:txBody>
      </p:sp>
      <p:sp>
        <p:nvSpPr>
          <p:cNvPr id="6" name="TextBox 5"/>
          <p:cNvSpPr txBox="1"/>
          <p:nvPr/>
        </p:nvSpPr>
        <p:spPr>
          <a:xfrm>
            <a:off x="822959" y="5202936"/>
            <a:ext cx="3383280" cy="502920"/>
          </a:xfrm>
          <a:prstGeom prst="rect">
            <a:avLst/>
          </a:prstGeom>
          <a:noFill/>
        </p:spPr>
        <p:txBody>
          <a:bodyPr wrap="none">
            <a:spAutoFit/>
          </a:bodyPr>
          <a:lstStyle/>
          <a:p>
            <a:pPr>
              <a:defRPr b="1" sz="1600">
                <a:solidFill>
                  <a:srgbClr val="202B3F"/>
                </a:solidFill>
              </a:defRPr>
            </a:pPr>
            <a:r>
              <a:t>MCPJam / Inspector tool call</a:t>
            </a:r>
          </a:p>
        </p:txBody>
      </p:sp>
      <p:sp>
        <p:nvSpPr>
          <p:cNvPr id="7" name="TextBox 6"/>
          <p:cNvSpPr txBox="1"/>
          <p:nvPr/>
        </p:nvSpPr>
        <p:spPr>
          <a:xfrm>
            <a:off x="822959" y="5650992"/>
            <a:ext cx="3410712" cy="438912"/>
          </a:xfrm>
          <a:prstGeom prst="rect">
            <a:avLst/>
          </a:prstGeom>
          <a:noFill/>
        </p:spPr>
        <p:txBody>
          <a:bodyPr wrap="none">
            <a:spAutoFit/>
          </a:bodyPr>
          <a:lstStyle/>
          <a:p>
            <a:pPr>
              <a:defRPr sz="1000">
                <a:solidFill>
                  <a:srgbClr val="202B3F"/>
                </a:solidFill>
              </a:defRPr>
            </a:pPr>
            <a:r>
              <a:t>Successful invocation + tool result; redact credentials.</a:t>
            </a:r>
          </a:p>
        </p:txBody>
      </p:sp>
      <p:sp>
        <p:nvSpPr>
          <p:cNvPr id="8" name="Rectangle 7"/>
          <p:cNvSpPr/>
          <p:nvPr/>
        </p:nvSpPr>
        <p:spPr>
          <a:xfrm>
            <a:off x="4498848" y="2240280"/>
            <a:ext cx="3657600" cy="2816352"/>
          </a:xfrm>
          <a:prstGeom prst="rect">
            <a:avLst/>
          </a:prstGeom>
          <a:solidFill>
            <a:srgbClr val="FAF6F1"/>
          </a:solidFill>
          <a:ln w="25400">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2651760"/>
            <a:ext cx="3291840" cy="731520"/>
          </a:xfrm>
          <a:prstGeom prst="rect">
            <a:avLst/>
          </a:prstGeom>
          <a:noFill/>
        </p:spPr>
        <p:txBody>
          <a:bodyPr wrap="none">
            <a:spAutoFit/>
          </a:bodyPr>
          <a:lstStyle/>
          <a:p>
            <a:pPr algn="ctr">
              <a:defRPr sz="1700" b="1">
                <a:solidFill>
                  <a:srgbClr val="9D1A44"/>
                </a:solidFill>
              </a:defRPr>
            </a:pPr>
            <a:r>
              <a:t>INSERT SCREENSHOT HERE</a:t>
            </a:r>
          </a:p>
        </p:txBody>
      </p:sp>
      <p:sp>
        <p:nvSpPr>
          <p:cNvPr id="10" name="TextBox 9"/>
          <p:cNvSpPr txBox="1"/>
          <p:nvPr/>
        </p:nvSpPr>
        <p:spPr>
          <a:xfrm>
            <a:off x="4663440" y="5202936"/>
            <a:ext cx="3383280" cy="502920"/>
          </a:xfrm>
          <a:prstGeom prst="rect">
            <a:avLst/>
          </a:prstGeom>
          <a:noFill/>
        </p:spPr>
        <p:txBody>
          <a:bodyPr wrap="none">
            <a:spAutoFit/>
          </a:bodyPr>
          <a:lstStyle/>
          <a:p>
            <a:pPr>
              <a:defRPr b="1" sz="1600">
                <a:solidFill>
                  <a:srgbClr val="202B3F"/>
                </a:solidFill>
              </a:defRPr>
            </a:pPr>
            <a:r>
              <a:t>MCP App Today card</a:t>
            </a:r>
          </a:p>
        </p:txBody>
      </p:sp>
      <p:sp>
        <p:nvSpPr>
          <p:cNvPr id="11" name="TextBox 10"/>
          <p:cNvSpPr txBox="1"/>
          <p:nvPr/>
        </p:nvSpPr>
        <p:spPr>
          <a:xfrm>
            <a:off x="4663440" y="5650992"/>
            <a:ext cx="3410712" cy="438912"/>
          </a:xfrm>
          <a:prstGeom prst="rect">
            <a:avLst/>
          </a:prstGeom>
          <a:noFill/>
        </p:spPr>
        <p:txBody>
          <a:bodyPr wrap="none">
            <a:spAutoFit/>
          </a:bodyPr>
          <a:lstStyle/>
          <a:p>
            <a:pPr>
              <a:defRPr sz="1000">
                <a:solidFill>
                  <a:srgbClr val="202B3F"/>
                </a:solidFill>
              </a:defRPr>
            </a:pPr>
            <a:r>
              <a:t>Real host screenshot with today / week information.</a:t>
            </a:r>
          </a:p>
        </p:txBody>
      </p:sp>
      <p:sp>
        <p:nvSpPr>
          <p:cNvPr id="12" name="Rectangle 11"/>
          <p:cNvSpPr/>
          <p:nvPr/>
        </p:nvSpPr>
        <p:spPr>
          <a:xfrm>
            <a:off x="8339328" y="2240280"/>
            <a:ext cx="3657600" cy="2816352"/>
          </a:xfrm>
          <a:prstGeom prst="rect">
            <a:avLst/>
          </a:prstGeom>
          <a:solidFill>
            <a:srgbClr val="FAF6F1"/>
          </a:solidFill>
          <a:ln w="25400">
            <a:solidFill>
              <a:srgbClr val="9D1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22208" y="2651760"/>
            <a:ext cx="3291840" cy="731520"/>
          </a:xfrm>
          <a:prstGeom prst="rect">
            <a:avLst/>
          </a:prstGeom>
          <a:noFill/>
        </p:spPr>
        <p:txBody>
          <a:bodyPr wrap="none">
            <a:spAutoFit/>
          </a:bodyPr>
          <a:lstStyle/>
          <a:p>
            <a:pPr algn="ctr">
              <a:defRPr sz="1700" b="1">
                <a:solidFill>
                  <a:srgbClr val="9D1A44"/>
                </a:solidFill>
              </a:defRPr>
            </a:pPr>
            <a:r>
              <a:t>INSERT SCREENSHOT HERE</a:t>
            </a:r>
          </a:p>
        </p:txBody>
      </p:sp>
      <p:sp>
        <p:nvSpPr>
          <p:cNvPr id="14" name="TextBox 13"/>
          <p:cNvSpPr txBox="1"/>
          <p:nvPr/>
        </p:nvSpPr>
        <p:spPr>
          <a:xfrm>
            <a:off x="8503920" y="5202936"/>
            <a:ext cx="3383280" cy="502920"/>
          </a:xfrm>
          <a:prstGeom prst="rect">
            <a:avLst/>
          </a:prstGeom>
          <a:noFill/>
        </p:spPr>
        <p:txBody>
          <a:bodyPr wrap="none">
            <a:spAutoFit/>
          </a:bodyPr>
          <a:lstStyle/>
          <a:p>
            <a:pPr>
              <a:defRPr b="1" sz="1600">
                <a:solidFill>
                  <a:srgbClr val="202B3F"/>
                </a:solidFill>
              </a:defRPr>
            </a:pPr>
            <a:r>
              <a:t>Open-source CI</a:t>
            </a:r>
          </a:p>
        </p:txBody>
      </p:sp>
      <p:sp>
        <p:nvSpPr>
          <p:cNvPr id="15" name="TextBox 14"/>
          <p:cNvSpPr txBox="1"/>
          <p:nvPr/>
        </p:nvSpPr>
        <p:spPr>
          <a:xfrm>
            <a:off x="8503920" y="5650992"/>
            <a:ext cx="3410712" cy="438912"/>
          </a:xfrm>
          <a:prstGeom prst="rect">
            <a:avLst/>
          </a:prstGeom>
          <a:noFill/>
        </p:spPr>
        <p:txBody>
          <a:bodyPr wrap="none">
            <a:spAutoFit/>
          </a:bodyPr>
          <a:lstStyle/>
          <a:p>
            <a:pPr>
              <a:defRPr sz="1000">
                <a:solidFill>
                  <a:srgbClr val="202B3F"/>
                </a:solidFill>
              </a:defRPr>
            </a:pPr>
            <a:r>
              <a:t>149 tests; Python 3.11–3.13; show passing run.</a:t>
            </a:r>
          </a:p>
        </p:txBody>
      </p:sp>
      <p:sp>
        <p:nvSpPr>
          <p:cNvPr id="16" name="Rectangle 15"/>
          <p:cNvSpPr/>
          <p:nvPr/>
        </p:nvSpPr>
        <p:spPr>
          <a:xfrm>
            <a:off x="0" y="0"/>
            <a:ext cx="12192000" cy="50749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mage.png"/>
          <p:cNvPicPr>
            <a:picLocks noChangeAspect="1"/>
          </p:cNvPicPr>
          <p:nvPr/>
        </p:nvPicPr>
        <p:blipFill>
          <a:blip r:embed="rId2"/>
          <a:stretch>
            <a:fillRect/>
          </a:stretch>
        </p:blipFill>
        <p:spPr>
          <a:xfrm>
            <a:off x="228600" y="102412"/>
            <a:ext cx="292608" cy="292608"/>
          </a:xfrm>
          <a:prstGeom prst="rect">
            <a:avLst/>
          </a:prstGeom>
        </p:spPr>
      </p:pic>
      <p:sp>
        <p:nvSpPr>
          <p:cNvPr id="18" name="TextBox 17"/>
          <p:cNvSpPr txBox="1"/>
          <p:nvPr/>
        </p:nvSpPr>
        <p:spPr>
          <a:xfrm>
            <a:off x="621792" y="96012"/>
            <a:ext cx="3657600" cy="338328"/>
          </a:xfrm>
          <a:prstGeom prst="rect">
            <a:avLst/>
          </a:prstGeom>
          <a:noFill/>
        </p:spPr>
        <p:txBody>
          <a:bodyPr wrap="none">
            <a:spAutoFit/>
          </a:bodyPr>
          <a:lstStyle/>
          <a:p>
            <a:pPr>
              <a:defRPr sz="2200">
                <a:solidFill>
                  <a:srgbClr val="FFFFFF"/>
                </a:solidFill>
                <a:latin typeface="Georgia"/>
              </a:defRPr>
            </a:pPr>
            <a:r>
              <a:t>AfterWard</a:t>
            </a:r>
          </a:p>
        </p:txBody>
      </p:sp>
      <p:sp>
        <p:nvSpPr>
          <p:cNvPr id="19" name="TextBox 18"/>
          <p:cNvSpPr txBox="1"/>
          <p:nvPr/>
        </p:nvSpPr>
        <p:spPr>
          <a:xfrm>
            <a:off x="9601200" y="135331"/>
            <a:ext cx="2331720" cy="228600"/>
          </a:xfrm>
          <a:prstGeom prst="rect">
            <a:avLst/>
          </a:prstGeom>
          <a:noFill/>
        </p:spPr>
        <p:txBody>
          <a:bodyPr wrap="none">
            <a:spAutoFit/>
          </a:bodyPr>
          <a:lstStyle/>
          <a:p>
            <a:pPr algn="r">
              <a:defRPr sz="1200" b="1">
                <a:solidFill>
                  <a:srgbClr val="FFFFFF"/>
                </a:solidFill>
              </a:defRPr>
            </a:pPr>
            <a:r>
              <a:t>● SIMULATED ALEXA+</a:t>
            </a:r>
          </a:p>
        </p:txBody>
      </p:sp>
      <p:sp>
        <p:nvSpPr>
          <p:cNvPr id="20" name="Rectangle 19"/>
          <p:cNvSpPr/>
          <p:nvPr/>
        </p:nvSpPr>
        <p:spPr>
          <a:xfrm>
            <a:off x="0" y="6510528"/>
            <a:ext cx="12192000" cy="347472"/>
          </a:xfrm>
          <a:prstGeom prst="rect">
            <a:avLst/>
          </a:prstGeom>
          <a:solidFill>
            <a:srgbClr val="9D1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6032" y="6565392"/>
            <a:ext cx="6766560" cy="201168"/>
          </a:xfrm>
          <a:prstGeom prst="rect">
            <a:avLst/>
          </a:prstGeom>
          <a:noFill/>
        </p:spPr>
        <p:txBody>
          <a:bodyPr wrap="none">
            <a:spAutoFit/>
          </a:bodyPr>
          <a:lstStyle/>
          <a:p>
            <a:pPr>
              <a:defRPr sz="1100" b="1">
                <a:solidFill>
                  <a:srgbClr val="FFFFFF"/>
                </a:solidFill>
              </a:defRPr>
            </a:pPr>
            <a:r>
              <a:t>AfterWard · A living recovery plan for Alexa+</a:t>
            </a:r>
          </a:p>
        </p:txBody>
      </p:sp>
      <p:sp>
        <p:nvSpPr>
          <p:cNvPr id="22" name="TextBox 21"/>
          <p:cNvSpPr txBox="1"/>
          <p:nvPr/>
        </p:nvSpPr>
        <p:spPr>
          <a:xfrm>
            <a:off x="7452360" y="6565392"/>
            <a:ext cx="4434840" cy="201168"/>
          </a:xfrm>
          <a:prstGeom prst="rect">
            <a:avLst/>
          </a:prstGeom>
          <a:noFill/>
        </p:spPr>
        <p:txBody>
          <a:bodyPr wrap="none">
            <a:spAutoFit/>
          </a:bodyPr>
          <a:lstStyle/>
          <a:p>
            <a:pPr algn="r">
              <a:defRPr sz="1000">
                <a:solidFill>
                  <a:srgbClr val="FFFFFF"/>
                </a:solidFill>
              </a:defRPr>
            </a:pPr>
            <a:r>
              <a:t>Synthetic patient data · Simulated Alexa+</a:t>
            </a:r>
          </a:p>
        </p:txBody>
      </p:sp>
    </p:spTree>
  </p:cSld>
  <p:clrMapOvr>
    <a:masterClrMapping/>
  </p:clrMapOvr>
</p:sld>
</file>

<file path=ppt/theme/theme1.xml><?xml version="1.0" encoding="utf-8"?>
<a:theme xmlns:a="http://schemas.openxmlformats.org/drawingml/2006/main" name="AfterWard: A Living Recovery Plan for Alexa+">
  <a:themeElements>
    <a:clrScheme name="AfterWard: A Living Recovery Plan for Alexa+">
      <a:dk1>
        <a:srgbClr val="17222B"/>
      </a:dk1>
      <a:lt1>
        <a:srgbClr val="FAF7F2"/>
      </a:lt1>
      <a:dk2>
        <a:srgbClr val="50575D"/>
      </a:dk2>
      <a:lt2>
        <a:srgbClr val="E3E2DE"/>
      </a:lt2>
      <a:accent1>
        <a:srgbClr val="A51F4C"/>
      </a:accent1>
      <a:accent2>
        <a:srgbClr val="B3264F"/>
      </a:accent2>
      <a:accent3>
        <a:srgbClr val="F7C873"/>
      </a:accent3>
      <a:accent4>
        <a:srgbClr val="F2A3B8"/>
      </a:accent4>
      <a:accent5>
        <a:srgbClr val="1F5E8C"/>
      </a:accent5>
      <a:accent6>
        <a:srgbClr val="4D5863"/>
      </a:accent6>
      <a:hlink>
        <a:srgbClr val="0563C1"/>
      </a:hlink>
      <a:folHlink>
        <a:srgbClr val="954F72"/>
      </a:folHlink>
    </a:clrScheme>
    <a:fontScheme name="AfterWard: A Living Recovery Plan for Alexa+">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AfterWard: A Living Recovery Plan for Alexa+</dc:title>
  <dc:subject/>
  <dc:creator/>
  <cp:lastModifiedBy/>
  <cp:revision>1</cp:revision>
  <dcterms:created xsi:type="dcterms:W3CDTF">2026-10-20T13:18:08Z</dcterms:created>
  <dcterms:modified xsi:type="dcterms:W3CDTF">2026-10-20T13:18:08Z</dcterms:modified>
</cp:coreProperties>
</file>